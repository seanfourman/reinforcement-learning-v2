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0" r:id="rId6"/>
    <p:sldId id="259" r:id="rId7"/>
    <p:sldId id="261" r:id="rId8"/>
    <p:sldId id="262" r:id="rId9"/>
    <p:sldId id="263" r:id="rId10"/>
    <p:sldId id="266" r:id="rId11"/>
    <p:sldId id="264" r:id="rId12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2A3E6-AD84-147B-98BC-BFEE3D31F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30C4C-BEDD-5E11-79B1-E1D5F92D3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7AF05-6094-0E32-A8F4-A6E50B119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98B002-99A0-CEB2-4398-9DDF18638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D4475-960A-136F-5A99-E5AAD17D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538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BEEED-B421-5C9F-441D-F5F641C2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5409-7928-DB23-6087-7E2DEA81D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3E33E-7C73-2E26-81AA-0EDB75B9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EAB4D-19BA-A750-5122-F25D1BFF7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51339-B82D-0ED7-4B69-4D83F89A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5663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364A-8EF2-2779-949F-E3397C6D5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4F0BD4-974C-D263-0784-51676AFB7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38346-FF9B-59C2-8EE2-7AA54D352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05983-B075-12C2-B32A-5F146F554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902B9-38A4-6D01-A833-47E1EB244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09822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2CA5-C829-B96B-8390-B2D02E7C5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4C21BD-293C-AE22-20AD-5B400143C0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88DF9-14FB-D707-D9C2-8F594353AB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CF19E-D6AE-AD75-5157-E0BFEC575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5D622-7C64-5906-ADE8-19A9EEE01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28AE4-180D-197B-17BB-C50795DA6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074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FDF1B-EE65-77AB-4489-94F33402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76570-8D55-3D40-C3D5-3427998DA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9CE860-C73D-ED86-9B2E-24B0A015B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CA999C-30CE-827E-85DC-9A0E9D1D9E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B9E08F-F8FA-98DA-CD47-32BC58F00C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EB0DD1-5C65-61FD-8A0D-A994A9EE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B80008-C28D-C1A3-62E8-D419B29E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860543-647A-00AA-E94D-EC90AB13C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122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52019-5DF8-F8B2-840C-9ABAEEFFF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BCD5F-A750-ECC2-FF50-92A4FFEF1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8F7836-BE11-A63F-027F-1A84C599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D700A-D332-B643-15A1-F8B8CE08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9044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011181-2477-8DCA-3823-4B159B93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FA9FBC-D7CD-B164-7C31-6AD39ADBE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77831-0DCA-5335-74DE-416056BB4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7243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D41C-C1A4-47AD-093C-9DDD0B539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C1251-8303-82F1-61C7-994E521AD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12ED6B-A8DC-381E-E2AF-926847146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CADA5-AD66-6CB3-8C9D-5E42D58F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076BE-664F-4B5D-731E-2BB82A46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1414C-45E2-B90F-B94B-054870C2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214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956A5-CF12-43FC-A9D6-362BD2A00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0759AE-C78E-58DF-4BA1-D15E87304E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EF439-F5F0-4D19-20B5-04156D1F7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1300E-7C19-854C-0FF1-89532231C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05758-C27A-9900-CF1F-385B6B30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67AB8A-1161-F379-D594-04F0AEC37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3969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24897-1C4B-3EFD-8A32-544CC7584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6CCA0D-9E5D-0C28-D851-E43C644F2F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BB316-1F73-5290-A80C-D41EC83D2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A7B0E-F7BA-5AF9-0D6E-E411D772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96BBC-0BA6-64F8-94D5-16453E488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2275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8090D2-6641-6AC1-1641-46F1CD972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B29A2C-DD09-DD9D-20A1-2849E648B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4A753-EA94-5FDF-34C2-4F9A1EE23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69162-E6A0-3982-637E-2FA4EAED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4BD68-1A81-BE51-0D80-43DAA8CDA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116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DAC3B-CE8C-C478-306B-A657E36C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15478-7C0A-C6BE-B64D-72777FABC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2A2BE-653B-D989-A8F4-B81B1242E6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465F05-6149-4F78-AFD3-493E11DE5953}" type="datetimeFigureOut">
              <a:rPr lang="en-IL" smtClean="0"/>
              <a:t>12/05/2025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F752-73BE-2BD9-F83C-2F63899AD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1A374-E271-BE2F-44E3-66A4A1347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9A2FF3-8459-4CE7-BB8E-7A4A763A04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067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149BE-5B07-CBBA-C399-3D98E209D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SARSA &amp; Q-Learning</a:t>
            </a:r>
            <a:endParaRPr lang="en-IL" sz="4800">
              <a:solidFill>
                <a:srgbClr val="FFFFFF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CE9E3-FFB8-9375-63FC-4A5AE8D74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Benny Bornfeld</a:t>
            </a:r>
            <a:endParaRPr lang="en-IL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90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0E434-C694-C474-4E09-8ECD880C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Background</a:t>
            </a:r>
            <a:endParaRPr lang="en-IL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F5ED0-3102-C199-351F-261D6B591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SARSA and Q-Learning are two versions of model-free algorithms.</a:t>
            </a:r>
          </a:p>
          <a:p>
            <a:r>
              <a:rPr lang="en-US" sz="2000" dirty="0"/>
              <a:t>Their goal is finding the optimal policy.</a:t>
            </a:r>
          </a:p>
          <a:p>
            <a:r>
              <a:rPr lang="en-US" sz="2000" dirty="0"/>
              <a:t>Both are based on the </a:t>
            </a:r>
            <a:r>
              <a:rPr lang="en-US" sz="2000" b="1" dirty="0"/>
              <a:t>T</a:t>
            </a:r>
            <a:r>
              <a:rPr lang="en-US" sz="2000" dirty="0"/>
              <a:t>emporal </a:t>
            </a:r>
            <a:r>
              <a:rPr lang="en-US" sz="2000" b="1" dirty="0"/>
              <a:t>D</a:t>
            </a:r>
            <a:r>
              <a:rPr lang="en-US" sz="2000" dirty="0"/>
              <a:t>ifference method.</a:t>
            </a:r>
          </a:p>
          <a:p>
            <a:r>
              <a:rPr lang="en-US" sz="2000" dirty="0"/>
              <a:t>The difference is:</a:t>
            </a:r>
          </a:p>
          <a:p>
            <a:pPr lvl="1"/>
            <a:r>
              <a:rPr lang="en-US" sz="2000" dirty="0"/>
              <a:t>SARSA is </a:t>
            </a:r>
            <a:r>
              <a:rPr lang="en-US" sz="2000" b="1" dirty="0"/>
              <a:t>on-policy</a:t>
            </a:r>
          </a:p>
          <a:p>
            <a:pPr lvl="1"/>
            <a:r>
              <a:rPr lang="en-US" sz="2000" dirty="0"/>
              <a:t>Q-Learning is </a:t>
            </a:r>
            <a:r>
              <a:rPr lang="en-US" sz="2000" b="1" dirty="0"/>
              <a:t>off-policy</a:t>
            </a:r>
            <a:endParaRPr lang="en-IL" sz="2000" b="1" dirty="0"/>
          </a:p>
        </p:txBody>
      </p:sp>
    </p:spTree>
    <p:extLst>
      <p:ext uri="{BB962C8B-B14F-4D97-AF65-F5344CB8AC3E}">
        <p14:creationId xmlns:p14="http://schemas.microsoft.com/office/powerpoint/2010/main" val="3920850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E069-E90F-3BA9-2199-8D8558027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281B0-F01F-13D4-3CD3-6F94140C5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SARSA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tate</a:t>
            </a:r>
          </a:p>
          <a:p>
            <a:pPr lvl="1"/>
            <a:r>
              <a:rPr lang="en-US" b="1" dirty="0"/>
              <a:t>A</a:t>
            </a:r>
            <a:r>
              <a:rPr lang="en-US" dirty="0"/>
              <a:t>ction</a:t>
            </a:r>
          </a:p>
          <a:p>
            <a:pPr lvl="1"/>
            <a:r>
              <a:rPr lang="en-US" b="1" dirty="0"/>
              <a:t>R</a:t>
            </a:r>
            <a:r>
              <a:rPr lang="en-US" dirty="0"/>
              <a:t>eward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tate (next)</a:t>
            </a:r>
          </a:p>
          <a:p>
            <a:pPr lvl="1"/>
            <a:r>
              <a:rPr lang="en-US" b="1" u="sng" dirty="0">
                <a:solidFill>
                  <a:schemeClr val="accent6"/>
                </a:solidFill>
              </a:rPr>
              <a:t>A</a:t>
            </a:r>
            <a:r>
              <a:rPr lang="en-US" u="sng" dirty="0">
                <a:solidFill>
                  <a:schemeClr val="accent6"/>
                </a:solidFill>
              </a:rPr>
              <a:t>ction (next)</a:t>
            </a:r>
            <a:endParaRPr lang="en-IL" u="sng" dirty="0">
              <a:solidFill>
                <a:schemeClr val="accent6"/>
              </a:solidFill>
            </a:endParaRPr>
          </a:p>
        </p:txBody>
      </p:sp>
      <p:pic>
        <p:nvPicPr>
          <p:cNvPr id="1026" name="Picture 2" descr="Reinforcement Learning with SARSA — A Good Alternative to Q-Learning  Algorithm | by Saul Dobilas | Towards Data Science">
            <a:extLst>
              <a:ext uri="{FF2B5EF4-FFF2-40B4-BE49-F238E27FC236}">
                <a16:creationId xmlns:a16="http://schemas.microsoft.com/office/drawing/2014/main" id="{70E9B4EA-6273-8F1E-E708-E0AAAAE15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4309" y="1825625"/>
            <a:ext cx="6779491" cy="235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858FB9-4723-EE37-CE98-7556A7F39F3F}"/>
              </a:ext>
            </a:extLst>
          </p:cNvPr>
          <p:cNvSpPr txBox="1"/>
          <p:nvPr/>
        </p:nvSpPr>
        <p:spPr>
          <a:xfrm>
            <a:off x="838200" y="4517136"/>
            <a:ext cx="5941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optimization process, we will look for the action that will lead us to the maximal value of the next state.</a:t>
            </a:r>
            <a:endParaRPr lang="en-IL" dirty="0"/>
          </a:p>
        </p:txBody>
      </p:sp>
      <p:pic>
        <p:nvPicPr>
          <p:cNvPr id="5" name="Picture 2" descr="Reinforcement Learning with SARSA — A Good Alternative to Q-Learning  Algorithm | by Saul Dobilas | Towards Data Science">
            <a:extLst>
              <a:ext uri="{FF2B5EF4-FFF2-40B4-BE49-F238E27FC236}">
                <a16:creationId xmlns:a16="http://schemas.microsoft.com/office/drawing/2014/main" id="{01365661-4298-2E21-D09F-1D614CAFA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3" t="39063" r="23109" b="41166"/>
          <a:stretch/>
        </p:blipFill>
        <p:spPr bwMode="auto">
          <a:xfrm>
            <a:off x="8152245" y="4607129"/>
            <a:ext cx="2359152" cy="4663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F3B0D5-8440-3606-027C-2D2D23A3B810}"/>
              </a:ext>
            </a:extLst>
          </p:cNvPr>
          <p:cNvSpPr txBox="1"/>
          <p:nvPr/>
        </p:nvSpPr>
        <p:spPr>
          <a:xfrm>
            <a:off x="7232903" y="4704140"/>
            <a:ext cx="99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MAX(a)</a:t>
            </a:r>
            <a:endParaRPr lang="en-I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620DA-4C18-9C6A-312F-01C35A152460}"/>
              </a:ext>
            </a:extLst>
          </p:cNvPr>
          <p:cNvSpPr txBox="1"/>
          <p:nvPr/>
        </p:nvSpPr>
        <p:spPr>
          <a:xfrm>
            <a:off x="838198" y="5188037"/>
            <a:ext cx="93998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we explore with epsilon-greedy, the action we will take will sometimes be suboptimal. </a:t>
            </a:r>
            <a:r>
              <a:rPr lang="en-US" dirty="0">
                <a:solidFill>
                  <a:srgbClr val="00B050"/>
                </a:solidFill>
              </a:rPr>
              <a:t>SARSA commits to the next action</a:t>
            </a:r>
            <a:r>
              <a:rPr lang="en-US" dirty="0"/>
              <a:t>. </a:t>
            </a:r>
            <a:r>
              <a:rPr lang="en-US" b="1" dirty="0"/>
              <a:t>We will update the Q value using the value of the state we ended up in</a:t>
            </a:r>
            <a:r>
              <a:rPr lang="en-US" dirty="0"/>
              <a:t>. Using Epsilon Greedy, we will choose the action before moving to the next state.  This is referred to as on-policy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87101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15DA-2449-F809-3FB5-1C9ECFD1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53B86-AE06-ED3A-B864-464482806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6DBA8-F69D-CFD8-AD58-282132941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676" y="1825625"/>
            <a:ext cx="5128016" cy="4351338"/>
          </a:xfrm>
        </p:spPr>
        <p:txBody>
          <a:bodyPr>
            <a:normAutofit/>
          </a:bodyPr>
          <a:lstStyle/>
          <a:p>
            <a:r>
              <a:rPr lang="el-GR" dirty="0"/>
              <a:t>ϓ</a:t>
            </a:r>
            <a:r>
              <a:rPr lang="en-US" dirty="0"/>
              <a:t> = 0.5</a:t>
            </a:r>
          </a:p>
          <a:p>
            <a:r>
              <a:rPr lang="en-US" dirty="0"/>
              <a:t>We start when all the Q-values are 0</a:t>
            </a:r>
          </a:p>
          <a:p>
            <a:r>
              <a:rPr lang="en-US" dirty="0"/>
              <a:t>The start cell is S2.</a:t>
            </a:r>
          </a:p>
          <a:p>
            <a:r>
              <a:rPr lang="en-US" dirty="0"/>
              <a:t>Using epsilon greedy with </a:t>
            </a:r>
            <a:r>
              <a:rPr lang="el-GR" dirty="0"/>
              <a:t>ϵ</a:t>
            </a:r>
            <a:r>
              <a:rPr lang="en-US" dirty="0"/>
              <a:t>= 0.1, the first episode is : S2,S5,S4,S1</a:t>
            </a:r>
          </a:p>
          <a:p>
            <a:r>
              <a:rPr lang="en-US" dirty="0"/>
              <a:t>The Q-values are updated accordingly</a:t>
            </a:r>
          </a:p>
          <a:p>
            <a:endParaRPr lang="en-US" dirty="0"/>
          </a:p>
          <a:p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DAE9166-1414-4E23-D4D9-20DF1B3D7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1765619"/>
              </p:ext>
            </p:extLst>
          </p:nvPr>
        </p:nvGraphicFramePr>
        <p:xfrm>
          <a:off x="6199898" y="2228894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19D65EC1-F6A2-FC67-B7AD-2F9C2E61E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9929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F24B60-B3F1-9D78-2E1C-9F66E78FDBC9}"/>
              </a:ext>
            </a:extLst>
          </p:cNvPr>
          <p:cNvSpPr txBox="1"/>
          <p:nvPr/>
        </p:nvSpPr>
        <p:spPr>
          <a:xfrm>
            <a:off x="9438276" y="222889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AC3B64-EBA4-717E-D254-4B3C50DAF979}"/>
              </a:ext>
            </a:extLst>
          </p:cNvPr>
          <p:cNvSpPr txBox="1"/>
          <p:nvPr/>
        </p:nvSpPr>
        <p:spPr>
          <a:xfrm>
            <a:off x="7850658" y="223037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09C2A1-AB40-C020-64BD-6DC865FE7DF6}"/>
              </a:ext>
            </a:extLst>
          </p:cNvPr>
          <p:cNvSpPr txBox="1"/>
          <p:nvPr/>
        </p:nvSpPr>
        <p:spPr>
          <a:xfrm>
            <a:off x="6165378" y="2222974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3D3134-6824-1726-CD7C-1D66675A4733}"/>
              </a:ext>
            </a:extLst>
          </p:cNvPr>
          <p:cNvSpPr txBox="1"/>
          <p:nvPr/>
        </p:nvSpPr>
        <p:spPr>
          <a:xfrm>
            <a:off x="9448629" y="341110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EFFDE5-BA01-8C77-EF44-DF994D77F0F0}"/>
              </a:ext>
            </a:extLst>
          </p:cNvPr>
          <p:cNvSpPr txBox="1"/>
          <p:nvPr/>
        </p:nvSpPr>
        <p:spPr>
          <a:xfrm>
            <a:off x="7861011" y="341258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12ECB-C4AD-6978-378D-8FE0907E81CA}"/>
              </a:ext>
            </a:extLst>
          </p:cNvPr>
          <p:cNvSpPr txBox="1"/>
          <p:nvPr/>
        </p:nvSpPr>
        <p:spPr>
          <a:xfrm>
            <a:off x="6175731" y="340518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63F0E1-7259-55CB-1C4A-286C104203D6}"/>
              </a:ext>
            </a:extLst>
          </p:cNvPr>
          <p:cNvSpPr txBox="1"/>
          <p:nvPr/>
        </p:nvSpPr>
        <p:spPr>
          <a:xfrm>
            <a:off x="9441229" y="461105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he-IL" dirty="0"/>
              <a:t>7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5CBFAE-1D3F-24FD-B2DD-A157C28D5F8B}"/>
              </a:ext>
            </a:extLst>
          </p:cNvPr>
          <p:cNvSpPr txBox="1"/>
          <p:nvPr/>
        </p:nvSpPr>
        <p:spPr>
          <a:xfrm>
            <a:off x="7853611" y="4612537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18F8BF-7D65-E620-8DB9-DFFEFBE16F3C}"/>
              </a:ext>
            </a:extLst>
          </p:cNvPr>
          <p:cNvSpPr txBox="1"/>
          <p:nvPr/>
        </p:nvSpPr>
        <p:spPr>
          <a:xfrm>
            <a:off x="6168331" y="460514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FE662D-0924-8CE7-4A58-8702A3DC0B7E}"/>
              </a:ext>
            </a:extLst>
          </p:cNvPr>
          <p:cNvSpPr txBox="1"/>
          <p:nvPr/>
        </p:nvSpPr>
        <p:spPr>
          <a:xfrm>
            <a:off x="10007688" y="2240467"/>
            <a:ext cx="66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199FA-30FE-BFDE-58C2-5FA1A265E668}"/>
              </a:ext>
            </a:extLst>
          </p:cNvPr>
          <p:cNvSpPr txBox="1"/>
          <p:nvPr/>
        </p:nvSpPr>
        <p:spPr>
          <a:xfrm>
            <a:off x="6325433" y="2656319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ED411D-8549-D391-2330-52F94D22CCC0}"/>
              </a:ext>
            </a:extLst>
          </p:cNvPr>
          <p:cNvSpPr txBox="1"/>
          <p:nvPr/>
        </p:nvSpPr>
        <p:spPr>
          <a:xfrm>
            <a:off x="6897888" y="2231841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11A1CD-9C49-0A57-4029-BF8C6836627E}"/>
              </a:ext>
            </a:extLst>
          </p:cNvPr>
          <p:cNvSpPr txBox="1"/>
          <p:nvPr/>
        </p:nvSpPr>
        <p:spPr>
          <a:xfrm>
            <a:off x="6908078" y="301850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47C887-FC23-E62E-E8B1-667BD81A44B4}"/>
              </a:ext>
            </a:extLst>
          </p:cNvPr>
          <p:cNvSpPr txBox="1"/>
          <p:nvPr/>
        </p:nvSpPr>
        <p:spPr>
          <a:xfrm>
            <a:off x="7371960" y="2656319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836B0F-E5F9-BE04-0098-05DEA84137BC}"/>
              </a:ext>
            </a:extLst>
          </p:cNvPr>
          <p:cNvSpPr txBox="1"/>
          <p:nvPr/>
        </p:nvSpPr>
        <p:spPr>
          <a:xfrm>
            <a:off x="7987455" y="266207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70515B-44BD-49A6-5C36-2D4657984ED0}"/>
              </a:ext>
            </a:extLst>
          </p:cNvPr>
          <p:cNvSpPr txBox="1"/>
          <p:nvPr/>
        </p:nvSpPr>
        <p:spPr>
          <a:xfrm>
            <a:off x="8559910" y="2237595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19D12E-6291-ADCA-79E1-329F7F8FCBD7}"/>
              </a:ext>
            </a:extLst>
          </p:cNvPr>
          <p:cNvSpPr txBox="1"/>
          <p:nvPr/>
        </p:nvSpPr>
        <p:spPr>
          <a:xfrm>
            <a:off x="8341246" y="3084180"/>
            <a:ext cx="730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/>
              <a:t>0.25</a:t>
            </a:r>
            <a:endParaRPr lang="en-IL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218387-085C-F0FB-A4B4-D65F249A0D93}"/>
              </a:ext>
            </a:extLst>
          </p:cNvPr>
          <p:cNvSpPr txBox="1"/>
          <p:nvPr/>
        </p:nvSpPr>
        <p:spPr>
          <a:xfrm>
            <a:off x="9033982" y="266207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6167CB9-A878-2EAD-B167-DD5EBE34C17B}"/>
              </a:ext>
            </a:extLst>
          </p:cNvPr>
          <p:cNvGrpSpPr/>
          <p:nvPr/>
        </p:nvGrpSpPr>
        <p:grpSpPr>
          <a:xfrm>
            <a:off x="6331185" y="3488429"/>
            <a:ext cx="1342393" cy="1155994"/>
            <a:chOff x="6844773" y="3488429"/>
            <a:chExt cx="1342393" cy="115599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2CC49DB-BD44-0E48-5E4C-6371F2E19855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BBBE1EE-84CC-7E3C-0E85-033222121BCD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0D0E764-D54F-87B0-1A2A-A0CB190080D6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B17D20D-2459-2A11-43C5-EE7D99AF2758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7E6AB9C-C752-A6E8-3728-3AB904F29F34}"/>
              </a:ext>
            </a:extLst>
          </p:cNvPr>
          <p:cNvSpPr txBox="1"/>
          <p:nvPr/>
        </p:nvSpPr>
        <p:spPr>
          <a:xfrm>
            <a:off x="7984579" y="391866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03510BC-B26C-0ED1-7B07-06697ADEAFF8}"/>
              </a:ext>
            </a:extLst>
          </p:cNvPr>
          <p:cNvSpPr txBox="1"/>
          <p:nvPr/>
        </p:nvSpPr>
        <p:spPr>
          <a:xfrm>
            <a:off x="8341099" y="3498551"/>
            <a:ext cx="698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  <a:endParaRPr lang="en-IL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08A6C23-3637-C16F-71A5-FA5217ACA0FC}"/>
              </a:ext>
            </a:extLst>
          </p:cNvPr>
          <p:cNvSpPr txBox="1"/>
          <p:nvPr/>
        </p:nvSpPr>
        <p:spPr>
          <a:xfrm>
            <a:off x="8567224" y="4280844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9AC5D8-18C9-406F-0411-68C743CF98B0}"/>
              </a:ext>
            </a:extLst>
          </p:cNvPr>
          <p:cNvSpPr txBox="1"/>
          <p:nvPr/>
        </p:nvSpPr>
        <p:spPr>
          <a:xfrm>
            <a:off x="8850029" y="3918660"/>
            <a:ext cx="550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</a:t>
            </a:r>
            <a:endParaRPr lang="en-I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5B83D83-AAC8-4706-6C19-9C527514E8B1}"/>
              </a:ext>
            </a:extLst>
          </p:cNvPr>
          <p:cNvSpPr txBox="1"/>
          <p:nvPr/>
        </p:nvSpPr>
        <p:spPr>
          <a:xfrm>
            <a:off x="9586216" y="391579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FDDCAC-913A-DB43-E163-E87315FA974E}"/>
              </a:ext>
            </a:extLst>
          </p:cNvPr>
          <p:cNvSpPr txBox="1"/>
          <p:nvPr/>
        </p:nvSpPr>
        <p:spPr>
          <a:xfrm>
            <a:off x="10158671" y="3491312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1</a:t>
            </a:r>
            <a:endParaRPr lang="en-I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49E2D1-4049-087F-BF7E-2AB852B27AD7}"/>
              </a:ext>
            </a:extLst>
          </p:cNvPr>
          <p:cNvSpPr txBox="1"/>
          <p:nvPr/>
        </p:nvSpPr>
        <p:spPr>
          <a:xfrm>
            <a:off x="10168861" y="4277974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088D46-ECCF-E333-35F4-9CD5F6A86D88}"/>
              </a:ext>
            </a:extLst>
          </p:cNvPr>
          <p:cNvSpPr txBox="1"/>
          <p:nvPr/>
        </p:nvSpPr>
        <p:spPr>
          <a:xfrm>
            <a:off x="10632743" y="391579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751D458-BD11-FC62-D160-DE00A91CCBC3}"/>
              </a:ext>
            </a:extLst>
          </p:cNvPr>
          <p:cNvGrpSpPr/>
          <p:nvPr/>
        </p:nvGrpSpPr>
        <p:grpSpPr>
          <a:xfrm>
            <a:off x="6328312" y="4701881"/>
            <a:ext cx="1342393" cy="1155994"/>
            <a:chOff x="6844773" y="3488429"/>
            <a:chExt cx="1342393" cy="115599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15B63DC-79CA-1E4D-36EA-AFB05218788C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64AEDB2-D5D3-FCCF-7B30-CA73D1917313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80E7344-C674-C77A-DED3-39806F21B7CE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FBF8041-BC0B-EAAC-E812-FF02E9C001CF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EAC3D4-F5ED-42C3-51BE-8BD0B12A811A}"/>
              </a:ext>
            </a:extLst>
          </p:cNvPr>
          <p:cNvGrpSpPr/>
          <p:nvPr/>
        </p:nvGrpSpPr>
        <p:grpSpPr>
          <a:xfrm>
            <a:off x="6328312" y="3485560"/>
            <a:ext cx="1342393" cy="1155994"/>
            <a:chOff x="6844773" y="3488429"/>
            <a:chExt cx="1342393" cy="115599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A4A32D-7BC0-CC9E-1223-120D1F947C41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39D0056-0361-BCD6-74F6-8E0DCB2532EE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35D3128-731A-60AD-7020-99F94CCD9D32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AE154F-D6B3-FA0E-2538-7C6DEF92316C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5837ED4-0993-F99D-90DF-8270445D271E}"/>
              </a:ext>
            </a:extLst>
          </p:cNvPr>
          <p:cNvGrpSpPr/>
          <p:nvPr/>
        </p:nvGrpSpPr>
        <p:grpSpPr>
          <a:xfrm>
            <a:off x="7981708" y="4699008"/>
            <a:ext cx="1342393" cy="1155994"/>
            <a:chOff x="6844773" y="3488429"/>
            <a:chExt cx="1342393" cy="115599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9C439BC-6CD8-748C-E9FA-614321AD07F6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48FB61C-C54D-E092-F9A0-411D3C43A0DD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0BBBADC-EF1B-89EF-C85E-339CDBEFEEEF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56A48CB-58BF-7E50-4415-57E1A05106CA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E79936AE-50B4-4145-29DE-E5E85D91EF9A}"/>
              </a:ext>
            </a:extLst>
          </p:cNvPr>
          <p:cNvGrpSpPr/>
          <p:nvPr/>
        </p:nvGrpSpPr>
        <p:grpSpPr>
          <a:xfrm>
            <a:off x="9591978" y="4696140"/>
            <a:ext cx="1342393" cy="1155994"/>
            <a:chOff x="6844773" y="3488429"/>
            <a:chExt cx="1342393" cy="115599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1AF11EE-CD34-19A3-D6FE-A777B250AE7B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CBF8168-1BCB-57BA-C534-9157B0E1C637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ADD1423-85F7-29EF-E4AB-2AB31D8B1DAE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19BAFDA-9AC7-0EAB-6957-26B1CEE92EC3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pic>
        <p:nvPicPr>
          <p:cNvPr id="3074" name="Picture 2" descr="Text-based RL Agents with Commonsense Knowledge: New Challenges,  Environments and Baselines">
            <a:extLst>
              <a:ext uri="{FF2B5EF4-FFF2-40B4-BE49-F238E27FC236}">
                <a16:creationId xmlns:a16="http://schemas.microsoft.com/office/drawing/2014/main" id="{C367C8B1-5B9A-47B2-56F1-AE179911D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534" y="2534344"/>
            <a:ext cx="424310" cy="54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979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122B-9F20-8283-0A08-B03620E6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96F4-A617-CD01-EA85-AB95D09D6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37491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Greedy optimal action:</a:t>
            </a:r>
          </a:p>
          <a:p>
            <a:pPr lvl="1"/>
            <a:r>
              <a:rPr lang="en-US" dirty="0"/>
              <a:t>S2-&gt;Down-&gt;S5-&gt;</a:t>
            </a:r>
            <a:r>
              <a:rPr lang="en-US" dirty="0">
                <a:solidFill>
                  <a:schemeClr val="accent6"/>
                </a:solidFill>
              </a:rPr>
              <a:t>Right</a:t>
            </a:r>
          </a:p>
          <a:p>
            <a:pPr lvl="1"/>
            <a:r>
              <a:rPr lang="en-US" dirty="0"/>
              <a:t>S2,Down eval =  0 + 0.9 * 0.5</a:t>
            </a:r>
          </a:p>
          <a:p>
            <a:r>
              <a:rPr lang="en-US" dirty="0"/>
              <a:t>Exploration action</a:t>
            </a:r>
          </a:p>
          <a:p>
            <a:pPr lvl="1"/>
            <a:r>
              <a:rPr lang="en-US" dirty="0"/>
              <a:t>S2-&gt;Down-&gt;S5-&gt;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  <a:p>
            <a:pPr lvl="1"/>
            <a:r>
              <a:rPr lang="en-US" dirty="0"/>
              <a:t>S2,Down eval =  0 + 0.9 * 0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When using SARSA with gamma = 0.1, the value of S2 will be:</a:t>
            </a:r>
          </a:p>
          <a:p>
            <a:pPr marL="457200" lvl="1" indent="0">
              <a:buNone/>
            </a:pPr>
            <a:r>
              <a:rPr lang="en-US" dirty="0"/>
              <a:t>92.5%: 0.45 </a:t>
            </a:r>
          </a:p>
          <a:p>
            <a:pPr marL="457200" lvl="1" indent="0">
              <a:buNone/>
            </a:pPr>
            <a:r>
              <a:rPr lang="en-US" dirty="0"/>
              <a:t>7.5%: 0</a:t>
            </a:r>
          </a:p>
          <a:p>
            <a:endParaRPr lang="en-US" dirty="0"/>
          </a:p>
          <a:p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68CB1A7-F5D9-478E-3CE7-2649B4672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775162"/>
              </p:ext>
            </p:extLst>
          </p:nvPr>
        </p:nvGraphicFramePr>
        <p:xfrm>
          <a:off x="6009398" y="2228894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42E1BBBD-4585-AE49-E09C-B28B44AB3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29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6306A-7AF9-875D-A8A1-4979E28179C4}"/>
              </a:ext>
            </a:extLst>
          </p:cNvPr>
          <p:cNvSpPr txBox="1"/>
          <p:nvPr/>
        </p:nvSpPr>
        <p:spPr>
          <a:xfrm>
            <a:off x="9247776" y="222889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0E482-D337-96BA-55E7-8B4BBF7FF949}"/>
              </a:ext>
            </a:extLst>
          </p:cNvPr>
          <p:cNvSpPr txBox="1"/>
          <p:nvPr/>
        </p:nvSpPr>
        <p:spPr>
          <a:xfrm>
            <a:off x="7660158" y="223037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BCA3A-B848-2CCC-B1D3-244F5B11533A}"/>
              </a:ext>
            </a:extLst>
          </p:cNvPr>
          <p:cNvSpPr txBox="1"/>
          <p:nvPr/>
        </p:nvSpPr>
        <p:spPr>
          <a:xfrm>
            <a:off x="5974878" y="2222974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E2C21-F294-D719-F2DE-2E8EA11E956B}"/>
              </a:ext>
            </a:extLst>
          </p:cNvPr>
          <p:cNvSpPr txBox="1"/>
          <p:nvPr/>
        </p:nvSpPr>
        <p:spPr>
          <a:xfrm>
            <a:off x="9258129" y="341110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60A02-CCB0-9F3B-F07F-50EB70315104}"/>
              </a:ext>
            </a:extLst>
          </p:cNvPr>
          <p:cNvSpPr txBox="1"/>
          <p:nvPr/>
        </p:nvSpPr>
        <p:spPr>
          <a:xfrm>
            <a:off x="7670511" y="341258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1BDEC0-2003-C4DC-6F4E-5E1E3106DA70}"/>
              </a:ext>
            </a:extLst>
          </p:cNvPr>
          <p:cNvSpPr txBox="1"/>
          <p:nvPr/>
        </p:nvSpPr>
        <p:spPr>
          <a:xfrm>
            <a:off x="5985231" y="340518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8983EB-9D73-13AB-B835-B131E37E9899}"/>
              </a:ext>
            </a:extLst>
          </p:cNvPr>
          <p:cNvSpPr txBox="1"/>
          <p:nvPr/>
        </p:nvSpPr>
        <p:spPr>
          <a:xfrm>
            <a:off x="9250729" y="461105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he-IL" dirty="0"/>
              <a:t>7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A29589-B5D2-8882-8C9B-1EAC6E4ADFFC}"/>
              </a:ext>
            </a:extLst>
          </p:cNvPr>
          <p:cNvSpPr txBox="1"/>
          <p:nvPr/>
        </p:nvSpPr>
        <p:spPr>
          <a:xfrm>
            <a:off x="7663111" y="4612537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2E74F-7C83-D88E-E607-E36A1585D77D}"/>
              </a:ext>
            </a:extLst>
          </p:cNvPr>
          <p:cNvSpPr txBox="1"/>
          <p:nvPr/>
        </p:nvSpPr>
        <p:spPr>
          <a:xfrm>
            <a:off x="5977831" y="460514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67B04A-6C61-6C8C-6833-BA3489641DE0}"/>
              </a:ext>
            </a:extLst>
          </p:cNvPr>
          <p:cNvSpPr txBox="1"/>
          <p:nvPr/>
        </p:nvSpPr>
        <p:spPr>
          <a:xfrm>
            <a:off x="9817188" y="2240467"/>
            <a:ext cx="66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68653-3240-75C5-0E31-5F614F6315FF}"/>
              </a:ext>
            </a:extLst>
          </p:cNvPr>
          <p:cNvSpPr txBox="1"/>
          <p:nvPr/>
        </p:nvSpPr>
        <p:spPr>
          <a:xfrm>
            <a:off x="6134933" y="2656319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F0BDE-4BC3-2A39-30C7-83FF030A2732}"/>
              </a:ext>
            </a:extLst>
          </p:cNvPr>
          <p:cNvSpPr txBox="1"/>
          <p:nvPr/>
        </p:nvSpPr>
        <p:spPr>
          <a:xfrm>
            <a:off x="6707388" y="2231841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A34CED-3493-747B-3971-F10AD0D6496B}"/>
              </a:ext>
            </a:extLst>
          </p:cNvPr>
          <p:cNvSpPr txBox="1"/>
          <p:nvPr/>
        </p:nvSpPr>
        <p:spPr>
          <a:xfrm>
            <a:off x="6717578" y="301850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E79D0-0DAD-607A-C121-66F6DAC62AA4}"/>
              </a:ext>
            </a:extLst>
          </p:cNvPr>
          <p:cNvSpPr txBox="1"/>
          <p:nvPr/>
        </p:nvSpPr>
        <p:spPr>
          <a:xfrm>
            <a:off x="7181460" y="2656319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0EE75A-4DB5-C729-EF38-09A112DA93BF}"/>
              </a:ext>
            </a:extLst>
          </p:cNvPr>
          <p:cNvSpPr txBox="1"/>
          <p:nvPr/>
        </p:nvSpPr>
        <p:spPr>
          <a:xfrm>
            <a:off x="7796955" y="266207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F83BD-24CE-559D-D8D6-8B6B5CF4ED7A}"/>
              </a:ext>
            </a:extLst>
          </p:cNvPr>
          <p:cNvSpPr txBox="1"/>
          <p:nvPr/>
        </p:nvSpPr>
        <p:spPr>
          <a:xfrm>
            <a:off x="8369410" y="2237595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ECCE1-845B-4E99-626B-31E58A5A2C40}"/>
              </a:ext>
            </a:extLst>
          </p:cNvPr>
          <p:cNvSpPr txBox="1"/>
          <p:nvPr/>
        </p:nvSpPr>
        <p:spPr>
          <a:xfrm>
            <a:off x="8150746" y="3084180"/>
            <a:ext cx="730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/>
              <a:t>0.25</a:t>
            </a:r>
            <a:endParaRPr lang="en-IL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6C5010-61FC-508A-05E8-73C842760A6D}"/>
              </a:ext>
            </a:extLst>
          </p:cNvPr>
          <p:cNvSpPr txBox="1"/>
          <p:nvPr/>
        </p:nvSpPr>
        <p:spPr>
          <a:xfrm>
            <a:off x="8843482" y="266207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75E35B-3E7E-7847-8EAE-BBAB73948FD3}"/>
              </a:ext>
            </a:extLst>
          </p:cNvPr>
          <p:cNvGrpSpPr/>
          <p:nvPr/>
        </p:nvGrpSpPr>
        <p:grpSpPr>
          <a:xfrm>
            <a:off x="6140685" y="3488429"/>
            <a:ext cx="1342393" cy="1155994"/>
            <a:chOff x="6844773" y="3488429"/>
            <a:chExt cx="1342393" cy="115599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60272F-DBC3-B65C-D5CC-ED9DFE1F50FA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907EAD-F110-104D-6DAF-F8A621FF45B5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052937-5E5F-C74B-4E6D-5C43A8CAF2AE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041D30-D7F7-545F-5773-B48115A4F257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D68CE29-0A5C-B519-B019-4D56941D01E9}"/>
              </a:ext>
            </a:extLst>
          </p:cNvPr>
          <p:cNvSpPr txBox="1"/>
          <p:nvPr/>
        </p:nvSpPr>
        <p:spPr>
          <a:xfrm>
            <a:off x="7794079" y="391866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E8575-58AF-1BCD-659F-59446BCC2135}"/>
              </a:ext>
            </a:extLst>
          </p:cNvPr>
          <p:cNvSpPr txBox="1"/>
          <p:nvPr/>
        </p:nvSpPr>
        <p:spPr>
          <a:xfrm>
            <a:off x="8150599" y="3498551"/>
            <a:ext cx="698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  <a:endParaRPr lang="en-IL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092DE6-09CF-C721-7331-02C5561E2DF3}"/>
              </a:ext>
            </a:extLst>
          </p:cNvPr>
          <p:cNvSpPr txBox="1"/>
          <p:nvPr/>
        </p:nvSpPr>
        <p:spPr>
          <a:xfrm>
            <a:off x="8376724" y="4280844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772CFB-24CC-DE6E-778F-0FCF3DC1F291}"/>
              </a:ext>
            </a:extLst>
          </p:cNvPr>
          <p:cNvSpPr txBox="1"/>
          <p:nvPr/>
        </p:nvSpPr>
        <p:spPr>
          <a:xfrm>
            <a:off x="8659529" y="3918660"/>
            <a:ext cx="550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</a:t>
            </a:r>
            <a:endParaRPr lang="en-I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9A2EB5-171D-EF55-5619-E3B5737C31DC}"/>
              </a:ext>
            </a:extLst>
          </p:cNvPr>
          <p:cNvSpPr txBox="1"/>
          <p:nvPr/>
        </p:nvSpPr>
        <p:spPr>
          <a:xfrm>
            <a:off x="9395716" y="391579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65C0B6-3ED2-4848-813A-64597E7CD9F8}"/>
              </a:ext>
            </a:extLst>
          </p:cNvPr>
          <p:cNvSpPr txBox="1"/>
          <p:nvPr/>
        </p:nvSpPr>
        <p:spPr>
          <a:xfrm>
            <a:off x="9968171" y="3491312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1</a:t>
            </a:r>
            <a:endParaRPr lang="en-I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2A09D9-D1E1-970C-E910-82B5D60086AB}"/>
              </a:ext>
            </a:extLst>
          </p:cNvPr>
          <p:cNvSpPr txBox="1"/>
          <p:nvPr/>
        </p:nvSpPr>
        <p:spPr>
          <a:xfrm>
            <a:off x="9978361" y="4277974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DBD9D1-9C48-A117-8537-D616B01D0D14}"/>
              </a:ext>
            </a:extLst>
          </p:cNvPr>
          <p:cNvSpPr txBox="1"/>
          <p:nvPr/>
        </p:nvSpPr>
        <p:spPr>
          <a:xfrm>
            <a:off x="10442243" y="391579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E9A316-3E0C-2F70-D894-BC5F95E0B968}"/>
              </a:ext>
            </a:extLst>
          </p:cNvPr>
          <p:cNvGrpSpPr/>
          <p:nvPr/>
        </p:nvGrpSpPr>
        <p:grpSpPr>
          <a:xfrm>
            <a:off x="6137812" y="4701881"/>
            <a:ext cx="1342393" cy="1155994"/>
            <a:chOff x="6844773" y="3488429"/>
            <a:chExt cx="1342393" cy="115599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A41C584-9959-05C1-C499-34D3406D25F8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B298711-1B9F-FAA5-3CAB-74CC2FC9362F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0671A2-1074-55F3-38D7-CED7CD1B3326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573FF4C-97B7-FF73-2E18-2D557E243FF4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D38DE3-D9B6-712B-C5A4-07E68745FF46}"/>
              </a:ext>
            </a:extLst>
          </p:cNvPr>
          <p:cNvGrpSpPr/>
          <p:nvPr/>
        </p:nvGrpSpPr>
        <p:grpSpPr>
          <a:xfrm>
            <a:off x="6137812" y="3485560"/>
            <a:ext cx="1342393" cy="1155994"/>
            <a:chOff x="6844773" y="3488429"/>
            <a:chExt cx="1342393" cy="115599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8D8CC4-EDAB-0BB1-AAA9-42DD993D4E7D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BF77C03-BBB7-1D53-64BA-8F3A2F6D72B7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DDAC5A-183C-77E4-943A-E6492D954F7A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EFE8C7C-68E8-9354-AD84-C93FA57A6779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2D2769-AAC9-3C41-36C0-14ECE75187C6}"/>
              </a:ext>
            </a:extLst>
          </p:cNvPr>
          <p:cNvGrpSpPr/>
          <p:nvPr/>
        </p:nvGrpSpPr>
        <p:grpSpPr>
          <a:xfrm>
            <a:off x="7791208" y="4699008"/>
            <a:ext cx="1342393" cy="1155994"/>
            <a:chOff x="6844773" y="3488429"/>
            <a:chExt cx="1342393" cy="115599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1570450-62EF-9DA8-894F-418CC0BEB427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0710375-FAD6-A54F-59E6-2B98138EF225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6F297F2-8A63-8100-BC9E-FA60FBB693E5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EAB325D-AAC3-F689-7474-273C3DE127F6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EB66CB-76BD-D89A-6BA8-1156F61F8DFE}"/>
              </a:ext>
            </a:extLst>
          </p:cNvPr>
          <p:cNvGrpSpPr/>
          <p:nvPr/>
        </p:nvGrpSpPr>
        <p:grpSpPr>
          <a:xfrm>
            <a:off x="9401478" y="4696140"/>
            <a:ext cx="1342393" cy="1155994"/>
            <a:chOff x="6844773" y="3488429"/>
            <a:chExt cx="1342393" cy="115599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932639-D018-345A-A8DB-9AB19AF1FDC9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31524A-E798-6098-EA73-83EF255D3263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E70D5B-DEFC-5728-0C94-4A6903B466B2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710F5E-4255-F59D-7846-710FA1C6E8AF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pic>
        <p:nvPicPr>
          <p:cNvPr id="3074" name="Picture 2" descr="Text-based RL Agents with Commonsense Knowledge: New Challenges,  Environments and Baselines">
            <a:extLst>
              <a:ext uri="{FF2B5EF4-FFF2-40B4-BE49-F238E27FC236}">
                <a16:creationId xmlns:a16="http://schemas.microsoft.com/office/drawing/2014/main" id="{3C1F099E-7F8E-0111-F76F-B802321EB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034" y="2534344"/>
            <a:ext cx="424310" cy="54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Reinforcement Learning with SARSA — A Good Alternative to Q-Learning  Algorithm | by Saul Dobilas | Towards Data Science">
            <a:extLst>
              <a:ext uri="{FF2B5EF4-FFF2-40B4-BE49-F238E27FC236}">
                <a16:creationId xmlns:a16="http://schemas.microsoft.com/office/drawing/2014/main" id="{A06D3849-FCDE-A15E-04C7-396EDD1CA2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3" t="39063" r="23109" b="41166"/>
          <a:stretch/>
        </p:blipFill>
        <p:spPr bwMode="auto">
          <a:xfrm>
            <a:off x="7059635" y="961859"/>
            <a:ext cx="2359152" cy="4663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8" name="Picture 2" descr="Text-based RL Agents with Commonsense Knowledge: New Challenges,  Environments and Baselines">
            <a:extLst>
              <a:ext uri="{FF2B5EF4-FFF2-40B4-BE49-F238E27FC236}">
                <a16:creationId xmlns:a16="http://schemas.microsoft.com/office/drawing/2014/main" id="{E4DF73EE-C270-73D2-CDC5-EFA3406F4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028" y="3781912"/>
            <a:ext cx="424310" cy="5464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92D05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9" name="Picture 2" descr="Text-based RL Agents with Commonsense Knowledge: New Challenges,  Environments and Baselines">
            <a:extLst>
              <a:ext uri="{FF2B5EF4-FFF2-40B4-BE49-F238E27FC236}">
                <a16:creationId xmlns:a16="http://schemas.microsoft.com/office/drawing/2014/main" id="{69D7BA7E-539C-3D0F-3884-F2EA155E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056" y="3797358"/>
            <a:ext cx="424310" cy="5464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42651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9D03A-929E-AC1C-8A47-25C565AA9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  <a:endParaRPr lang="en-IL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2243DC5-0FAC-723B-713C-A3ABBEC38298}"/>
              </a:ext>
            </a:extLst>
          </p:cNvPr>
          <p:cNvGrpSpPr/>
          <p:nvPr/>
        </p:nvGrpSpPr>
        <p:grpSpPr>
          <a:xfrm>
            <a:off x="4517898" y="874649"/>
            <a:ext cx="6667500" cy="2247900"/>
            <a:chOff x="4517898" y="1825625"/>
            <a:chExt cx="6667500" cy="2247900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FF989582-DBD6-C02F-4DC9-A12F54657F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7898" y="1825625"/>
              <a:ext cx="6667500" cy="2247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5916BFA-A070-FC2E-42D3-0AE1C18921A7}"/>
                </a:ext>
              </a:extLst>
            </p:cNvPr>
            <p:cNvSpPr/>
            <p:nvPr/>
          </p:nvSpPr>
          <p:spPr>
            <a:xfrm>
              <a:off x="8330184" y="2769801"/>
              <a:ext cx="1490472" cy="53201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53936E2-7490-5CD6-FB8D-8F4EDEC002F7}"/>
              </a:ext>
            </a:extLst>
          </p:cNvPr>
          <p:cNvSpPr txBox="1"/>
          <p:nvPr/>
        </p:nvSpPr>
        <p:spPr>
          <a:xfrm>
            <a:off x="653427" y="3735452"/>
            <a:ext cx="78413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Q-Learning, </a:t>
            </a:r>
            <a:r>
              <a:rPr lang="en-US" b="1" dirty="0"/>
              <a:t>we always update the Q-value using the maximal Q value</a:t>
            </a:r>
            <a:r>
              <a:rPr lang="en-US" dirty="0"/>
              <a:t>, regardless of the action that we actually took</a:t>
            </a:r>
            <a:r>
              <a:rPr lang="he-IL" dirty="0"/>
              <a:t> </a:t>
            </a:r>
            <a:r>
              <a:rPr lang="en-US" dirty="0"/>
              <a:t>after the next state. </a:t>
            </a:r>
            <a:r>
              <a:rPr lang="en-US" b="1" dirty="0"/>
              <a:t>Even if using exploration it choose to take a </a:t>
            </a:r>
            <a:r>
              <a:rPr lang="en-US" b="1" u="sng" dirty="0"/>
              <a:t>suboptimal action</a:t>
            </a:r>
            <a:r>
              <a:rPr lang="en-US" dirty="0"/>
              <a:t>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32982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122B-9F20-8283-0A08-B03620E6D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596F4-A617-CD01-EA85-AB95D09D6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1704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Greedy optimal action:</a:t>
            </a:r>
          </a:p>
          <a:p>
            <a:pPr lvl="1"/>
            <a:r>
              <a:rPr lang="en-US" dirty="0"/>
              <a:t>S2-&gt;Down-&gt;S5-&gt;</a:t>
            </a:r>
            <a:r>
              <a:rPr lang="en-US" dirty="0">
                <a:solidFill>
                  <a:schemeClr val="accent6"/>
                </a:solidFill>
              </a:rPr>
              <a:t>Right</a:t>
            </a:r>
          </a:p>
          <a:p>
            <a:pPr lvl="1"/>
            <a:r>
              <a:rPr lang="en-US" dirty="0"/>
              <a:t>S2,Down eval =  0 + 0.9 * 0.5</a:t>
            </a:r>
          </a:p>
          <a:p>
            <a:r>
              <a:rPr lang="en-US" dirty="0"/>
              <a:t>Exploration action</a:t>
            </a:r>
          </a:p>
          <a:p>
            <a:pPr lvl="1"/>
            <a:r>
              <a:rPr lang="en-US" dirty="0"/>
              <a:t>S2-&gt;Down-&gt;S5-&gt;</a:t>
            </a:r>
            <a:r>
              <a:rPr lang="en-US" dirty="0">
                <a:solidFill>
                  <a:srgbClr val="FF0000"/>
                </a:solidFill>
              </a:rPr>
              <a:t>Left</a:t>
            </a:r>
          </a:p>
          <a:p>
            <a:pPr lvl="1"/>
            <a:r>
              <a:rPr lang="en-US" dirty="0"/>
              <a:t>S2,Down eval =  </a:t>
            </a:r>
            <a:r>
              <a:rPr lang="en-US" b="1" dirty="0"/>
              <a:t>0 + 0.9 * 0.5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When using Q-Learning with gamma = 0.1, we always get V(s2) = 0.45, although when playing, in 10% of the cases we got 0.</a:t>
            </a:r>
          </a:p>
          <a:p>
            <a:endParaRPr lang="en-US" dirty="0"/>
          </a:p>
          <a:p>
            <a:endParaRPr lang="en-IL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68CB1A7-F5D9-478E-3CE7-2649B46729D5}"/>
              </a:ext>
            </a:extLst>
          </p:cNvPr>
          <p:cNvGraphicFramePr>
            <a:graphicFrameLocks noGrp="1"/>
          </p:cNvGraphicFramePr>
          <p:nvPr/>
        </p:nvGraphicFramePr>
        <p:xfrm>
          <a:off x="6009398" y="2228894"/>
          <a:ext cx="4914552" cy="3625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38184">
                  <a:extLst>
                    <a:ext uri="{9D8B030D-6E8A-4147-A177-3AD203B41FA5}">
                      <a16:colId xmlns:a16="http://schemas.microsoft.com/office/drawing/2014/main" val="2472481114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4126571715"/>
                    </a:ext>
                  </a:extLst>
                </a:gridCol>
                <a:gridCol w="1638184">
                  <a:extLst>
                    <a:ext uri="{9D8B030D-6E8A-4147-A177-3AD203B41FA5}">
                      <a16:colId xmlns:a16="http://schemas.microsoft.com/office/drawing/2014/main" val="1999972682"/>
                    </a:ext>
                  </a:extLst>
                </a:gridCol>
              </a:tblGrid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1556230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4211465"/>
                  </a:ext>
                </a:extLst>
              </a:tr>
              <a:tr h="12086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930080"/>
                  </a:ext>
                </a:extLst>
              </a:tr>
            </a:tbl>
          </a:graphicData>
        </a:graphic>
      </p:graphicFrame>
      <p:pic>
        <p:nvPicPr>
          <p:cNvPr id="5" name="Picture 4" descr="Checkered Flag Icons - Free SVG &amp; PNG Checkered Flag Images - Noun Project">
            <a:extLst>
              <a:ext uri="{FF2B5EF4-FFF2-40B4-BE49-F238E27FC236}">
                <a16:creationId xmlns:a16="http://schemas.microsoft.com/office/drawing/2014/main" id="{42E1BBBD-4585-AE49-E09C-B28B44AB3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429" y="2528582"/>
            <a:ext cx="745571" cy="745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6306A-7AF9-875D-A8A1-4979E28179C4}"/>
              </a:ext>
            </a:extLst>
          </p:cNvPr>
          <p:cNvSpPr txBox="1"/>
          <p:nvPr/>
        </p:nvSpPr>
        <p:spPr>
          <a:xfrm>
            <a:off x="9247776" y="222889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00E482-D337-96BA-55E7-8B4BBF7FF949}"/>
              </a:ext>
            </a:extLst>
          </p:cNvPr>
          <p:cNvSpPr txBox="1"/>
          <p:nvPr/>
        </p:nvSpPr>
        <p:spPr>
          <a:xfrm>
            <a:off x="7660158" y="2230371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CBCA3A-B848-2CCC-B1D3-244F5B11533A}"/>
              </a:ext>
            </a:extLst>
          </p:cNvPr>
          <p:cNvSpPr txBox="1"/>
          <p:nvPr/>
        </p:nvSpPr>
        <p:spPr>
          <a:xfrm>
            <a:off x="5974878" y="2222974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E2C21-F294-D719-F2DE-2E8EA11E956B}"/>
              </a:ext>
            </a:extLst>
          </p:cNvPr>
          <p:cNvSpPr txBox="1"/>
          <p:nvPr/>
        </p:nvSpPr>
        <p:spPr>
          <a:xfrm>
            <a:off x="9258129" y="3411102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60A02-CCB0-9F3B-F07F-50EB70315104}"/>
              </a:ext>
            </a:extLst>
          </p:cNvPr>
          <p:cNvSpPr txBox="1"/>
          <p:nvPr/>
        </p:nvSpPr>
        <p:spPr>
          <a:xfrm>
            <a:off x="7670511" y="341258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1BDEC0-2003-C4DC-6F4E-5E1E3106DA70}"/>
              </a:ext>
            </a:extLst>
          </p:cNvPr>
          <p:cNvSpPr txBox="1"/>
          <p:nvPr/>
        </p:nvSpPr>
        <p:spPr>
          <a:xfrm>
            <a:off x="5985231" y="3405183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8983EB-9D73-13AB-B835-B131E37E9899}"/>
              </a:ext>
            </a:extLst>
          </p:cNvPr>
          <p:cNvSpPr txBox="1"/>
          <p:nvPr/>
        </p:nvSpPr>
        <p:spPr>
          <a:xfrm>
            <a:off x="9250729" y="4611059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he-IL" dirty="0"/>
              <a:t>7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A29589-B5D2-8882-8C9B-1EAC6E4ADFFC}"/>
              </a:ext>
            </a:extLst>
          </p:cNvPr>
          <p:cNvSpPr txBox="1"/>
          <p:nvPr/>
        </p:nvSpPr>
        <p:spPr>
          <a:xfrm>
            <a:off x="7663111" y="4612537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42E74F-7C83-D88E-E607-E36A1585D77D}"/>
              </a:ext>
            </a:extLst>
          </p:cNvPr>
          <p:cNvSpPr txBox="1"/>
          <p:nvPr/>
        </p:nvSpPr>
        <p:spPr>
          <a:xfrm>
            <a:off x="5977831" y="4605140"/>
            <a:ext cx="455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67B04A-6C61-6C8C-6833-BA3489641DE0}"/>
              </a:ext>
            </a:extLst>
          </p:cNvPr>
          <p:cNvSpPr txBox="1"/>
          <p:nvPr/>
        </p:nvSpPr>
        <p:spPr>
          <a:xfrm>
            <a:off x="9817188" y="2240467"/>
            <a:ext cx="667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968653-3240-75C5-0E31-5F614F6315FF}"/>
              </a:ext>
            </a:extLst>
          </p:cNvPr>
          <p:cNvSpPr txBox="1"/>
          <p:nvPr/>
        </p:nvSpPr>
        <p:spPr>
          <a:xfrm>
            <a:off x="6134933" y="2656319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1F0BDE-4BC3-2A39-30C7-83FF030A2732}"/>
              </a:ext>
            </a:extLst>
          </p:cNvPr>
          <p:cNvSpPr txBox="1"/>
          <p:nvPr/>
        </p:nvSpPr>
        <p:spPr>
          <a:xfrm>
            <a:off x="6707388" y="2231841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A34CED-3493-747B-3971-F10AD0D6496B}"/>
              </a:ext>
            </a:extLst>
          </p:cNvPr>
          <p:cNvSpPr txBox="1"/>
          <p:nvPr/>
        </p:nvSpPr>
        <p:spPr>
          <a:xfrm>
            <a:off x="6717578" y="301850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E79D0-0DAD-607A-C121-66F6DAC62AA4}"/>
              </a:ext>
            </a:extLst>
          </p:cNvPr>
          <p:cNvSpPr txBox="1"/>
          <p:nvPr/>
        </p:nvSpPr>
        <p:spPr>
          <a:xfrm>
            <a:off x="7181460" y="2656319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0EE75A-4DB5-C729-EF38-09A112DA93BF}"/>
              </a:ext>
            </a:extLst>
          </p:cNvPr>
          <p:cNvSpPr txBox="1"/>
          <p:nvPr/>
        </p:nvSpPr>
        <p:spPr>
          <a:xfrm>
            <a:off x="7796955" y="266207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F83BD-24CE-559D-D8D6-8B6B5CF4ED7A}"/>
              </a:ext>
            </a:extLst>
          </p:cNvPr>
          <p:cNvSpPr txBox="1"/>
          <p:nvPr/>
        </p:nvSpPr>
        <p:spPr>
          <a:xfrm>
            <a:off x="8369410" y="2237595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DECCE1-845B-4E99-626B-31E58A5A2C40}"/>
              </a:ext>
            </a:extLst>
          </p:cNvPr>
          <p:cNvSpPr txBox="1"/>
          <p:nvPr/>
        </p:nvSpPr>
        <p:spPr>
          <a:xfrm>
            <a:off x="8150746" y="3084180"/>
            <a:ext cx="7307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400" dirty="0"/>
              <a:t>0.25</a:t>
            </a:r>
            <a:endParaRPr lang="en-IL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6C5010-61FC-508A-05E8-73C842760A6D}"/>
              </a:ext>
            </a:extLst>
          </p:cNvPr>
          <p:cNvSpPr txBox="1"/>
          <p:nvPr/>
        </p:nvSpPr>
        <p:spPr>
          <a:xfrm>
            <a:off x="8843482" y="2662073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E75E35B-3E7E-7847-8EAE-BBAB73948FD3}"/>
              </a:ext>
            </a:extLst>
          </p:cNvPr>
          <p:cNvGrpSpPr/>
          <p:nvPr/>
        </p:nvGrpSpPr>
        <p:grpSpPr>
          <a:xfrm>
            <a:off x="6140685" y="3488429"/>
            <a:ext cx="1342393" cy="1155994"/>
            <a:chOff x="6844773" y="3488429"/>
            <a:chExt cx="1342393" cy="115599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60272F-DBC3-B65C-D5CC-ED9DFE1F50FA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907EAD-F110-104D-6DAF-F8A621FF45B5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5052937-5E5F-C74B-4E6D-5C43A8CAF2AE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3041D30-D7F7-545F-5773-B48115A4F257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FD68CE29-0A5C-B519-B019-4D56941D01E9}"/>
              </a:ext>
            </a:extLst>
          </p:cNvPr>
          <p:cNvSpPr txBox="1"/>
          <p:nvPr/>
        </p:nvSpPr>
        <p:spPr>
          <a:xfrm>
            <a:off x="7794079" y="391866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E8575-58AF-1BCD-659F-59446BCC2135}"/>
              </a:ext>
            </a:extLst>
          </p:cNvPr>
          <p:cNvSpPr txBox="1"/>
          <p:nvPr/>
        </p:nvSpPr>
        <p:spPr>
          <a:xfrm>
            <a:off x="8150599" y="3498551"/>
            <a:ext cx="698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0</a:t>
            </a:r>
            <a:endParaRPr lang="en-IL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092DE6-09CF-C721-7331-02C5561E2DF3}"/>
              </a:ext>
            </a:extLst>
          </p:cNvPr>
          <p:cNvSpPr txBox="1"/>
          <p:nvPr/>
        </p:nvSpPr>
        <p:spPr>
          <a:xfrm>
            <a:off x="8376724" y="4280844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772CFB-24CC-DE6E-778F-0FCF3DC1F291}"/>
              </a:ext>
            </a:extLst>
          </p:cNvPr>
          <p:cNvSpPr txBox="1"/>
          <p:nvPr/>
        </p:nvSpPr>
        <p:spPr>
          <a:xfrm>
            <a:off x="8659529" y="3918660"/>
            <a:ext cx="550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0.5</a:t>
            </a:r>
            <a:endParaRPr lang="en-IL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9A2EB5-171D-EF55-5619-E3B5737C31DC}"/>
              </a:ext>
            </a:extLst>
          </p:cNvPr>
          <p:cNvSpPr txBox="1"/>
          <p:nvPr/>
        </p:nvSpPr>
        <p:spPr>
          <a:xfrm>
            <a:off x="9395716" y="391579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65C0B6-3ED2-4848-813A-64597E7CD9F8}"/>
              </a:ext>
            </a:extLst>
          </p:cNvPr>
          <p:cNvSpPr txBox="1"/>
          <p:nvPr/>
        </p:nvSpPr>
        <p:spPr>
          <a:xfrm>
            <a:off x="9968171" y="3491312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/>
              <a:t>1</a:t>
            </a:r>
            <a:endParaRPr lang="en-I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2A09D9-D1E1-970C-E910-82B5D60086AB}"/>
              </a:ext>
            </a:extLst>
          </p:cNvPr>
          <p:cNvSpPr txBox="1"/>
          <p:nvPr/>
        </p:nvSpPr>
        <p:spPr>
          <a:xfrm>
            <a:off x="9978361" y="4277974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DBD9D1-9C48-A117-8537-D616B01D0D14}"/>
              </a:ext>
            </a:extLst>
          </p:cNvPr>
          <p:cNvSpPr txBox="1"/>
          <p:nvPr/>
        </p:nvSpPr>
        <p:spPr>
          <a:xfrm>
            <a:off x="10442243" y="3915790"/>
            <a:ext cx="295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  <a:endParaRPr lang="en-IL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0E9A316-3E0C-2F70-D894-BC5F95E0B968}"/>
              </a:ext>
            </a:extLst>
          </p:cNvPr>
          <p:cNvGrpSpPr/>
          <p:nvPr/>
        </p:nvGrpSpPr>
        <p:grpSpPr>
          <a:xfrm>
            <a:off x="6137812" y="4701881"/>
            <a:ext cx="1342393" cy="1155994"/>
            <a:chOff x="6844773" y="3488429"/>
            <a:chExt cx="1342393" cy="115599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A41C584-9959-05C1-C499-34D3406D25F8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B298711-1B9F-FAA5-3CAB-74CC2FC9362F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00671A2-1074-55F3-38D7-CED7CD1B3326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573FF4C-97B7-FF73-2E18-2D557E243FF4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ED38DE3-D9B6-712B-C5A4-07E68745FF46}"/>
              </a:ext>
            </a:extLst>
          </p:cNvPr>
          <p:cNvGrpSpPr/>
          <p:nvPr/>
        </p:nvGrpSpPr>
        <p:grpSpPr>
          <a:xfrm>
            <a:off x="6137812" y="3485560"/>
            <a:ext cx="1342393" cy="1155994"/>
            <a:chOff x="6844773" y="3488429"/>
            <a:chExt cx="1342393" cy="1155994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18D8CC4-EDAB-0BB1-AAA9-42DD993D4E7D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EBF77C03-BBB7-1D53-64BA-8F3A2F6D72B7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1DDAC5A-183C-77E4-943A-E6492D954F7A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EFE8C7C-68E8-9354-AD84-C93FA57A6779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32D2769-AAC9-3C41-36C0-14ECE75187C6}"/>
              </a:ext>
            </a:extLst>
          </p:cNvPr>
          <p:cNvGrpSpPr/>
          <p:nvPr/>
        </p:nvGrpSpPr>
        <p:grpSpPr>
          <a:xfrm>
            <a:off x="7791208" y="4699008"/>
            <a:ext cx="1342393" cy="1155994"/>
            <a:chOff x="6844773" y="3488429"/>
            <a:chExt cx="1342393" cy="1155994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1570450-62EF-9DA8-894F-418CC0BEB427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0710375-FAD6-A54F-59E6-2B98138EF225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6F297F2-8A63-8100-BC9E-FA60FBB693E5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EAB325D-AAC3-F689-7474-273C3DE127F6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EB66CB-76BD-D89A-6BA8-1156F61F8DFE}"/>
              </a:ext>
            </a:extLst>
          </p:cNvPr>
          <p:cNvGrpSpPr/>
          <p:nvPr/>
        </p:nvGrpSpPr>
        <p:grpSpPr>
          <a:xfrm>
            <a:off x="9401478" y="4696140"/>
            <a:ext cx="1342393" cy="1155994"/>
            <a:chOff x="6844773" y="3488429"/>
            <a:chExt cx="1342393" cy="1155994"/>
          </a:xfrm>
        </p:grpSpPr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B932639-D018-345A-A8DB-9AB19AF1FDC9}"/>
                </a:ext>
              </a:extLst>
            </p:cNvPr>
            <p:cNvSpPr txBox="1"/>
            <p:nvPr/>
          </p:nvSpPr>
          <p:spPr>
            <a:xfrm>
              <a:off x="6844773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331524A-E798-6098-EA73-83EF255D3263}"/>
                </a:ext>
              </a:extLst>
            </p:cNvPr>
            <p:cNvSpPr txBox="1"/>
            <p:nvPr/>
          </p:nvSpPr>
          <p:spPr>
            <a:xfrm>
              <a:off x="7417228" y="3488429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2E70D5B-DEFC-5728-0C94-4A6903B466B2}"/>
                </a:ext>
              </a:extLst>
            </p:cNvPr>
            <p:cNvSpPr txBox="1"/>
            <p:nvPr/>
          </p:nvSpPr>
          <p:spPr>
            <a:xfrm>
              <a:off x="7427418" y="4275091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710F5E-4255-F59D-7846-710FA1C6E8AF}"/>
                </a:ext>
              </a:extLst>
            </p:cNvPr>
            <p:cNvSpPr txBox="1"/>
            <p:nvPr/>
          </p:nvSpPr>
          <p:spPr>
            <a:xfrm>
              <a:off x="7891300" y="3912907"/>
              <a:ext cx="2958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IL" dirty="0"/>
            </a:p>
          </p:txBody>
        </p:sp>
      </p:grpSp>
      <p:pic>
        <p:nvPicPr>
          <p:cNvPr id="3074" name="Picture 2" descr="Text-based RL Agents with Commonsense Knowledge: New Challenges,  Environments and Baselines">
            <a:extLst>
              <a:ext uri="{FF2B5EF4-FFF2-40B4-BE49-F238E27FC236}">
                <a16:creationId xmlns:a16="http://schemas.microsoft.com/office/drawing/2014/main" id="{3C1F099E-7F8E-0111-F76F-B802321EB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4034" y="2534344"/>
            <a:ext cx="424310" cy="546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Text-based RL Agents with Commonsense Knowledge: New Challenges,  Environments and Baselines">
            <a:extLst>
              <a:ext uri="{FF2B5EF4-FFF2-40B4-BE49-F238E27FC236}">
                <a16:creationId xmlns:a16="http://schemas.microsoft.com/office/drawing/2014/main" id="{E4DF73EE-C270-73D2-CDC5-EFA3406F4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1028" y="3781912"/>
            <a:ext cx="424310" cy="5464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92D05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9" name="Picture 2" descr="Text-based RL Agents with Commonsense Knowledge: New Challenges,  Environments and Baselines">
            <a:extLst>
              <a:ext uri="{FF2B5EF4-FFF2-40B4-BE49-F238E27FC236}">
                <a16:creationId xmlns:a16="http://schemas.microsoft.com/office/drawing/2014/main" id="{69D7BA7E-539C-3D0F-3884-F2EA155E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056" y="3797358"/>
            <a:ext cx="424310" cy="5464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000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61F9FD4-233C-900C-FE2D-1F4C21D304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062" y="856977"/>
            <a:ext cx="2438740" cy="5906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01186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11" name="Rectangle 411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0097DA-ABC0-ECA4-9642-8AF106D73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SARSA vs Q-Learning</a:t>
            </a:r>
            <a:endParaRPr lang="en-IL" sz="4000">
              <a:solidFill>
                <a:srgbClr val="FFFFFF"/>
              </a:solidFill>
            </a:endParaRPr>
          </a:p>
        </p:txBody>
      </p:sp>
      <p:pic>
        <p:nvPicPr>
          <p:cNvPr id="4098" name="Picture 2" descr="Walking Off The Cliff With Off-Policy Reinforcement Learning | by Wouter  van Heeswijk, PhD | Towards Data Science">
            <a:extLst>
              <a:ext uri="{FF2B5EF4-FFF2-40B4-BE49-F238E27FC236}">
                <a16:creationId xmlns:a16="http://schemas.microsoft.com/office/drawing/2014/main" id="{33B1FE08-FF3C-386B-F890-A1E7F0569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0256" y="597253"/>
            <a:ext cx="8311487" cy="282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CF587-3551-779C-6862-3A7F42588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r>
              <a:rPr lang="en-US" sz="2000"/>
              <a:t>SARSA is conservative</a:t>
            </a:r>
          </a:p>
          <a:p>
            <a:r>
              <a:rPr lang="en-US" sz="2000"/>
              <a:t>Q-Learning is optimistic</a:t>
            </a:r>
            <a:endParaRPr lang="en-IL" sz="2000"/>
          </a:p>
        </p:txBody>
      </p:sp>
    </p:spTree>
    <p:extLst>
      <p:ext uri="{BB962C8B-B14F-4D97-AF65-F5344CB8AC3E}">
        <p14:creationId xmlns:p14="http://schemas.microsoft.com/office/powerpoint/2010/main" val="368351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Rectangle 615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5" name="Rectangle 615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7" name="Rectangle 615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59" name="Freeform: Shape 615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65362D-D6B9-BB7E-A353-0D053479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SARSA vs 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E9B3E-184F-3EB4-BA15-64D9B04E5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042" y="806824"/>
            <a:ext cx="2919738" cy="14941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They will result in different strategies</a:t>
            </a:r>
          </a:p>
        </p:txBody>
      </p:sp>
      <p:pic>
        <p:nvPicPr>
          <p:cNvPr id="6146" name="Picture 2" descr="Temporal-difference RL: Sarsa vs Q-learning | by Kim Rodgers | Medium">
            <a:extLst>
              <a:ext uri="{FF2B5EF4-FFF2-40B4-BE49-F238E27FC236}">
                <a16:creationId xmlns:a16="http://schemas.microsoft.com/office/drawing/2014/main" id="{9F8D8221-79C4-0D4E-B4A0-046DE3521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1568370"/>
            <a:ext cx="7225748" cy="3721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40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ollar gains with no risk. Forecast as of 27.03.2024 | LiteFinance">
            <a:extLst>
              <a:ext uri="{FF2B5EF4-FFF2-40B4-BE49-F238E27FC236}">
                <a16:creationId xmlns:a16="http://schemas.microsoft.com/office/drawing/2014/main" id="{EE7CF6C8-3018-EC15-5CB9-2B825152A3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156" y="457200"/>
            <a:ext cx="10905688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646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77" name="Rectangle 7176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Someone riding alongside a high cliff">
            <a:extLst>
              <a:ext uri="{FF2B5EF4-FFF2-40B4-BE49-F238E27FC236}">
                <a16:creationId xmlns:a16="http://schemas.microsoft.com/office/drawing/2014/main" id="{3D38C24E-EA84-4E92-DEF6-112C489FE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4" r="4826" b="-2"/>
          <a:stretch/>
        </p:blipFill>
        <p:spPr bwMode="auto">
          <a:xfrm>
            <a:off x="4038599" y="10"/>
            <a:ext cx="8160026" cy="687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1" name="Freeform: Shape 7180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051C19-4AED-C9B3-6873-A193BEC8F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2950387"/>
            <a:ext cx="3514725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000" dirty="0">
                <a:solidFill>
                  <a:srgbClr val="FFFFFF"/>
                </a:solidFill>
              </a:rPr>
              <a:t>Q-Learning &amp; SARSA Class ex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661DFC-D25C-A35E-659E-EE5F1C99E1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922" y="743803"/>
            <a:ext cx="2808844" cy="1382392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buNone/>
            </a:pPr>
            <a:r>
              <a:rPr lang="en-US" sz="2000">
                <a:solidFill>
                  <a:srgbClr val="FFFFFF"/>
                </a:solidFill>
              </a:rPr>
              <a:t>The cliff example</a:t>
            </a:r>
          </a:p>
        </p:txBody>
      </p:sp>
    </p:spTree>
    <p:extLst>
      <p:ext uri="{BB962C8B-B14F-4D97-AF65-F5344CB8AC3E}">
        <p14:creationId xmlns:p14="http://schemas.microsoft.com/office/powerpoint/2010/main" val="2908062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4506</TotalTime>
  <Words>534</Words>
  <Application>Microsoft Office PowerPoint</Application>
  <PresentationFormat>Widescreen</PresentationFormat>
  <Paragraphs>193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SARSA &amp; Q-Learning</vt:lpstr>
      <vt:lpstr>Background</vt:lpstr>
      <vt:lpstr>SARSA</vt:lpstr>
      <vt:lpstr>Example</vt:lpstr>
      <vt:lpstr>SARSA</vt:lpstr>
      <vt:lpstr>Q-Learning</vt:lpstr>
      <vt:lpstr>Q-Learning</vt:lpstr>
      <vt:lpstr>SARSA vs Q-Learning</vt:lpstr>
      <vt:lpstr>SARSA vs Q-Learning</vt:lpstr>
      <vt:lpstr>PowerPoint Presentation</vt:lpstr>
      <vt:lpstr>Q-Learning &amp; SARSA Class 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Bornfeld</dc:creator>
  <cp:lastModifiedBy>benny bornfeld</cp:lastModifiedBy>
  <cp:revision>17</cp:revision>
  <dcterms:created xsi:type="dcterms:W3CDTF">2024-06-30T12:30:29Z</dcterms:created>
  <dcterms:modified xsi:type="dcterms:W3CDTF">2025-05-12T07:47:35Z</dcterms:modified>
</cp:coreProperties>
</file>