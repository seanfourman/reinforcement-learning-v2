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65" r:id="rId7"/>
    <p:sldId id="264" r:id="rId8"/>
    <p:sldId id="257" r:id="rId9"/>
    <p:sldId id="259" r:id="rId10"/>
    <p:sldId id="258" r:id="rId11"/>
    <p:sldId id="260" r:id="rId12"/>
    <p:sldId id="263" r:id="rId13"/>
    <p:sldId id="273" r:id="rId14"/>
    <p:sldId id="262" r:id="rId15"/>
    <p:sldId id="272" r:id="rId16"/>
    <p:sldId id="270" r:id="rId1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4632-AC33-9C91-96A9-661E9949A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E7042-6242-9CB4-9FA7-CC1F96558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80CA-8E56-5831-3A25-54057296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D88A3-A7A9-FAA9-A5C6-5AD438E4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C0D3-ECF4-ABBA-C7EC-3A1C5E75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4546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6E91-7F0A-DB1B-0D48-1E8C32FB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850CE-F278-3D35-FE70-A1BF3795C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A288A-7066-F98A-A924-1DF8E563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60E0-E933-48EE-6728-964008CD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68C03-E9DD-81D1-CD19-103D50E4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4847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847C-C172-B01C-D5C1-0F92669D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9B25D-193E-3EC2-454D-71B3D630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77749-2084-B0DB-71C4-6DD3B22B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31413-B5EA-EB01-52FD-8F3B8AEA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FCA1A-7EFB-E312-F8B6-42A39F2C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617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C106-5F48-89B0-829C-2A815CAA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2F72-F490-56FE-2141-0D8B54A21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338A9-5C40-9C8C-B54E-CC831BB40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D1FA7-F93B-3678-3458-F646FC50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77D25-BD2E-C0AC-415B-8B6A40E66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2FCDB-18FD-3CBA-D926-E0B51CBA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541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15585-8F06-CCC4-24E1-2669A374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236EF-BC39-A364-A4B5-BE5F9EEC9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DF302-59F4-B84A-9C3F-D3191FF3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FD466-6133-B844-2C30-CCD3B3E6E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35A01-65FE-CFF6-4818-005071C97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2C97A-AE8B-6AE1-17FE-A4B63B0C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0520B-523E-8DCD-7E13-7611A31F7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6C818-F69E-8C05-C09F-701C2B44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279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4B273-D87F-93F0-2554-390F5DD6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FEF25-5712-2179-858B-AC1330FE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A7B0F-D328-BCD5-7A97-249AFBBF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131BA-5D60-ACA5-4F9F-821DBA7B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13333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73D2FD-C13C-F3AA-3962-B06C932B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F28B7-9AFF-B866-0F70-675E0D8E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1C227-DC50-A54F-DE05-92F0671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511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6233-E4EC-74D4-E4A9-ED8D3046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30E4-8ED6-4B6A-7807-40501E54B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14967-DE1C-4284-4603-AA23BC575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5B193-334E-A22D-AF55-E91A838E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9C4C9-8F0B-8B18-E721-BF12B6D5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AC644-E2D3-3571-2FB6-288BD0BC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055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10AA-4C8D-F646-A134-4A23E11D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0C2484-2F63-3410-2ED9-5B82844F0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9823-F936-73E1-FE74-2E301E1EF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703E9-61BD-1054-F522-13C9B629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0F265-0D9F-A2C6-E59C-0929D0C5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546CB-9963-20E5-5205-C6B753D0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21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468F-601C-68D0-4533-2DB2DA2F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46077-B487-DBDC-A471-03FFBC219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13B9-2ACA-5183-F01C-8A0B5910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8419-B922-5994-8050-E5751552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2574-1DC5-B458-E9E7-AA942BD1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3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13034D-050F-7FB4-66F7-25CE604C5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72893-B032-3924-E36C-43B761F9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BB84C-445E-E45C-62FD-0678EED4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8CB30-AFD9-4AF5-4E0F-F1FB2021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B40E-1285-82BA-E6C9-9E740803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538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65F5B-8B29-E14C-4447-B8E4E9E6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6307D-E258-A3FA-6628-5B1E7F4E8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03763-E190-15F3-112A-BFA56E32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46767-2012-4ACA-BA63-66CC07BB13FD}" type="datetimeFigureOut">
              <a:rPr lang="en-IL" smtClean="0"/>
              <a:t>11/05/2025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4F1EC-8F15-A1ED-8378-441CD6590A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F651E-BD76-7DD1-9A64-794AEE49A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3F0518-6C74-46EB-9DEE-EAC96C5074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2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47495-5148-7469-0880-D5DEEE912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Temporal Differences (TD)</a:t>
            </a:r>
            <a:br>
              <a:rPr lang="en-US" sz="5400"/>
            </a:br>
            <a:r>
              <a:rPr lang="en-US" sz="5400"/>
              <a:t>Algorithm</a:t>
            </a:r>
            <a:endParaRPr lang="en-IL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D26D1-5A55-3FE2-8C76-7D8B133A7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endParaRPr lang="en-US"/>
          </a:p>
          <a:p>
            <a:pPr algn="l"/>
            <a:r>
              <a:rPr lang="en-US" dirty="0"/>
              <a:t>Benny Bornfeld</a:t>
            </a:r>
            <a:endParaRPr lang="en-IL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uzzle of a dog&#10;&#10;AI-generated content may be incorrect.">
            <a:extLst>
              <a:ext uri="{FF2B5EF4-FFF2-40B4-BE49-F238E27FC236}">
                <a16:creationId xmlns:a16="http://schemas.microsoft.com/office/drawing/2014/main" id="{AA7F6F1F-25B6-E2C6-2E78-7C94F112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163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2A9C4-6A42-7BD2-BBCF-5E249C40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Background</a:t>
            </a:r>
            <a:endParaRPr lang="en-I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73852-F183-5780-6C6B-C249A17A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600"/>
              <a:t>MC methods suffer from two main drawbacks</a:t>
            </a:r>
          </a:p>
          <a:p>
            <a:endParaRPr lang="en-US" sz="1600"/>
          </a:p>
          <a:p>
            <a:pPr lvl="1"/>
            <a:r>
              <a:rPr lang="en-US" sz="1600" b="1"/>
              <a:t>Slow</a:t>
            </a:r>
            <a:r>
              <a:rPr lang="en-US" sz="1600"/>
              <a:t> - Values are updated only after the episode is over. Episodes can be very long.</a:t>
            </a:r>
          </a:p>
          <a:p>
            <a:pPr lvl="1"/>
            <a:endParaRPr lang="en-US" sz="1600"/>
          </a:p>
          <a:p>
            <a:pPr lvl="1"/>
            <a:r>
              <a:rPr lang="en-US" sz="1600" b="1"/>
              <a:t>Bootstrapping</a:t>
            </a:r>
            <a:r>
              <a:rPr lang="en-US" sz="1600"/>
              <a:t> is the process of updating value estimates based on other current value estimates. </a:t>
            </a:r>
            <a:r>
              <a:rPr lang="en-US" sz="1600" b="1"/>
              <a:t>MC methods do not take advantage of the information stored in value estimates </a:t>
            </a:r>
            <a:r>
              <a:rPr lang="en-US" sz="1600"/>
              <a:t>but rely only on updating using the actual reward.</a:t>
            </a:r>
          </a:p>
          <a:p>
            <a:pPr lvl="1"/>
            <a:endParaRPr lang="en-US" sz="1600"/>
          </a:p>
          <a:p>
            <a:r>
              <a:rPr lang="en-US" sz="1600"/>
              <a:t>Using Bootstrapping, TD methods allow immediate updates.</a:t>
            </a:r>
          </a:p>
        </p:txBody>
      </p:sp>
      <p:pic>
        <p:nvPicPr>
          <p:cNvPr id="5" name="Picture 4" descr="One glowing light up arrow among other down arrows on green pastel color background">
            <a:extLst>
              <a:ext uri="{FF2B5EF4-FFF2-40B4-BE49-F238E27FC236}">
                <a16:creationId xmlns:a16="http://schemas.microsoft.com/office/drawing/2014/main" id="{622841EA-FCC1-01ED-E91F-5B596CAB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83" r="28273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13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DCE8C-C632-7AA7-F6D7-039922A68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93572"/>
            <a:ext cx="10905066" cy="507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7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B992B-29CC-C211-755B-39199B0C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Rewriting MC with a fixed update value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0338BC-40FF-81F4-25CF-1DB61976A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7574"/>
          <a:stretch/>
        </p:blipFill>
        <p:spPr>
          <a:xfrm>
            <a:off x="643467" y="2381559"/>
            <a:ext cx="10905066" cy="298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2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4E075A-7679-1ED9-C02D-43AF96ECF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18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F7F5-BFFD-0A41-DB07-78E1F803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</a:t>
            </a:r>
            <a:r>
              <a:rPr lang="en-US" dirty="0"/>
              <a:t>emporal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dirty="0"/>
              <a:t>ifferences (</a:t>
            </a:r>
            <a:r>
              <a:rPr lang="en-US" dirty="0">
                <a:solidFill>
                  <a:schemeClr val="accent1"/>
                </a:solidFill>
              </a:rPr>
              <a:t>TD</a:t>
            </a:r>
            <a:r>
              <a:rPr lang="en-US" dirty="0"/>
              <a:t>) Algorithms </a:t>
            </a:r>
            <a:endParaRPr lang="en-IL" dirty="0"/>
          </a:p>
        </p:txBody>
      </p:sp>
      <p:pic>
        <p:nvPicPr>
          <p:cNvPr id="1026" name="Picture 2" descr="Monte Carlo vs Temporal Difference Learning - Hugging Face Deep RL Course">
            <a:extLst>
              <a:ext uri="{FF2B5EF4-FFF2-40B4-BE49-F238E27FC236}">
                <a16:creationId xmlns:a16="http://schemas.microsoft.com/office/drawing/2014/main" id="{EA6C878B-B6BD-2BB1-A57D-7219C5100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24" y="3421834"/>
            <a:ext cx="10245436" cy="27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59177F1-BCDC-53AF-602D-C0F3006AD82E}"/>
              </a:ext>
            </a:extLst>
          </p:cNvPr>
          <p:cNvGrpSpPr/>
          <p:nvPr/>
        </p:nvGrpSpPr>
        <p:grpSpPr>
          <a:xfrm>
            <a:off x="5561860" y="2360104"/>
            <a:ext cx="5613215" cy="1070928"/>
            <a:chOff x="5561860" y="2360104"/>
            <a:chExt cx="5613215" cy="1070928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380B55C6-45EC-27AC-78F2-B799C21A3487}"/>
                </a:ext>
              </a:extLst>
            </p:cNvPr>
            <p:cNvSpPr/>
            <p:nvPr/>
          </p:nvSpPr>
          <p:spPr>
            <a:xfrm rot="5400000">
              <a:off x="8026722" y="282679"/>
              <a:ext cx="683491" cy="561321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74591D-B380-5580-8C68-A24727FA5528}"/>
                </a:ext>
              </a:extLst>
            </p:cNvPr>
            <p:cNvSpPr txBox="1"/>
            <p:nvPr/>
          </p:nvSpPr>
          <p:spPr>
            <a:xfrm>
              <a:off x="7571232" y="2360104"/>
              <a:ext cx="2624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Temporal Error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123448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8923-0A6B-DCF5-40D3-9BE5BB48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TD(0) – Policy Evaluation Algorithm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7634E-C953-1D38-CBFC-BF61C2DE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7" y="2089792"/>
            <a:ext cx="5967984" cy="41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8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14A8-5844-8581-F15F-A41BDFE0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Evaluation using TD0 example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EC8E78-00FD-8511-2C9D-74AC71F83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512870"/>
              </p:ext>
            </p:extLst>
          </p:nvPr>
        </p:nvGraphicFramePr>
        <p:xfrm>
          <a:off x="6805675" y="2368853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4CD40681-7385-AA95-BA40-9E628570B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06" y="2668541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F61C07-2D78-9FCC-EE26-2EC79BCAFA5D}"/>
              </a:ext>
            </a:extLst>
          </p:cNvPr>
          <p:cNvSpPr txBox="1"/>
          <p:nvPr/>
        </p:nvSpPr>
        <p:spPr>
          <a:xfrm>
            <a:off x="10838491" y="236885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38C1AE-8B14-3E54-8479-722E427E055E}"/>
              </a:ext>
            </a:extLst>
          </p:cNvPr>
          <p:cNvSpPr/>
          <p:nvPr/>
        </p:nvSpPr>
        <p:spPr>
          <a:xfrm>
            <a:off x="9446273" y="238114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BC115DF-813D-FE72-C367-B43BC91742F0}"/>
              </a:ext>
            </a:extLst>
          </p:cNvPr>
          <p:cNvSpPr/>
          <p:nvPr/>
        </p:nvSpPr>
        <p:spPr>
          <a:xfrm rot="16200000">
            <a:off x="7367640" y="5129461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68262A-D086-CE8F-56D9-344CCF9CF5FD}"/>
              </a:ext>
            </a:extLst>
          </p:cNvPr>
          <p:cNvSpPr/>
          <p:nvPr/>
        </p:nvSpPr>
        <p:spPr>
          <a:xfrm>
            <a:off x="9053385" y="514449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E1DE766-9744-FC85-D4D7-0EB53D25A1CB}"/>
              </a:ext>
            </a:extLst>
          </p:cNvPr>
          <p:cNvSpPr/>
          <p:nvPr/>
        </p:nvSpPr>
        <p:spPr>
          <a:xfrm rot="16200000">
            <a:off x="10531499" y="512946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6A81CCD-06EA-658D-888F-D0AD027068D5}"/>
              </a:ext>
            </a:extLst>
          </p:cNvPr>
          <p:cNvSpPr/>
          <p:nvPr/>
        </p:nvSpPr>
        <p:spPr>
          <a:xfrm rot="16200000">
            <a:off x="10569803" y="389898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ED3BCA-6406-97CF-C244-938E2B83C53C}"/>
              </a:ext>
            </a:extLst>
          </p:cNvPr>
          <p:cNvSpPr/>
          <p:nvPr/>
        </p:nvSpPr>
        <p:spPr>
          <a:xfrm>
            <a:off x="9053384" y="393348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38AE924-5457-894D-946D-6D2660199A17}"/>
              </a:ext>
            </a:extLst>
          </p:cNvPr>
          <p:cNvSpPr/>
          <p:nvPr/>
        </p:nvSpPr>
        <p:spPr>
          <a:xfrm>
            <a:off x="7400170" y="385847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0D623-E23A-B788-2B82-C5F084D1F8D0}"/>
              </a:ext>
            </a:extLst>
          </p:cNvPr>
          <p:cNvSpPr txBox="1"/>
          <p:nvPr/>
        </p:nvSpPr>
        <p:spPr>
          <a:xfrm>
            <a:off x="10044053" y="236885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0BFCAE-C32C-0958-5316-9A41FC427B0F}"/>
              </a:ext>
            </a:extLst>
          </p:cNvPr>
          <p:cNvSpPr txBox="1"/>
          <p:nvPr/>
        </p:nvSpPr>
        <p:spPr>
          <a:xfrm>
            <a:off x="8456435" y="237033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B185EA-F8E7-9D29-D391-ED028009E4AC}"/>
              </a:ext>
            </a:extLst>
          </p:cNvPr>
          <p:cNvSpPr txBox="1"/>
          <p:nvPr/>
        </p:nvSpPr>
        <p:spPr>
          <a:xfrm>
            <a:off x="6771155" y="236293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AEBFC3-0AB8-67DF-8ABD-D28A0937DEBE}"/>
              </a:ext>
            </a:extLst>
          </p:cNvPr>
          <p:cNvSpPr txBox="1"/>
          <p:nvPr/>
        </p:nvSpPr>
        <p:spPr>
          <a:xfrm>
            <a:off x="10054406" y="355106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B8F17-A78E-CAF0-876C-1FD751B9745B}"/>
              </a:ext>
            </a:extLst>
          </p:cNvPr>
          <p:cNvSpPr txBox="1"/>
          <p:nvPr/>
        </p:nvSpPr>
        <p:spPr>
          <a:xfrm>
            <a:off x="8466788" y="355253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28180-C465-2D43-6663-C49641EEC177}"/>
              </a:ext>
            </a:extLst>
          </p:cNvPr>
          <p:cNvSpPr txBox="1"/>
          <p:nvPr/>
        </p:nvSpPr>
        <p:spPr>
          <a:xfrm>
            <a:off x="6781508" y="354514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AA2C1-6D3D-C507-7C00-F83217F6F890}"/>
              </a:ext>
            </a:extLst>
          </p:cNvPr>
          <p:cNvSpPr txBox="1"/>
          <p:nvPr/>
        </p:nvSpPr>
        <p:spPr>
          <a:xfrm>
            <a:off x="10047006" y="4751018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56BC95-E9A7-7EF4-4633-6EC475A39FFC}"/>
              </a:ext>
            </a:extLst>
          </p:cNvPr>
          <p:cNvSpPr txBox="1"/>
          <p:nvPr/>
        </p:nvSpPr>
        <p:spPr>
          <a:xfrm>
            <a:off x="8459388" y="4752496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42D8-23D8-FFF6-84F6-85742C374300}"/>
              </a:ext>
            </a:extLst>
          </p:cNvPr>
          <p:cNvSpPr txBox="1"/>
          <p:nvPr/>
        </p:nvSpPr>
        <p:spPr>
          <a:xfrm>
            <a:off x="6774108" y="474509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7747927-BD1E-67FC-5ECF-31CE908F2E2B}"/>
              </a:ext>
            </a:extLst>
          </p:cNvPr>
          <p:cNvSpPr/>
          <p:nvPr/>
        </p:nvSpPr>
        <p:spPr>
          <a:xfrm rot="5400000">
            <a:off x="8562940" y="298837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F418CD8-D0C0-D1FD-376C-1E6C9CF5ED38}"/>
              </a:ext>
            </a:extLst>
          </p:cNvPr>
          <p:cNvSpPr/>
          <p:nvPr/>
        </p:nvSpPr>
        <p:spPr>
          <a:xfrm>
            <a:off x="9063619" y="2785876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E5A38AB-19C3-0000-2CDC-4395D09EB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992" y="1367413"/>
            <a:ext cx="6551357" cy="6070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3CDD0AC-9EEF-DD33-46D0-32C3DEE2945B}"/>
              </a:ext>
            </a:extLst>
          </p:cNvPr>
          <p:cNvSpPr txBox="1"/>
          <p:nvPr/>
        </p:nvSpPr>
        <p:spPr>
          <a:xfrm>
            <a:off x="836039" y="2992003"/>
            <a:ext cx="497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1 : S3-&gt;D-&gt;S6-&gt;R-&gt;S5-&gt;R-&gt;S4-&gt;U-&gt;S1</a:t>
            </a:r>
            <a:endParaRPr lang="en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16A71F-8C4B-13BF-2483-029469D5F954}"/>
              </a:ext>
            </a:extLst>
          </p:cNvPr>
          <p:cNvSpPr txBox="1"/>
          <p:nvPr/>
        </p:nvSpPr>
        <p:spPr>
          <a:xfrm>
            <a:off x="836039" y="3531373"/>
            <a:ext cx="371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2: S3-&gt;D-&gt;S2-&gt;R-&gt;S1</a:t>
            </a:r>
            <a:endParaRPr lang="en-IL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1BD600-DA5A-E9C7-895B-BF683A0950C2}"/>
              </a:ext>
            </a:extLst>
          </p:cNvPr>
          <p:cNvGrpSpPr/>
          <p:nvPr/>
        </p:nvGrpSpPr>
        <p:grpSpPr>
          <a:xfrm>
            <a:off x="2420992" y="1895222"/>
            <a:ext cx="1124875" cy="607076"/>
            <a:chOff x="5136760" y="1419734"/>
            <a:chExt cx="1124875" cy="60707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A98D4E8-9929-5648-0A45-2178881425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41" r="53062"/>
            <a:stretch/>
          </p:blipFill>
          <p:spPr>
            <a:xfrm>
              <a:off x="5136760" y="1419734"/>
              <a:ext cx="373253" cy="6070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11402-415F-0CBD-83EE-42FED9BE802D}"/>
                </a:ext>
              </a:extLst>
            </p:cNvPr>
            <p:cNvSpPr txBox="1"/>
            <p:nvPr/>
          </p:nvSpPr>
          <p:spPr>
            <a:xfrm>
              <a:off x="5520971" y="1564594"/>
              <a:ext cx="7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=0.1</a:t>
              </a:r>
              <a:endParaRPr lang="en-IL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0487C69-E19A-C3D5-23D6-EA83B338CB40}"/>
              </a:ext>
            </a:extLst>
          </p:cNvPr>
          <p:cNvSpPr txBox="1"/>
          <p:nvPr/>
        </p:nvSpPr>
        <p:spPr>
          <a:xfrm>
            <a:off x="833528" y="4026250"/>
            <a:ext cx="491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3:  S3-&gt;D-&gt;S2-&gt;R-&gt;S5-&gt;R-&gt;S4-&gt;U-S1</a:t>
            </a:r>
            <a:endParaRPr lang="en-IL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A76AC4B-62C6-8E71-879F-10DF397B91F9}"/>
              </a:ext>
            </a:extLst>
          </p:cNvPr>
          <p:cNvSpPr/>
          <p:nvPr/>
        </p:nvSpPr>
        <p:spPr>
          <a:xfrm rot="5400000">
            <a:off x="7312334" y="2800907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9E279E7-27C4-3EE2-9BA5-794AE91EBDA5}"/>
              </a:ext>
            </a:extLst>
          </p:cNvPr>
          <p:cNvSpPr/>
          <p:nvPr/>
        </p:nvSpPr>
        <p:spPr>
          <a:xfrm>
            <a:off x="7807021" y="2421420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5A125C8-E9CB-B242-6C34-92BE2D40DAC2}"/>
              </a:ext>
            </a:extLst>
          </p:cNvPr>
          <p:cNvSpPr/>
          <p:nvPr/>
        </p:nvSpPr>
        <p:spPr>
          <a:xfrm rot="5400000">
            <a:off x="6840122" y="2950784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9D9109-E069-60A0-7E1A-B89107C1E617}"/>
              </a:ext>
            </a:extLst>
          </p:cNvPr>
          <p:cNvSpPr txBox="1"/>
          <p:nvPr/>
        </p:nvSpPr>
        <p:spPr>
          <a:xfrm>
            <a:off x="3499945" y="205449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chemeClr val="accent1"/>
                </a:solidFill>
              </a:rPr>
              <a:t>ϓ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 = 0.5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126119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779F-AC75-765F-D4FD-8FF6911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episode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E09794D-A7C2-0CA9-74DD-DC70BF051F86}"/>
              </a:ext>
            </a:extLst>
          </p:cNvPr>
          <p:cNvGraphicFramePr>
            <a:graphicFrameLocks noGrp="1"/>
          </p:cNvGraphicFramePr>
          <p:nvPr/>
        </p:nvGraphicFramePr>
        <p:xfrm>
          <a:off x="6805675" y="2368853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98C9DDD9-8EA0-37EF-2DE5-15F53CF9E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06" y="2668541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A740569-3AB2-6436-7385-D90275765494}"/>
              </a:ext>
            </a:extLst>
          </p:cNvPr>
          <p:cNvSpPr/>
          <p:nvPr/>
        </p:nvSpPr>
        <p:spPr>
          <a:xfrm>
            <a:off x="9446273" y="238114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403BD9-268C-4DF4-8D48-32EAD0E002AD}"/>
              </a:ext>
            </a:extLst>
          </p:cNvPr>
          <p:cNvSpPr/>
          <p:nvPr/>
        </p:nvSpPr>
        <p:spPr>
          <a:xfrm rot="16200000">
            <a:off x="7367640" y="5129461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274AAA-FA37-66EE-087A-AEFA0567195C}"/>
              </a:ext>
            </a:extLst>
          </p:cNvPr>
          <p:cNvSpPr/>
          <p:nvPr/>
        </p:nvSpPr>
        <p:spPr>
          <a:xfrm>
            <a:off x="9053385" y="514449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56B365B-B45F-E61C-9CB8-E82635077286}"/>
              </a:ext>
            </a:extLst>
          </p:cNvPr>
          <p:cNvSpPr/>
          <p:nvPr/>
        </p:nvSpPr>
        <p:spPr>
          <a:xfrm rot="16200000">
            <a:off x="10531499" y="512946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14C8DD-EEF2-ED07-DFE2-2D89AB896770}"/>
              </a:ext>
            </a:extLst>
          </p:cNvPr>
          <p:cNvSpPr/>
          <p:nvPr/>
        </p:nvSpPr>
        <p:spPr>
          <a:xfrm rot="16200000">
            <a:off x="10569803" y="389898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89C8112-4F7A-3E06-0667-9B9C781B4917}"/>
              </a:ext>
            </a:extLst>
          </p:cNvPr>
          <p:cNvSpPr/>
          <p:nvPr/>
        </p:nvSpPr>
        <p:spPr>
          <a:xfrm>
            <a:off x="9053384" y="393348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794EA0-99A9-7B82-F43B-B7BF5CB461DF}"/>
              </a:ext>
            </a:extLst>
          </p:cNvPr>
          <p:cNvSpPr/>
          <p:nvPr/>
        </p:nvSpPr>
        <p:spPr>
          <a:xfrm>
            <a:off x="7400170" y="385847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5BB87-F486-709A-9A71-5C8CB4C751F4}"/>
              </a:ext>
            </a:extLst>
          </p:cNvPr>
          <p:cNvSpPr txBox="1"/>
          <p:nvPr/>
        </p:nvSpPr>
        <p:spPr>
          <a:xfrm>
            <a:off x="10044053" y="236885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06062-3214-57F2-D9B8-E12B2401EBD7}"/>
              </a:ext>
            </a:extLst>
          </p:cNvPr>
          <p:cNvSpPr txBox="1"/>
          <p:nvPr/>
        </p:nvSpPr>
        <p:spPr>
          <a:xfrm>
            <a:off x="8456435" y="237033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41E82-5952-99B4-4038-F918A44737DB}"/>
              </a:ext>
            </a:extLst>
          </p:cNvPr>
          <p:cNvSpPr txBox="1"/>
          <p:nvPr/>
        </p:nvSpPr>
        <p:spPr>
          <a:xfrm>
            <a:off x="6771155" y="236293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3FEF5-767B-82A1-FBB3-5C8FC965AFA5}"/>
              </a:ext>
            </a:extLst>
          </p:cNvPr>
          <p:cNvSpPr txBox="1"/>
          <p:nvPr/>
        </p:nvSpPr>
        <p:spPr>
          <a:xfrm>
            <a:off x="10054406" y="355106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0F459-6C65-5274-04DD-73F34CFB6EBB}"/>
              </a:ext>
            </a:extLst>
          </p:cNvPr>
          <p:cNvSpPr txBox="1"/>
          <p:nvPr/>
        </p:nvSpPr>
        <p:spPr>
          <a:xfrm>
            <a:off x="8466788" y="355253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D4EAA-9083-32E6-C397-8F7D6C308A51}"/>
              </a:ext>
            </a:extLst>
          </p:cNvPr>
          <p:cNvSpPr txBox="1"/>
          <p:nvPr/>
        </p:nvSpPr>
        <p:spPr>
          <a:xfrm>
            <a:off x="6781508" y="354514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B7F9A-672C-8001-A8EC-5BADC9EA7A47}"/>
              </a:ext>
            </a:extLst>
          </p:cNvPr>
          <p:cNvSpPr txBox="1"/>
          <p:nvPr/>
        </p:nvSpPr>
        <p:spPr>
          <a:xfrm>
            <a:off x="10047006" y="4751018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4B995-3DBE-A5D6-34E4-5C55E98DB254}"/>
              </a:ext>
            </a:extLst>
          </p:cNvPr>
          <p:cNvSpPr txBox="1"/>
          <p:nvPr/>
        </p:nvSpPr>
        <p:spPr>
          <a:xfrm>
            <a:off x="8459388" y="4752496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85DCB-D13A-0596-D509-228C3263558F}"/>
              </a:ext>
            </a:extLst>
          </p:cNvPr>
          <p:cNvSpPr txBox="1"/>
          <p:nvPr/>
        </p:nvSpPr>
        <p:spPr>
          <a:xfrm>
            <a:off x="6774108" y="474509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A7853BA-DCFE-EC5E-FBCC-B0ECE357892E}"/>
              </a:ext>
            </a:extLst>
          </p:cNvPr>
          <p:cNvSpPr/>
          <p:nvPr/>
        </p:nvSpPr>
        <p:spPr>
          <a:xfrm rot="5400000">
            <a:off x="8562940" y="298837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CA1CC67-1B9E-FE6C-4230-CB1A2829E4C2}"/>
              </a:ext>
            </a:extLst>
          </p:cNvPr>
          <p:cNvSpPr/>
          <p:nvPr/>
        </p:nvSpPr>
        <p:spPr>
          <a:xfrm>
            <a:off x="9063619" y="2785876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2B0826-5224-8EB8-C1ED-7A3547F64ED7}"/>
              </a:ext>
            </a:extLst>
          </p:cNvPr>
          <p:cNvSpPr txBox="1"/>
          <p:nvPr/>
        </p:nvSpPr>
        <p:spPr>
          <a:xfrm>
            <a:off x="836039" y="2196475"/>
            <a:ext cx="371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S3-&gt;D-&gt;S6-&gt;R-&gt;S5-&gt;R-&gt;S4-&gt;U-&gt;S1</a:t>
            </a:r>
            <a:endParaRPr lang="en-IL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1E95109-92CF-9637-270E-DA82CB82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55" y="1777198"/>
            <a:ext cx="5082493" cy="4709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6FD540-FAE8-7DBA-0478-E559224FB0F8}"/>
              </a:ext>
            </a:extLst>
          </p:cNvPr>
          <p:cNvSpPr txBox="1"/>
          <p:nvPr/>
        </p:nvSpPr>
        <p:spPr>
          <a:xfrm>
            <a:off x="836039" y="2973340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V3 = 0 + 0.1 (0 + 0.5 * 0 – 0) = 0 </a:t>
            </a:r>
            <a:endParaRPr lang="en-IL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02864D-8688-8B3D-6C03-EE878401CBA8}"/>
              </a:ext>
            </a:extLst>
          </p:cNvPr>
          <p:cNvGrpSpPr/>
          <p:nvPr/>
        </p:nvGrpSpPr>
        <p:grpSpPr>
          <a:xfrm>
            <a:off x="6674991" y="1192928"/>
            <a:ext cx="1124875" cy="607076"/>
            <a:chOff x="5136760" y="1419734"/>
            <a:chExt cx="1124875" cy="60707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3E6AED7-42DC-0410-2FAF-EEE68C2FA7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41" r="53062"/>
            <a:stretch/>
          </p:blipFill>
          <p:spPr>
            <a:xfrm>
              <a:off x="5136760" y="1419734"/>
              <a:ext cx="373253" cy="6070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1F1E98-9B89-4AF7-B161-17C3FA6A055D}"/>
                </a:ext>
              </a:extLst>
            </p:cNvPr>
            <p:cNvSpPr txBox="1"/>
            <p:nvPr/>
          </p:nvSpPr>
          <p:spPr>
            <a:xfrm>
              <a:off x="5520971" y="1564594"/>
              <a:ext cx="7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=0.1</a:t>
              </a:r>
              <a:endParaRPr lang="en-IL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D580CA2-0F36-D6DB-8E62-99F9FED351E4}"/>
              </a:ext>
            </a:extLst>
          </p:cNvPr>
          <p:cNvSpPr txBox="1"/>
          <p:nvPr/>
        </p:nvSpPr>
        <p:spPr>
          <a:xfrm>
            <a:off x="836038" y="3342672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V6 = 0 + 0.1 (0 + 0.5 * 0 – 0) = 0 </a:t>
            </a:r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683EF5-25B9-79EF-EF12-259A31D0031A}"/>
              </a:ext>
            </a:extLst>
          </p:cNvPr>
          <p:cNvSpPr txBox="1"/>
          <p:nvPr/>
        </p:nvSpPr>
        <p:spPr>
          <a:xfrm>
            <a:off x="840956" y="3709761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V5 = 0 + 0.1 (0 + 0.5 * 0 – 0) = 0 </a:t>
            </a:r>
            <a:endParaRPr lang="en-I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B13B41-BFD7-E649-106F-06D47FD799DF}"/>
              </a:ext>
            </a:extLst>
          </p:cNvPr>
          <p:cNvSpPr txBox="1"/>
          <p:nvPr/>
        </p:nvSpPr>
        <p:spPr>
          <a:xfrm>
            <a:off x="836037" y="4105556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V4 = 0 + 0.1 (2 + 0.5 * 0 – 0) = 0.2 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05A68-D4B8-D02C-6943-EF1CE3FA9012}"/>
              </a:ext>
            </a:extLst>
          </p:cNvPr>
          <p:cNvSpPr txBox="1"/>
          <p:nvPr/>
        </p:nvSpPr>
        <p:spPr>
          <a:xfrm>
            <a:off x="10584833" y="3568960"/>
            <a:ext cx="58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0.2</a:t>
            </a:r>
            <a:endParaRPr lang="en-IL" b="1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AD73028-CD04-5C03-4802-AABB19D18177}"/>
              </a:ext>
            </a:extLst>
          </p:cNvPr>
          <p:cNvSpPr/>
          <p:nvPr/>
        </p:nvSpPr>
        <p:spPr>
          <a:xfrm rot="5400000">
            <a:off x="7312334" y="2800907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F79AF2D-62E1-0BB9-E53D-7D0E0C26B3BD}"/>
              </a:ext>
            </a:extLst>
          </p:cNvPr>
          <p:cNvSpPr/>
          <p:nvPr/>
        </p:nvSpPr>
        <p:spPr>
          <a:xfrm>
            <a:off x="7807021" y="2421420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C1B93A6-9ADF-24F2-722E-EDA40776FA47}"/>
              </a:ext>
            </a:extLst>
          </p:cNvPr>
          <p:cNvSpPr/>
          <p:nvPr/>
        </p:nvSpPr>
        <p:spPr>
          <a:xfrm rot="5400000">
            <a:off x="6840122" y="2950784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873A9B-F531-C24B-7DFA-D12F41308CB5}"/>
              </a:ext>
            </a:extLst>
          </p:cNvPr>
          <p:cNvSpPr txBox="1"/>
          <p:nvPr/>
        </p:nvSpPr>
        <p:spPr>
          <a:xfrm>
            <a:off x="10838491" y="236885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CD320B-23BF-223A-039C-EDCEF2876746}"/>
              </a:ext>
            </a:extLst>
          </p:cNvPr>
          <p:cNvSpPr txBox="1"/>
          <p:nvPr/>
        </p:nvSpPr>
        <p:spPr>
          <a:xfrm>
            <a:off x="819499" y="2668545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V3 = V3 + </a:t>
            </a:r>
            <a:r>
              <a:rPr lang="el-GR" dirty="0">
                <a:solidFill>
                  <a:schemeClr val="accent1"/>
                </a:solidFill>
              </a:rPr>
              <a:t>α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(r + 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l-GR" dirty="0">
                <a:solidFill>
                  <a:schemeClr val="accent1"/>
                </a:solidFill>
              </a:rPr>
              <a:t>ϓ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*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 V6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–</a:t>
            </a:r>
            <a:r>
              <a:rPr lang="he-IL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V3) = 0 </a:t>
            </a:r>
            <a:endParaRPr lang="en-IL" dirty="0">
              <a:solidFill>
                <a:schemeClr val="accent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B2490C-339B-DC67-4211-D37556CD194C}"/>
              </a:ext>
            </a:extLst>
          </p:cNvPr>
          <p:cNvSpPr txBox="1"/>
          <p:nvPr/>
        </p:nvSpPr>
        <p:spPr>
          <a:xfrm>
            <a:off x="7708871" y="13333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chemeClr val="accent1"/>
                </a:solidFill>
              </a:rPr>
              <a:t>ϓ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 = 0.5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181344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779F-AC75-765F-D4FD-8FF6911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episode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E09794D-A7C2-0CA9-74DD-DC70BF051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401115"/>
              </p:ext>
            </p:extLst>
          </p:nvPr>
        </p:nvGraphicFramePr>
        <p:xfrm>
          <a:off x="6805675" y="2368853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98C9DDD9-8EA0-37EF-2DE5-15F53CF9E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06" y="2668541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A740569-3AB2-6436-7385-D90275765494}"/>
              </a:ext>
            </a:extLst>
          </p:cNvPr>
          <p:cNvSpPr/>
          <p:nvPr/>
        </p:nvSpPr>
        <p:spPr>
          <a:xfrm>
            <a:off x="9446273" y="238114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403BD9-268C-4DF4-8D48-32EAD0E002AD}"/>
              </a:ext>
            </a:extLst>
          </p:cNvPr>
          <p:cNvSpPr/>
          <p:nvPr/>
        </p:nvSpPr>
        <p:spPr>
          <a:xfrm rot="16200000">
            <a:off x="7367640" y="5129461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274AAA-FA37-66EE-087A-AEFA0567195C}"/>
              </a:ext>
            </a:extLst>
          </p:cNvPr>
          <p:cNvSpPr/>
          <p:nvPr/>
        </p:nvSpPr>
        <p:spPr>
          <a:xfrm>
            <a:off x="9053385" y="514449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56B365B-B45F-E61C-9CB8-E82635077286}"/>
              </a:ext>
            </a:extLst>
          </p:cNvPr>
          <p:cNvSpPr/>
          <p:nvPr/>
        </p:nvSpPr>
        <p:spPr>
          <a:xfrm rot="16200000">
            <a:off x="10531499" y="512946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14C8DD-EEF2-ED07-DFE2-2D89AB896770}"/>
              </a:ext>
            </a:extLst>
          </p:cNvPr>
          <p:cNvSpPr/>
          <p:nvPr/>
        </p:nvSpPr>
        <p:spPr>
          <a:xfrm rot="16200000">
            <a:off x="10569803" y="389898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89C8112-4F7A-3E06-0667-9B9C781B4917}"/>
              </a:ext>
            </a:extLst>
          </p:cNvPr>
          <p:cNvSpPr/>
          <p:nvPr/>
        </p:nvSpPr>
        <p:spPr>
          <a:xfrm>
            <a:off x="9053384" y="393348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794EA0-99A9-7B82-F43B-B7BF5CB461DF}"/>
              </a:ext>
            </a:extLst>
          </p:cNvPr>
          <p:cNvSpPr/>
          <p:nvPr/>
        </p:nvSpPr>
        <p:spPr>
          <a:xfrm>
            <a:off x="7400170" y="385847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5BB87-F486-709A-9A71-5C8CB4C751F4}"/>
              </a:ext>
            </a:extLst>
          </p:cNvPr>
          <p:cNvSpPr txBox="1"/>
          <p:nvPr/>
        </p:nvSpPr>
        <p:spPr>
          <a:xfrm>
            <a:off x="10044053" y="236885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06062-3214-57F2-D9B8-E12B2401EBD7}"/>
              </a:ext>
            </a:extLst>
          </p:cNvPr>
          <p:cNvSpPr txBox="1"/>
          <p:nvPr/>
        </p:nvSpPr>
        <p:spPr>
          <a:xfrm>
            <a:off x="8456435" y="237033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41E82-5952-99B4-4038-F918A44737DB}"/>
              </a:ext>
            </a:extLst>
          </p:cNvPr>
          <p:cNvSpPr txBox="1"/>
          <p:nvPr/>
        </p:nvSpPr>
        <p:spPr>
          <a:xfrm>
            <a:off x="6771155" y="236293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3FEF5-767B-82A1-FBB3-5C8FC965AFA5}"/>
              </a:ext>
            </a:extLst>
          </p:cNvPr>
          <p:cNvSpPr txBox="1"/>
          <p:nvPr/>
        </p:nvSpPr>
        <p:spPr>
          <a:xfrm>
            <a:off x="10054406" y="355106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0F459-6C65-5274-04DD-73F34CFB6EBB}"/>
              </a:ext>
            </a:extLst>
          </p:cNvPr>
          <p:cNvSpPr txBox="1"/>
          <p:nvPr/>
        </p:nvSpPr>
        <p:spPr>
          <a:xfrm>
            <a:off x="8466788" y="355253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D4EAA-9083-32E6-C397-8F7D6C308A51}"/>
              </a:ext>
            </a:extLst>
          </p:cNvPr>
          <p:cNvSpPr txBox="1"/>
          <p:nvPr/>
        </p:nvSpPr>
        <p:spPr>
          <a:xfrm>
            <a:off x="6781508" y="354514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B7F9A-672C-8001-A8EC-5BADC9EA7A47}"/>
              </a:ext>
            </a:extLst>
          </p:cNvPr>
          <p:cNvSpPr txBox="1"/>
          <p:nvPr/>
        </p:nvSpPr>
        <p:spPr>
          <a:xfrm>
            <a:off x="10047006" y="4751018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4B995-3DBE-A5D6-34E4-5C55E98DB254}"/>
              </a:ext>
            </a:extLst>
          </p:cNvPr>
          <p:cNvSpPr txBox="1"/>
          <p:nvPr/>
        </p:nvSpPr>
        <p:spPr>
          <a:xfrm>
            <a:off x="8459388" y="4752496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85DCB-D13A-0596-D509-228C3263558F}"/>
              </a:ext>
            </a:extLst>
          </p:cNvPr>
          <p:cNvSpPr txBox="1"/>
          <p:nvPr/>
        </p:nvSpPr>
        <p:spPr>
          <a:xfrm>
            <a:off x="6774108" y="474509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A7853BA-DCFE-EC5E-FBCC-B0ECE357892E}"/>
              </a:ext>
            </a:extLst>
          </p:cNvPr>
          <p:cNvSpPr/>
          <p:nvPr/>
        </p:nvSpPr>
        <p:spPr>
          <a:xfrm rot="5400000">
            <a:off x="8562940" y="298837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CA1CC67-1B9E-FE6C-4230-CB1A2829E4C2}"/>
              </a:ext>
            </a:extLst>
          </p:cNvPr>
          <p:cNvSpPr/>
          <p:nvPr/>
        </p:nvSpPr>
        <p:spPr>
          <a:xfrm>
            <a:off x="9063619" y="2785876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2B0826-5224-8EB8-C1ED-7A3547F64ED7}"/>
              </a:ext>
            </a:extLst>
          </p:cNvPr>
          <p:cNvSpPr txBox="1"/>
          <p:nvPr/>
        </p:nvSpPr>
        <p:spPr>
          <a:xfrm>
            <a:off x="836039" y="2196475"/>
            <a:ext cx="371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S3-&gt;D-&gt;S2-&gt;R-&gt;S1</a:t>
            </a:r>
            <a:endParaRPr lang="en-IL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1E95109-92CF-9637-270E-DA82CB82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55" y="1777198"/>
            <a:ext cx="5082493" cy="4709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6FD540-FAE8-7DBA-0478-E559224FB0F8}"/>
              </a:ext>
            </a:extLst>
          </p:cNvPr>
          <p:cNvSpPr txBox="1"/>
          <p:nvPr/>
        </p:nvSpPr>
        <p:spPr>
          <a:xfrm>
            <a:off x="836039" y="2973340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V3 = 0 + 0.1 (0 + 0.5 * 0 – 0) = 0 </a:t>
            </a:r>
            <a:endParaRPr lang="en-IL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02864D-8688-8B3D-6C03-EE878401CBA8}"/>
              </a:ext>
            </a:extLst>
          </p:cNvPr>
          <p:cNvGrpSpPr/>
          <p:nvPr/>
        </p:nvGrpSpPr>
        <p:grpSpPr>
          <a:xfrm>
            <a:off x="6674991" y="1192928"/>
            <a:ext cx="1124875" cy="607076"/>
            <a:chOff x="5136760" y="1419734"/>
            <a:chExt cx="1124875" cy="60707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3E6AED7-42DC-0410-2FAF-EEE68C2FA7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41" r="53062"/>
            <a:stretch/>
          </p:blipFill>
          <p:spPr>
            <a:xfrm>
              <a:off x="5136760" y="1419734"/>
              <a:ext cx="373253" cy="6070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1F1E98-9B89-4AF7-B161-17C3FA6A055D}"/>
                </a:ext>
              </a:extLst>
            </p:cNvPr>
            <p:cNvSpPr txBox="1"/>
            <p:nvPr/>
          </p:nvSpPr>
          <p:spPr>
            <a:xfrm>
              <a:off x="5520971" y="1564594"/>
              <a:ext cx="7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=0.1</a:t>
              </a:r>
              <a:endParaRPr lang="en-IL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D580CA2-0F36-D6DB-8E62-99F9FED351E4}"/>
              </a:ext>
            </a:extLst>
          </p:cNvPr>
          <p:cNvSpPr txBox="1"/>
          <p:nvPr/>
        </p:nvSpPr>
        <p:spPr>
          <a:xfrm>
            <a:off x="836038" y="3342672"/>
            <a:ext cx="354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V2 = 0 + 0.1 (2 + 0.5 * 0 – 0) = 0.2 </a:t>
            </a:r>
            <a:endParaRPr lang="en-I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984A33-0F4E-91AA-4515-E89618E27885}"/>
              </a:ext>
            </a:extLst>
          </p:cNvPr>
          <p:cNvSpPr txBox="1"/>
          <p:nvPr/>
        </p:nvSpPr>
        <p:spPr>
          <a:xfrm>
            <a:off x="10584833" y="3568960"/>
            <a:ext cx="58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0.2</a:t>
            </a:r>
            <a:endParaRPr lang="en-I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9287AC-6E71-5D05-404A-199A7BAFA53E}"/>
              </a:ext>
            </a:extLst>
          </p:cNvPr>
          <p:cNvSpPr txBox="1"/>
          <p:nvPr/>
        </p:nvSpPr>
        <p:spPr>
          <a:xfrm>
            <a:off x="8911203" y="2377769"/>
            <a:ext cx="58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0.2</a:t>
            </a:r>
            <a:endParaRPr lang="en-IL" b="1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ADA2B4F6-4B99-425C-707F-A6819DFCD62A}"/>
              </a:ext>
            </a:extLst>
          </p:cNvPr>
          <p:cNvSpPr/>
          <p:nvPr/>
        </p:nvSpPr>
        <p:spPr>
          <a:xfrm rot="5400000">
            <a:off x="7312334" y="2800907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A6607E8-34CA-7CAA-0883-9D82803D6154}"/>
              </a:ext>
            </a:extLst>
          </p:cNvPr>
          <p:cNvSpPr/>
          <p:nvPr/>
        </p:nvSpPr>
        <p:spPr>
          <a:xfrm>
            <a:off x="7807021" y="2421420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741C399-F513-8033-6CB2-7D673A811CAC}"/>
              </a:ext>
            </a:extLst>
          </p:cNvPr>
          <p:cNvSpPr/>
          <p:nvPr/>
        </p:nvSpPr>
        <p:spPr>
          <a:xfrm rot="5400000">
            <a:off x="6840122" y="2950784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5D8647-8788-6F86-BB3C-969E9DBE6E05}"/>
              </a:ext>
            </a:extLst>
          </p:cNvPr>
          <p:cNvSpPr txBox="1"/>
          <p:nvPr/>
        </p:nvSpPr>
        <p:spPr>
          <a:xfrm>
            <a:off x="10838491" y="236885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F5C5CC-2B53-E5B1-3269-C8EC49AC52A8}"/>
              </a:ext>
            </a:extLst>
          </p:cNvPr>
          <p:cNvSpPr txBox="1"/>
          <p:nvPr/>
        </p:nvSpPr>
        <p:spPr>
          <a:xfrm>
            <a:off x="7708871" y="13333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chemeClr val="accent1"/>
                </a:solidFill>
              </a:rPr>
              <a:t>ϓ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 = 0.5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107268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779F-AC75-765F-D4FD-8FF69113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episode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E09794D-A7C2-0CA9-74DD-DC70BF051F86}"/>
              </a:ext>
            </a:extLst>
          </p:cNvPr>
          <p:cNvGraphicFramePr>
            <a:graphicFrameLocks noGrp="1"/>
          </p:cNvGraphicFramePr>
          <p:nvPr/>
        </p:nvGraphicFramePr>
        <p:xfrm>
          <a:off x="6805675" y="2368853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98C9DDD9-8EA0-37EF-2DE5-15F53CF9E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06" y="2668541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1A740569-3AB2-6436-7385-D90275765494}"/>
              </a:ext>
            </a:extLst>
          </p:cNvPr>
          <p:cNvSpPr/>
          <p:nvPr/>
        </p:nvSpPr>
        <p:spPr>
          <a:xfrm>
            <a:off x="9446273" y="238114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C403BD9-268C-4DF4-8D48-32EAD0E002AD}"/>
              </a:ext>
            </a:extLst>
          </p:cNvPr>
          <p:cNvSpPr/>
          <p:nvPr/>
        </p:nvSpPr>
        <p:spPr>
          <a:xfrm rot="16200000">
            <a:off x="7367640" y="5129461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274AAA-FA37-66EE-087A-AEFA0567195C}"/>
              </a:ext>
            </a:extLst>
          </p:cNvPr>
          <p:cNvSpPr/>
          <p:nvPr/>
        </p:nvSpPr>
        <p:spPr>
          <a:xfrm>
            <a:off x="9053385" y="514449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56B365B-B45F-E61C-9CB8-E82635077286}"/>
              </a:ext>
            </a:extLst>
          </p:cNvPr>
          <p:cNvSpPr/>
          <p:nvPr/>
        </p:nvSpPr>
        <p:spPr>
          <a:xfrm rot="16200000">
            <a:off x="10531499" y="512946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14C8DD-EEF2-ED07-DFE2-2D89AB896770}"/>
              </a:ext>
            </a:extLst>
          </p:cNvPr>
          <p:cNvSpPr/>
          <p:nvPr/>
        </p:nvSpPr>
        <p:spPr>
          <a:xfrm rot="16200000">
            <a:off x="10569803" y="3898988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85F4BD4-E0BE-76BC-FC8C-61B2D22BC594}"/>
              </a:ext>
            </a:extLst>
          </p:cNvPr>
          <p:cNvSpPr/>
          <p:nvPr/>
        </p:nvSpPr>
        <p:spPr>
          <a:xfrm rot="5400000">
            <a:off x="7312334" y="2800907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89C8112-4F7A-3E06-0667-9B9C781B4917}"/>
              </a:ext>
            </a:extLst>
          </p:cNvPr>
          <p:cNvSpPr/>
          <p:nvPr/>
        </p:nvSpPr>
        <p:spPr>
          <a:xfrm>
            <a:off x="9053384" y="393348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5794EA0-99A9-7B82-F43B-B7BF5CB461DF}"/>
              </a:ext>
            </a:extLst>
          </p:cNvPr>
          <p:cNvSpPr/>
          <p:nvPr/>
        </p:nvSpPr>
        <p:spPr>
          <a:xfrm>
            <a:off x="7400170" y="385847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5BB87-F486-709A-9A71-5C8CB4C751F4}"/>
              </a:ext>
            </a:extLst>
          </p:cNvPr>
          <p:cNvSpPr txBox="1"/>
          <p:nvPr/>
        </p:nvSpPr>
        <p:spPr>
          <a:xfrm>
            <a:off x="10044053" y="236885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06062-3214-57F2-D9B8-E12B2401EBD7}"/>
              </a:ext>
            </a:extLst>
          </p:cNvPr>
          <p:cNvSpPr txBox="1"/>
          <p:nvPr/>
        </p:nvSpPr>
        <p:spPr>
          <a:xfrm>
            <a:off x="8456435" y="237033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41E82-5952-99B4-4038-F918A44737DB}"/>
              </a:ext>
            </a:extLst>
          </p:cNvPr>
          <p:cNvSpPr txBox="1"/>
          <p:nvPr/>
        </p:nvSpPr>
        <p:spPr>
          <a:xfrm>
            <a:off x="6771155" y="236293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3FEF5-767B-82A1-FBB3-5C8FC965AFA5}"/>
              </a:ext>
            </a:extLst>
          </p:cNvPr>
          <p:cNvSpPr txBox="1"/>
          <p:nvPr/>
        </p:nvSpPr>
        <p:spPr>
          <a:xfrm>
            <a:off x="10054406" y="355106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0F459-6C65-5274-04DD-73F34CFB6EBB}"/>
              </a:ext>
            </a:extLst>
          </p:cNvPr>
          <p:cNvSpPr txBox="1"/>
          <p:nvPr/>
        </p:nvSpPr>
        <p:spPr>
          <a:xfrm>
            <a:off x="8466788" y="355253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5D4EAA-9083-32E6-C397-8F7D6C308A51}"/>
              </a:ext>
            </a:extLst>
          </p:cNvPr>
          <p:cNvSpPr txBox="1"/>
          <p:nvPr/>
        </p:nvSpPr>
        <p:spPr>
          <a:xfrm>
            <a:off x="6781508" y="354514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B7F9A-672C-8001-A8EC-5BADC9EA7A47}"/>
              </a:ext>
            </a:extLst>
          </p:cNvPr>
          <p:cNvSpPr txBox="1"/>
          <p:nvPr/>
        </p:nvSpPr>
        <p:spPr>
          <a:xfrm>
            <a:off x="10047006" y="4751018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4B995-3DBE-A5D6-34E4-5C55E98DB254}"/>
              </a:ext>
            </a:extLst>
          </p:cNvPr>
          <p:cNvSpPr txBox="1"/>
          <p:nvPr/>
        </p:nvSpPr>
        <p:spPr>
          <a:xfrm>
            <a:off x="8459388" y="4752496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85DCB-D13A-0596-D509-228C3263558F}"/>
              </a:ext>
            </a:extLst>
          </p:cNvPr>
          <p:cNvSpPr txBox="1"/>
          <p:nvPr/>
        </p:nvSpPr>
        <p:spPr>
          <a:xfrm>
            <a:off x="6774108" y="474509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A7853BA-DCFE-EC5E-FBCC-B0ECE357892E}"/>
              </a:ext>
            </a:extLst>
          </p:cNvPr>
          <p:cNvSpPr/>
          <p:nvPr/>
        </p:nvSpPr>
        <p:spPr>
          <a:xfrm rot="5400000">
            <a:off x="8562940" y="298837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CA1CC67-1B9E-FE6C-4230-CB1A2829E4C2}"/>
              </a:ext>
            </a:extLst>
          </p:cNvPr>
          <p:cNvSpPr/>
          <p:nvPr/>
        </p:nvSpPr>
        <p:spPr>
          <a:xfrm>
            <a:off x="9063619" y="2785876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1E95109-92CF-9637-270E-DA82CB82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55" y="1777198"/>
            <a:ext cx="5082493" cy="4709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A6FD540-FAE8-7DBA-0478-E559224FB0F8}"/>
              </a:ext>
            </a:extLst>
          </p:cNvPr>
          <p:cNvSpPr txBox="1"/>
          <p:nvPr/>
        </p:nvSpPr>
        <p:spPr>
          <a:xfrm>
            <a:off x="836038" y="2973340"/>
            <a:ext cx="3799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V3 = 0 + 0.1 (0 + 0.5 * </a:t>
            </a:r>
            <a:r>
              <a:rPr lang="he-IL" dirty="0"/>
              <a:t>0.</a:t>
            </a:r>
            <a:r>
              <a:rPr lang="en-US" dirty="0"/>
              <a:t>2 – 0) = 0.01 </a:t>
            </a:r>
            <a:endParaRPr lang="en-IL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02864D-8688-8B3D-6C03-EE878401CBA8}"/>
              </a:ext>
            </a:extLst>
          </p:cNvPr>
          <p:cNvGrpSpPr/>
          <p:nvPr/>
        </p:nvGrpSpPr>
        <p:grpSpPr>
          <a:xfrm>
            <a:off x="6674991" y="1192928"/>
            <a:ext cx="1124875" cy="607076"/>
            <a:chOff x="5136760" y="1419734"/>
            <a:chExt cx="1124875" cy="60707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3E6AED7-42DC-0410-2FAF-EEE68C2FA7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41" r="53062"/>
            <a:stretch/>
          </p:blipFill>
          <p:spPr>
            <a:xfrm>
              <a:off x="5136760" y="1419734"/>
              <a:ext cx="373253" cy="6070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1F1E98-9B89-4AF7-B161-17C3FA6A055D}"/>
                </a:ext>
              </a:extLst>
            </p:cNvPr>
            <p:cNvSpPr txBox="1"/>
            <p:nvPr/>
          </p:nvSpPr>
          <p:spPr>
            <a:xfrm>
              <a:off x="5520971" y="1564594"/>
              <a:ext cx="7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=0.1</a:t>
              </a:r>
              <a:endParaRPr lang="en-IL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D580CA2-0F36-D6DB-8E62-99F9FED351E4}"/>
              </a:ext>
            </a:extLst>
          </p:cNvPr>
          <p:cNvSpPr txBox="1"/>
          <p:nvPr/>
        </p:nvSpPr>
        <p:spPr>
          <a:xfrm>
            <a:off x="836038" y="3342672"/>
            <a:ext cx="387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V2 = 0.2 + 0.1 (0 + 0.5 * 0 – 0.2) = 0.18 </a:t>
            </a:r>
            <a:endParaRPr lang="en-I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984A33-0F4E-91AA-4515-E89618E27885}"/>
              </a:ext>
            </a:extLst>
          </p:cNvPr>
          <p:cNvSpPr txBox="1"/>
          <p:nvPr/>
        </p:nvSpPr>
        <p:spPr>
          <a:xfrm>
            <a:off x="10484071" y="3568960"/>
            <a:ext cx="6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/>
              <a:t>0.38</a:t>
            </a:r>
            <a:endParaRPr lang="en-IL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9287AC-6E71-5D05-404A-199A7BAFA53E}"/>
              </a:ext>
            </a:extLst>
          </p:cNvPr>
          <p:cNvSpPr txBox="1"/>
          <p:nvPr/>
        </p:nvSpPr>
        <p:spPr>
          <a:xfrm>
            <a:off x="8836215" y="2368809"/>
            <a:ext cx="6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</a:t>
            </a:r>
            <a:r>
              <a:rPr lang="he-IL" b="1" dirty="0"/>
              <a:t>18</a:t>
            </a:r>
            <a:endParaRPr lang="en-IL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25290-5FAB-CDF7-23A6-E201B59F29C9}"/>
              </a:ext>
            </a:extLst>
          </p:cNvPr>
          <p:cNvSpPr txBox="1"/>
          <p:nvPr/>
        </p:nvSpPr>
        <p:spPr>
          <a:xfrm>
            <a:off x="829173" y="2579744"/>
            <a:ext cx="3715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S3-&gt;D-&gt;S2-&gt;R-&gt;S5-&gt;R-&gt;S4-&gt;U-S1</a:t>
            </a:r>
            <a:endParaRPr lang="en-IL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A8C90B-5FD5-72FA-1C39-F5FAEC21CE49}"/>
              </a:ext>
            </a:extLst>
          </p:cNvPr>
          <p:cNvSpPr txBox="1"/>
          <p:nvPr/>
        </p:nvSpPr>
        <p:spPr>
          <a:xfrm>
            <a:off x="836038" y="3736180"/>
            <a:ext cx="387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V5 = 0 + 0.1 (0 + 0.5 * 0.2 – 0) = 0.01 </a:t>
            </a:r>
            <a:endParaRPr lang="en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1ADA85-880D-CB16-7729-6F2D2403B18D}"/>
              </a:ext>
            </a:extLst>
          </p:cNvPr>
          <p:cNvSpPr txBox="1"/>
          <p:nvPr/>
        </p:nvSpPr>
        <p:spPr>
          <a:xfrm>
            <a:off x="832990" y="4135468"/>
            <a:ext cx="387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V4 = 0.2 + 0.1 (2 + 0.5 * 0 –  0.2) = 0.38</a:t>
            </a:r>
            <a:endParaRPr lang="en-IL" dirty="0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6DEA0D15-C650-CADE-2274-93DE441D73FD}"/>
              </a:ext>
            </a:extLst>
          </p:cNvPr>
          <p:cNvSpPr/>
          <p:nvPr/>
        </p:nvSpPr>
        <p:spPr>
          <a:xfrm>
            <a:off x="7807021" y="2421420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1AAB8F2-0C16-19CB-73BE-0960D30BB6B6}"/>
              </a:ext>
            </a:extLst>
          </p:cNvPr>
          <p:cNvSpPr/>
          <p:nvPr/>
        </p:nvSpPr>
        <p:spPr>
          <a:xfrm rot="5400000">
            <a:off x="6840122" y="2950784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E2DA99-7C7A-D454-0EE7-75BAFAF84630}"/>
              </a:ext>
            </a:extLst>
          </p:cNvPr>
          <p:cNvSpPr txBox="1"/>
          <p:nvPr/>
        </p:nvSpPr>
        <p:spPr>
          <a:xfrm>
            <a:off x="10838491" y="236885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FE2EF6-9E60-30EE-6EFE-88E1F934657B}"/>
              </a:ext>
            </a:extLst>
          </p:cNvPr>
          <p:cNvSpPr txBox="1"/>
          <p:nvPr/>
        </p:nvSpPr>
        <p:spPr>
          <a:xfrm>
            <a:off x="7708871" y="13333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chemeClr val="accent1"/>
                </a:solidFill>
              </a:rPr>
              <a:t>ϓ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 = 0.5</a:t>
            </a:r>
            <a:endParaRPr lang="en-IL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7FE3F8-2D46-E67A-763B-E2267050A4E9}"/>
              </a:ext>
            </a:extLst>
          </p:cNvPr>
          <p:cNvSpPr txBox="1"/>
          <p:nvPr/>
        </p:nvSpPr>
        <p:spPr>
          <a:xfrm>
            <a:off x="8979448" y="3579475"/>
            <a:ext cx="66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b="1" dirty="0"/>
              <a:t>0.01</a:t>
            </a:r>
            <a:endParaRPr lang="en-IL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2A18DF-DFE2-2082-BAA7-C52CC43CBED8}"/>
              </a:ext>
            </a:extLst>
          </p:cNvPr>
          <p:cNvSpPr txBox="1"/>
          <p:nvPr/>
        </p:nvSpPr>
        <p:spPr>
          <a:xfrm>
            <a:off x="7206723" y="2356199"/>
            <a:ext cx="6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</a:t>
            </a:r>
            <a:r>
              <a:rPr lang="he-IL" b="1" dirty="0"/>
              <a:t>01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54532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BA48-9A6F-DA64-F3F8-E00003A6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optimal alpha size?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05609-EDA0-68B0-C586-2A35CB4E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04" y="1536220"/>
            <a:ext cx="7708392" cy="4956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3A4965-344A-70E6-349C-EF634C574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05" y="3795343"/>
            <a:ext cx="7316221" cy="2743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0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14A8-5844-8581-F15F-A41BDFE0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EX - Policy Evaluation using TD0 example</a:t>
            </a:r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BEC8E78-00FD-8511-2C9D-74AC71F8318A}"/>
              </a:ext>
            </a:extLst>
          </p:cNvPr>
          <p:cNvGraphicFramePr>
            <a:graphicFrameLocks noGrp="1"/>
          </p:cNvGraphicFramePr>
          <p:nvPr/>
        </p:nvGraphicFramePr>
        <p:xfrm>
          <a:off x="6805675" y="2368853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4CD40681-7385-AA95-BA40-9E628570B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706" y="2668541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F61C07-2D78-9FCC-EE26-2EC79BCAFA5D}"/>
              </a:ext>
            </a:extLst>
          </p:cNvPr>
          <p:cNvSpPr txBox="1"/>
          <p:nvPr/>
        </p:nvSpPr>
        <p:spPr>
          <a:xfrm>
            <a:off x="10838491" y="2368852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+2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38C1AE-8B14-3E54-8479-722E427E055E}"/>
              </a:ext>
            </a:extLst>
          </p:cNvPr>
          <p:cNvSpPr/>
          <p:nvPr/>
        </p:nvSpPr>
        <p:spPr>
          <a:xfrm>
            <a:off x="9467824" y="3593959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BC115DF-813D-FE72-C367-B43BC91742F0}"/>
              </a:ext>
            </a:extLst>
          </p:cNvPr>
          <p:cNvSpPr/>
          <p:nvPr/>
        </p:nvSpPr>
        <p:spPr>
          <a:xfrm rot="16200000">
            <a:off x="7367640" y="5129461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568262A-D086-CE8F-56D9-344CCF9CF5FD}"/>
              </a:ext>
            </a:extLst>
          </p:cNvPr>
          <p:cNvSpPr/>
          <p:nvPr/>
        </p:nvSpPr>
        <p:spPr>
          <a:xfrm>
            <a:off x="9053385" y="5144492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E1DE766-9744-FC85-D4D7-0EB53D25A1CB}"/>
              </a:ext>
            </a:extLst>
          </p:cNvPr>
          <p:cNvSpPr/>
          <p:nvPr/>
        </p:nvSpPr>
        <p:spPr>
          <a:xfrm rot="16200000">
            <a:off x="10531499" y="5129460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ED3BCA-6406-97CF-C244-938E2B83C53C}"/>
              </a:ext>
            </a:extLst>
          </p:cNvPr>
          <p:cNvSpPr/>
          <p:nvPr/>
        </p:nvSpPr>
        <p:spPr>
          <a:xfrm>
            <a:off x="9053384" y="3933484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38AE924-5457-894D-946D-6D2660199A17}"/>
              </a:ext>
            </a:extLst>
          </p:cNvPr>
          <p:cNvSpPr/>
          <p:nvPr/>
        </p:nvSpPr>
        <p:spPr>
          <a:xfrm>
            <a:off x="7400170" y="3858474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0D623-E23A-B788-2B82-C5F084D1F8D0}"/>
              </a:ext>
            </a:extLst>
          </p:cNvPr>
          <p:cNvSpPr txBox="1"/>
          <p:nvPr/>
        </p:nvSpPr>
        <p:spPr>
          <a:xfrm>
            <a:off x="10044053" y="236885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0BFCAE-C32C-0958-5316-9A41FC427B0F}"/>
              </a:ext>
            </a:extLst>
          </p:cNvPr>
          <p:cNvSpPr txBox="1"/>
          <p:nvPr/>
        </p:nvSpPr>
        <p:spPr>
          <a:xfrm>
            <a:off x="8456435" y="237033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B185EA-F8E7-9D29-D391-ED028009E4AC}"/>
              </a:ext>
            </a:extLst>
          </p:cNvPr>
          <p:cNvSpPr txBox="1"/>
          <p:nvPr/>
        </p:nvSpPr>
        <p:spPr>
          <a:xfrm>
            <a:off x="6771155" y="236293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AEBFC3-0AB8-67DF-8ABD-D28A0937DEBE}"/>
              </a:ext>
            </a:extLst>
          </p:cNvPr>
          <p:cNvSpPr txBox="1"/>
          <p:nvPr/>
        </p:nvSpPr>
        <p:spPr>
          <a:xfrm>
            <a:off x="10054406" y="355106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DB8F17-A78E-CAF0-876C-1FD751B9745B}"/>
              </a:ext>
            </a:extLst>
          </p:cNvPr>
          <p:cNvSpPr txBox="1"/>
          <p:nvPr/>
        </p:nvSpPr>
        <p:spPr>
          <a:xfrm>
            <a:off x="8466788" y="355253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28180-C465-2D43-6663-C49641EEC177}"/>
              </a:ext>
            </a:extLst>
          </p:cNvPr>
          <p:cNvSpPr txBox="1"/>
          <p:nvPr/>
        </p:nvSpPr>
        <p:spPr>
          <a:xfrm>
            <a:off x="6781508" y="354514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AA2C1-6D3D-C507-7C00-F83217F6F890}"/>
              </a:ext>
            </a:extLst>
          </p:cNvPr>
          <p:cNvSpPr txBox="1"/>
          <p:nvPr/>
        </p:nvSpPr>
        <p:spPr>
          <a:xfrm>
            <a:off x="10047006" y="4751018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56BC95-E9A7-7EF4-4633-6EC475A39FFC}"/>
              </a:ext>
            </a:extLst>
          </p:cNvPr>
          <p:cNvSpPr txBox="1"/>
          <p:nvPr/>
        </p:nvSpPr>
        <p:spPr>
          <a:xfrm>
            <a:off x="8459388" y="4752496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42D8-23D8-FFF6-84F6-85742C374300}"/>
              </a:ext>
            </a:extLst>
          </p:cNvPr>
          <p:cNvSpPr txBox="1"/>
          <p:nvPr/>
        </p:nvSpPr>
        <p:spPr>
          <a:xfrm>
            <a:off x="6774108" y="474509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B7747927-BD1E-67FC-5ECF-31CE908F2E2B}"/>
              </a:ext>
            </a:extLst>
          </p:cNvPr>
          <p:cNvSpPr/>
          <p:nvPr/>
        </p:nvSpPr>
        <p:spPr>
          <a:xfrm rot="16200000">
            <a:off x="8472796" y="3808587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F418CD8-D0C0-D1FD-376C-1E6C9CF5ED38}"/>
              </a:ext>
            </a:extLst>
          </p:cNvPr>
          <p:cNvSpPr/>
          <p:nvPr/>
        </p:nvSpPr>
        <p:spPr>
          <a:xfrm>
            <a:off x="9063619" y="2785876"/>
            <a:ext cx="595619" cy="565558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E5A38AB-19C3-0000-2CDC-4395D09EB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07" y="1643115"/>
            <a:ext cx="6551357" cy="6070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3CDD0AC-9EEF-DD33-46D0-32C3DEE2945B}"/>
              </a:ext>
            </a:extLst>
          </p:cNvPr>
          <p:cNvSpPr txBox="1"/>
          <p:nvPr/>
        </p:nvSpPr>
        <p:spPr>
          <a:xfrm>
            <a:off x="836039" y="3577219"/>
            <a:ext cx="497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1 : S6-&gt;R-&gt;S5-&gt;R-&gt;S4</a:t>
            </a:r>
            <a:endParaRPr lang="en-I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16A71F-8C4B-13BF-2483-029469D5F954}"/>
              </a:ext>
            </a:extLst>
          </p:cNvPr>
          <p:cNvSpPr txBox="1"/>
          <p:nvPr/>
        </p:nvSpPr>
        <p:spPr>
          <a:xfrm>
            <a:off x="836038" y="4116589"/>
            <a:ext cx="390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2: S6-&gt;R-&gt;S5-&gt;R-&gt;S2-&gt;R-&gt;S1</a:t>
            </a:r>
            <a:endParaRPr lang="en-IL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1BD600-DA5A-E9C7-895B-BF683A0950C2}"/>
              </a:ext>
            </a:extLst>
          </p:cNvPr>
          <p:cNvGrpSpPr/>
          <p:nvPr/>
        </p:nvGrpSpPr>
        <p:grpSpPr>
          <a:xfrm>
            <a:off x="820792" y="2297558"/>
            <a:ext cx="1124875" cy="607076"/>
            <a:chOff x="5136760" y="1419734"/>
            <a:chExt cx="1124875" cy="60707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A98D4E8-9929-5648-0A45-2178881425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1241" r="53062"/>
            <a:stretch/>
          </p:blipFill>
          <p:spPr>
            <a:xfrm>
              <a:off x="5136760" y="1419734"/>
              <a:ext cx="373253" cy="60707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EB11402-415F-0CBD-83EE-42FED9BE802D}"/>
                </a:ext>
              </a:extLst>
            </p:cNvPr>
            <p:cNvSpPr txBox="1"/>
            <p:nvPr/>
          </p:nvSpPr>
          <p:spPr>
            <a:xfrm>
              <a:off x="5520971" y="1564594"/>
              <a:ext cx="7406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=0.2</a:t>
              </a:r>
              <a:endParaRPr lang="en-IL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F9D9109-E069-60A0-7E1A-B89107C1E617}"/>
              </a:ext>
            </a:extLst>
          </p:cNvPr>
          <p:cNvSpPr txBox="1"/>
          <p:nvPr/>
        </p:nvSpPr>
        <p:spPr>
          <a:xfrm>
            <a:off x="1899745" y="245682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dirty="0">
                <a:solidFill>
                  <a:schemeClr val="accent1"/>
                </a:solidFill>
              </a:rPr>
              <a:t>ϓ</a:t>
            </a:r>
            <a:r>
              <a:rPr lang="he-IL" b="1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 = 0.5</a:t>
            </a:r>
            <a:endParaRPr lang="en-IL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BE6992-AD75-B229-5026-9A052328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037" y="3657024"/>
            <a:ext cx="1334908" cy="1070429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8808E38D-F03E-8DCC-74B0-42658225933F}"/>
              </a:ext>
            </a:extLst>
          </p:cNvPr>
          <p:cNvSpPr/>
          <p:nvPr/>
        </p:nvSpPr>
        <p:spPr>
          <a:xfrm>
            <a:off x="7362082" y="2776759"/>
            <a:ext cx="595619" cy="5655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E182210-B756-B2B0-7264-7E9830581B16}"/>
              </a:ext>
            </a:extLst>
          </p:cNvPr>
          <p:cNvSpPr/>
          <p:nvPr/>
        </p:nvSpPr>
        <p:spPr>
          <a:xfrm rot="5400000">
            <a:off x="8465770" y="2938967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9D4E824-E97D-84DE-4FA8-370D2770F95C}"/>
              </a:ext>
            </a:extLst>
          </p:cNvPr>
          <p:cNvSpPr/>
          <p:nvPr/>
        </p:nvSpPr>
        <p:spPr>
          <a:xfrm>
            <a:off x="9465794" y="2382951"/>
            <a:ext cx="595619" cy="56555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C6CFA9-5BB5-CA5A-A827-61D078434879}"/>
              </a:ext>
            </a:extLst>
          </p:cNvPr>
          <p:cNvSpPr txBox="1"/>
          <p:nvPr/>
        </p:nvSpPr>
        <p:spPr>
          <a:xfrm>
            <a:off x="10902300" y="3552539"/>
            <a:ext cx="1115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= -4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282468-FF46-A8B4-222D-394041CAD108}"/>
              </a:ext>
            </a:extLst>
          </p:cNvPr>
          <p:cNvSpPr txBox="1"/>
          <p:nvPr/>
        </p:nvSpPr>
        <p:spPr>
          <a:xfrm>
            <a:off x="842134" y="4680469"/>
            <a:ext cx="4714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Episode 3: S6-&gt;R-&gt;S5-&gt;R-&gt;S2-&gt;R-&gt;S5-&gt;R-&gt;S4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21592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266E-B70D-F746-9061-0002DA20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TD-N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E5D3A-D17F-D51C-6156-F5E1242EF5DD}"/>
                  </a:ext>
                </a:extLst>
              </p:cNvPr>
              <p:cNvSpPr txBox="1"/>
              <p:nvPr/>
            </p:nvSpPr>
            <p:spPr>
              <a:xfrm>
                <a:off x="838200" y="1874520"/>
                <a:ext cx="2161041" cy="543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en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L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L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L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IL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IL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en-IL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IL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L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L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L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7E5D3A-D17F-D51C-6156-F5E1242EF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4520"/>
                <a:ext cx="2161041" cy="5435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0D88DA6-B276-E96F-ED92-B04A344E8CC9}"/>
              </a:ext>
            </a:extLst>
          </p:cNvPr>
          <p:cNvGrpSpPr/>
          <p:nvPr/>
        </p:nvGrpSpPr>
        <p:grpSpPr>
          <a:xfrm>
            <a:off x="826722" y="2816352"/>
            <a:ext cx="4202304" cy="951202"/>
            <a:chOff x="826722" y="2816352"/>
            <a:chExt cx="4202304" cy="9512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9900FD-33F3-2D1C-A50B-8AA2482A206C}"/>
                    </a:ext>
                  </a:extLst>
                </p:cNvPr>
                <p:cNvSpPr txBox="1"/>
                <p:nvPr/>
              </p:nvSpPr>
              <p:spPr>
                <a:xfrm>
                  <a:off x="826722" y="2816352"/>
                  <a:ext cx="4202304" cy="3376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IL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sSub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IL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Sup>
                          <m:sSub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/>
                        </m:sSub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…+</m:t>
                        </m:r>
                        <m:sSubSup>
                          <m:sSub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L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L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L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B9900FD-33F3-2D1C-A50B-8AA2482A2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722" y="2816352"/>
                  <a:ext cx="4202304" cy="337657"/>
                </a:xfrm>
                <a:prstGeom prst="rect">
                  <a:avLst/>
                </a:prstGeom>
                <a:blipFill>
                  <a:blip r:embed="rId3"/>
                  <a:stretch>
                    <a:fillRect l="-1016" b="-2181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F453A6C-D204-2A1E-10C9-A90A6C1613F5}"/>
                </a:ext>
              </a:extLst>
            </p:cNvPr>
            <p:cNvSpPr/>
            <p:nvPr/>
          </p:nvSpPr>
          <p:spPr>
            <a:xfrm rot="16200000">
              <a:off x="3437011" y="2227736"/>
              <a:ext cx="313162" cy="2212848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645B73-5310-2869-4D2C-FE59BBE7517F}"/>
                </a:ext>
              </a:extLst>
            </p:cNvPr>
            <p:cNvSpPr txBox="1"/>
            <p:nvPr/>
          </p:nvSpPr>
          <p:spPr>
            <a:xfrm>
              <a:off x="3232408" y="3429000"/>
              <a:ext cx="8869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G(t+1)</a:t>
              </a:r>
              <a:endParaRPr lang="en-IL" sz="1600" dirty="0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2CD0629C-F2DF-97EC-C257-950413D5B308}"/>
                </a:ext>
              </a:extLst>
            </p:cNvPr>
            <p:cNvSpPr/>
            <p:nvPr/>
          </p:nvSpPr>
          <p:spPr>
            <a:xfrm rot="16200000">
              <a:off x="1626499" y="3096416"/>
              <a:ext cx="313162" cy="475488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10F80B-6C2A-336B-8D4C-E12765F398AE}"/>
              </a:ext>
            </a:extLst>
          </p:cNvPr>
          <p:cNvGrpSpPr/>
          <p:nvPr/>
        </p:nvGrpSpPr>
        <p:grpSpPr>
          <a:xfrm>
            <a:off x="841962" y="3828288"/>
            <a:ext cx="4207242" cy="988481"/>
            <a:chOff x="841962" y="3828288"/>
            <a:chExt cx="4207242" cy="9884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76FE80-B034-5916-B9EA-79579E4F4BF0}"/>
                    </a:ext>
                  </a:extLst>
                </p:cNvPr>
                <p:cNvSpPr txBox="1"/>
                <p:nvPr/>
              </p:nvSpPr>
              <p:spPr>
                <a:xfrm>
                  <a:off x="841962" y="3828288"/>
                  <a:ext cx="4207242" cy="33765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IL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sSub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L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L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/>
                        </m:sSub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…+</m:t>
                        </m:r>
                        <m:sSubSup>
                          <m:sSubSupPr>
                            <m:ctrlPr>
                              <a:rPr lang="en-IL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L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L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IL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L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en-IL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en-IL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276FE80-B034-5916-B9EA-79579E4F4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962" y="3828288"/>
                  <a:ext cx="4207242" cy="337657"/>
                </a:xfrm>
                <a:prstGeom prst="rect">
                  <a:avLst/>
                </a:prstGeom>
                <a:blipFill>
                  <a:blip r:embed="rId4"/>
                  <a:stretch>
                    <a:fillRect l="-870" b="-2181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2D2FEC3E-7263-1259-4A92-BB3BF99E0CDC}"/>
                </a:ext>
              </a:extLst>
            </p:cNvPr>
            <p:cNvSpPr/>
            <p:nvPr/>
          </p:nvSpPr>
          <p:spPr>
            <a:xfrm rot="16200000">
              <a:off x="3871590" y="3659011"/>
              <a:ext cx="300492" cy="1386840"/>
            </a:xfrm>
            <a:prstGeom prst="leftBrace">
              <a:avLst>
                <a:gd name="adj1" fmla="val 8333"/>
                <a:gd name="adj2" fmla="val 46703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7E49E1-AF9C-3F1E-44F9-14E9A2860EF2}"/>
                </a:ext>
              </a:extLst>
            </p:cNvPr>
            <p:cNvSpPr txBox="1"/>
            <p:nvPr/>
          </p:nvSpPr>
          <p:spPr>
            <a:xfrm>
              <a:off x="3593592" y="4478215"/>
              <a:ext cx="8869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G(t+2)</a:t>
              </a:r>
              <a:endParaRPr lang="en-IL" sz="1600" dirty="0"/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7B5CCB97-DA89-036D-AFA8-18FCD3F9F138}"/>
                </a:ext>
              </a:extLst>
            </p:cNvPr>
            <p:cNvSpPr/>
            <p:nvPr/>
          </p:nvSpPr>
          <p:spPr>
            <a:xfrm rot="16200000">
              <a:off x="2097415" y="3652676"/>
              <a:ext cx="313162" cy="138684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9DFC92-331E-AC1D-7DEA-EB4E0B670618}"/>
                  </a:ext>
                </a:extLst>
              </p:cNvPr>
              <p:cNvSpPr txBox="1"/>
              <p:nvPr/>
            </p:nvSpPr>
            <p:spPr>
              <a:xfrm>
                <a:off x="6096000" y="2788920"/>
                <a:ext cx="2407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V(t)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r>
                      <a:rPr lang="en-IL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* V(t+1)  </a:t>
                </a:r>
                <a:endParaRPr lang="en-IL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79DFC92-331E-AC1D-7DEA-EB4E0B670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88920"/>
                <a:ext cx="2407920" cy="369332"/>
              </a:xfrm>
              <a:prstGeom prst="rect">
                <a:avLst/>
              </a:prstGeom>
              <a:blipFill>
                <a:blip r:embed="rId5"/>
                <a:stretch>
                  <a:fillRect l="-2025" t="-8333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AEAF20-021E-BD2E-539E-C9C57DEEE2B6}"/>
                  </a:ext>
                </a:extLst>
              </p:cNvPr>
              <p:cNvSpPr txBox="1"/>
              <p:nvPr/>
            </p:nvSpPr>
            <p:spPr>
              <a:xfrm>
                <a:off x="6197298" y="3825240"/>
                <a:ext cx="31307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V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L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L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L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L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IL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en-IL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L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L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L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L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L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dirty="0" smtClean="0"/>
                      <m:t>V</m:t>
                    </m:r>
                    <m:r>
                      <m:rPr>
                        <m:nor/>
                      </m:rPr>
                      <a:rPr lang="en-US" dirty="0" smtClean="0"/>
                      <m:t>(</m:t>
                    </m:r>
                    <m:r>
                      <m:rPr>
                        <m:nor/>
                      </m:rPr>
                      <a:rPr lang="en-US" dirty="0" smtClean="0"/>
                      <m:t>t</m:t>
                    </m:r>
                    <m:r>
                      <m:rPr>
                        <m:nor/>
                      </m:rPr>
                      <a:rPr lang="en-US" dirty="0" smtClean="0"/>
                      <m:t>+</m:t>
                    </m:r>
                    <m:r>
                      <m:rPr>
                        <m:nor/>
                      </m:rPr>
                      <a:rPr lang="en-US" b="0" i="0" dirty="0" smtClean="0"/>
                      <m:t>2</m:t>
                    </m:r>
                    <m:r>
                      <m:rPr>
                        <m:nor/>
                      </m:rPr>
                      <a:rPr lang="en-US" dirty="0" smtClean="0"/>
                      <m:t>)</m:t>
                    </m:r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AEAF20-021E-BD2E-539E-C9C57DEEE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298" y="3825240"/>
                <a:ext cx="3130793" cy="276999"/>
              </a:xfrm>
              <a:prstGeom prst="rect">
                <a:avLst/>
              </a:prstGeom>
              <a:blipFill>
                <a:blip r:embed="rId6"/>
                <a:stretch>
                  <a:fillRect l="-4678" t="-26667" r="-2339" b="-5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09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F7F5-BFFD-0A41-DB07-78E1F803F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TD(1)</a:t>
            </a:r>
            <a:endParaRPr lang="en-IL" dirty="0"/>
          </a:p>
        </p:txBody>
      </p:sp>
      <p:pic>
        <p:nvPicPr>
          <p:cNvPr id="1026" name="Picture 2" descr="Monte Carlo vs Temporal Difference Learning - Hugging Face Deep RL Course">
            <a:extLst>
              <a:ext uri="{FF2B5EF4-FFF2-40B4-BE49-F238E27FC236}">
                <a16:creationId xmlns:a16="http://schemas.microsoft.com/office/drawing/2014/main" id="{EA6C878B-B6BD-2BB1-A57D-7219C5100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24" y="3421834"/>
            <a:ext cx="10245436" cy="27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59177F1-BCDC-53AF-602D-C0F3006AD82E}"/>
              </a:ext>
            </a:extLst>
          </p:cNvPr>
          <p:cNvGrpSpPr/>
          <p:nvPr/>
        </p:nvGrpSpPr>
        <p:grpSpPr>
          <a:xfrm>
            <a:off x="5561860" y="2360104"/>
            <a:ext cx="5613215" cy="1070928"/>
            <a:chOff x="5561860" y="2360104"/>
            <a:chExt cx="5613215" cy="1070928"/>
          </a:xfrm>
        </p:grpSpPr>
        <p:sp>
          <p:nvSpPr>
            <p:cNvPr id="4" name="Left Brace 3">
              <a:extLst>
                <a:ext uri="{FF2B5EF4-FFF2-40B4-BE49-F238E27FC236}">
                  <a16:creationId xmlns:a16="http://schemas.microsoft.com/office/drawing/2014/main" id="{380B55C6-45EC-27AC-78F2-B799C21A3487}"/>
                </a:ext>
              </a:extLst>
            </p:cNvPr>
            <p:cNvSpPr/>
            <p:nvPr/>
          </p:nvSpPr>
          <p:spPr>
            <a:xfrm rot="5400000">
              <a:off x="8026722" y="282679"/>
              <a:ext cx="683491" cy="561321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274591D-B380-5580-8C68-A24727FA5528}"/>
                </a:ext>
              </a:extLst>
            </p:cNvPr>
            <p:cNvSpPr txBox="1"/>
            <p:nvPr/>
          </p:nvSpPr>
          <p:spPr>
            <a:xfrm>
              <a:off x="7571232" y="2360104"/>
              <a:ext cx="2624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Temporal Error</a:t>
              </a:r>
              <a:endParaRPr lang="en-IL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4AE95-F8A1-7521-07B4-1A81395C415A}"/>
                  </a:ext>
                </a:extLst>
              </p:cNvPr>
              <p:cNvSpPr txBox="1"/>
              <p:nvPr/>
            </p:nvSpPr>
            <p:spPr>
              <a:xfrm>
                <a:off x="5598436" y="3616565"/>
                <a:ext cx="382188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L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L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L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L" sz="28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L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L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IL" sz="280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en-IL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L" sz="28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L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L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L" sz="28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L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L" sz="28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800" dirty="0" smtClean="0"/>
                        <m:t>V</m:t>
                      </m:r>
                      <m:r>
                        <m:rPr>
                          <m:nor/>
                        </m:rPr>
                        <a:rPr lang="en-US" sz="2800" dirty="0" smtClean="0"/>
                        <m:t>(</m:t>
                      </m:r>
                      <m:r>
                        <m:rPr>
                          <m:nor/>
                        </m:rPr>
                        <a:rPr lang="en-US" sz="2800" dirty="0" smtClean="0"/>
                        <m:t>t</m:t>
                      </m:r>
                      <m:r>
                        <m:rPr>
                          <m:nor/>
                        </m:rPr>
                        <a:rPr lang="en-US" sz="2800" dirty="0" smtClean="0"/>
                        <m:t>+</m:t>
                      </m:r>
                      <m:r>
                        <m:rPr>
                          <m:nor/>
                        </m:rPr>
                        <a:rPr lang="en-US" sz="2800" dirty="0" smtClean="0"/>
                        <m:t>2</m:t>
                      </m:r>
                      <m:r>
                        <m:rPr>
                          <m:nor/>
                        </m:rPr>
                        <a:rPr lang="en-US" sz="2800" dirty="0" smtClean="0"/>
                        <m:t>)</m:t>
                      </m:r>
                    </m:oMath>
                  </m:oMathPara>
                </a14:m>
                <a:endParaRPr lang="en-IL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4AE95-F8A1-7521-07B4-1A81395C4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436" y="3616565"/>
                <a:ext cx="38218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89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0D779-0127-0E6A-8024-9455EAE5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Take home message</a:t>
            </a:r>
            <a:endParaRPr lang="en-IL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4AE51-8B88-3740-368E-4E27718C5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Temporal Difference Method are model free</a:t>
            </a:r>
          </a:p>
          <a:p>
            <a:r>
              <a:rPr lang="en-US" sz="2200"/>
              <a:t>They combine the Monte Carlo method with estimating the return using the Bellman equation.</a:t>
            </a:r>
          </a:p>
          <a:p>
            <a:r>
              <a:rPr lang="en-US" sz="2200"/>
              <a:t>This allows them to bootstrap and update in every step, thus making them faster than MC.</a:t>
            </a:r>
          </a:p>
          <a:p>
            <a:r>
              <a:rPr lang="en-US" sz="2200"/>
              <a:t>The estimation can be of one step ahead (TD(0)) or n steps ahead (TD(n)).</a:t>
            </a:r>
          </a:p>
          <a:p>
            <a:r>
              <a:rPr lang="en-US" sz="2200"/>
              <a:t>There is a method called TDλ which combines several TD</a:t>
            </a:r>
            <a:r>
              <a:rPr lang="he-IL" sz="2200"/>
              <a:t> </a:t>
            </a:r>
            <a:r>
              <a:rPr lang="en-US" sz="2200"/>
              <a:t>.</a:t>
            </a:r>
            <a:endParaRPr lang="en-IL" sz="2200"/>
          </a:p>
        </p:txBody>
      </p:sp>
      <p:pic>
        <p:nvPicPr>
          <p:cNvPr id="4" name="Picture 6" descr="Take Home Message for Women">
            <a:extLst>
              <a:ext uri="{FF2B5EF4-FFF2-40B4-BE49-F238E27FC236}">
                <a16:creationId xmlns:a16="http://schemas.microsoft.com/office/drawing/2014/main" id="{8DF2F6A8-DC76-846E-30D2-6B80F51F0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0" r="-1" b="-1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996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7473</TotalTime>
  <Words>725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Temporal Differences (TD) Algorithm</vt:lpstr>
      <vt:lpstr>Background</vt:lpstr>
      <vt:lpstr>PowerPoint Presentation</vt:lpstr>
      <vt:lpstr>Rewriting MC with a fixed update value</vt:lpstr>
      <vt:lpstr>PowerPoint Presentation</vt:lpstr>
      <vt:lpstr>Temporal Differences (TD) Algorithms </vt:lpstr>
      <vt:lpstr>TD(0) – Policy Evaluation Algorithm</vt:lpstr>
      <vt:lpstr>Policy Evaluation using TD0 example</vt:lpstr>
      <vt:lpstr>First episode</vt:lpstr>
      <vt:lpstr>Second episode</vt:lpstr>
      <vt:lpstr>Third episode</vt:lpstr>
      <vt:lpstr>What is the optimal alpha size?</vt:lpstr>
      <vt:lpstr>Class EX - Policy Evaluation using TD0 example</vt:lpstr>
      <vt:lpstr>TD-N</vt:lpstr>
      <vt:lpstr>TD(1)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26</cp:revision>
  <dcterms:created xsi:type="dcterms:W3CDTF">2024-06-26T06:11:47Z</dcterms:created>
  <dcterms:modified xsi:type="dcterms:W3CDTF">2025-05-12T06:25:35Z</dcterms:modified>
</cp:coreProperties>
</file>