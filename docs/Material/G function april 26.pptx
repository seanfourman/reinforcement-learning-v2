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05" r:id="rId6"/>
    <p:sldId id="260" r:id="rId7"/>
    <p:sldId id="261" r:id="rId8"/>
    <p:sldId id="262" r:id="rId9"/>
    <p:sldId id="30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7D34-E5F8-B31D-E702-2A31EB708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E4FC4-3319-22A2-5CAC-D20029711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9692C-2282-2220-D92C-F0C768D2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2FDF2-CA9F-9838-A7E3-520500BF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81CE-8B22-E2CB-989D-07D2445C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5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8D96-3A79-98B8-CDE0-77808BBD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AB7E1-9846-2B5E-CB09-80223ACA7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5B05-002D-AE87-B55B-A8630AE1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00BD0-112C-2E55-A70B-C7DFB02F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AE56A-7AB1-C621-FA0E-CE26C194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4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2BDD-EA23-F42C-24CC-35EEA8EE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456C7-A8F5-FB57-72E7-ABEF7532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7B12-C3D4-305F-23EC-D7BC4092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5374-3700-BFB4-7486-D772F0AB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089D0-BFF6-F18F-6B12-BDA63764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0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F9F4-F51E-9198-6A67-AA051E39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DA10-CFCE-1D38-422A-2ACCC206F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058E2-03CB-4477-C233-8BCE32995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BC82-003B-F7E6-FC05-4E7D3692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65C7D-D81B-E678-EF22-BA648DE0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56C20-47CA-7F50-1833-DE0E394F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0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F722-B232-5A8D-E8B1-7BC55CE7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C697-B46A-3C2C-5390-0C3F0475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3B034-4BC0-630D-8221-A7C4FED90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482AE-9AFC-9ADC-5B38-ABC9680F5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42D1A-BF9D-1A5F-0132-7C1BA84D9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B7618-3AC6-9898-B03C-A4A06250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A4D39-7BDA-4607-9900-9AA40B45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23AEF-34A1-A27E-4F06-B7F39996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6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57EC-58E4-3D48-8520-691F28DB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AEC1A-BA69-8443-8BB8-47372B75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1E6E5-1448-D6F1-C8FA-55FF0BDF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9072D-6C17-6EA3-1867-A4D5C445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4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66F1B-E9E6-E0F3-CCB4-ADECCFD5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E8922-1D07-365F-8C4A-E6398BC1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0E41B-B7C2-15D7-A677-4775F44B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557A-4CCA-457C-ACCE-0A810663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95FF-F089-463C-391E-85B96890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004AF-3069-E734-FD9E-11A555925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FF98-BBBA-D059-8531-41E6892E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2541C-2D35-C742-F570-46BF76DD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0E71C-209B-4A25-870F-086E4A77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7E2D-188F-0F1A-303F-8B806E4B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E00E-5A87-9DCB-DAFF-EB7535A3A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76E33-B7EB-6D55-D4DD-13F8FF9F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F0595-BDF1-93AE-0447-F653E6E9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DBD5A-DF5B-6A76-857B-3ED5ACC8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EA691-643C-6B51-A9FD-6A9EFD8C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8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75E8-7BCB-1452-17B7-3F8F405C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B5669-9C51-FCA7-93C8-4B499B750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C87D3-218E-7428-AD4C-B6C9ED43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6C76-077E-F6FF-D3F5-798EEA69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F3DD-B8D9-7661-6E11-4BF6FB2C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5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72BC9-07A1-00B2-E605-74B68CC3A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F22C1-E5E6-7B52-D8F7-CC87F12A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AC020-8FED-8ED8-D1B7-0393CCC3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EF93-5746-208C-546B-F06BD716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02A0-F2E9-0920-C936-228FF23B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9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F3CBD-62C0-D306-D6B2-81E9D9A8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9B96A-8DB7-547B-9FD5-6F3AB34ED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FA3A-4859-F6DD-27FF-55C844EA9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E7F84-32EB-4601-AA62-8BC95D9AAA3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573B-ED19-B513-2872-CE3ADD38C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2D7B-81CB-3FAD-E648-9BFC6D365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3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yellow coin with a dog figure on it&#10;&#10;AI-generated content may be incorrect.">
            <a:extLst>
              <a:ext uri="{FF2B5EF4-FFF2-40B4-BE49-F238E27FC236}">
                <a16:creationId xmlns:a16="http://schemas.microsoft.com/office/drawing/2014/main" id="{205E51CF-21D1-9952-1ACC-0298CEE6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0723" r="-1" b="7354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EB484-C4FD-C706-1BCC-BD7CF70C9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G &amp; V </a:t>
            </a:r>
            <a:br>
              <a:rPr lang="en-US" sz="4800"/>
            </a:br>
            <a:r>
              <a:rPr lang="en-US" sz="4800"/>
              <a:t>Value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452CF-5DDC-4BC6-07E4-810E9576A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Benny Bornfeld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654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55E1-EAD3-0166-811A-B1DE0B25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 – Sum of </a:t>
            </a:r>
            <a:r>
              <a:rPr lang="en-US" b="1" dirty="0"/>
              <a:t>future</a:t>
            </a:r>
            <a:r>
              <a:rPr lang="en-US" dirty="0"/>
              <a:t> discounted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908DB-4EA4-C7C5-F318-29DF063FEA46}"/>
                  </a:ext>
                </a:extLst>
              </p:cNvPr>
              <p:cNvSpPr txBox="1"/>
              <p:nvPr/>
            </p:nvSpPr>
            <p:spPr>
              <a:xfrm>
                <a:off x="838200" y="1858601"/>
                <a:ext cx="10064931" cy="4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𝑈𝑛𝑡𝑖𝑙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𝑇𝑒𝑟𝑚𝑖𝑛𝑎𝑙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𝑆𝑡𝑎𝑡𝑒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908DB-4EA4-C7C5-F318-29DF063F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8601"/>
                <a:ext cx="10064931" cy="487569"/>
              </a:xfrm>
              <a:prstGeom prst="rect">
                <a:avLst/>
              </a:prstGeom>
              <a:blipFill>
                <a:blip r:embed="rId2"/>
                <a:stretch>
                  <a:fillRect l="-182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F3138FC-28F9-59F8-5B10-A24FC4C8D6E0}"/>
              </a:ext>
            </a:extLst>
          </p:cNvPr>
          <p:cNvGrpSpPr/>
          <p:nvPr/>
        </p:nvGrpSpPr>
        <p:grpSpPr>
          <a:xfrm>
            <a:off x="6156960" y="3553102"/>
            <a:ext cx="5436625" cy="2188715"/>
            <a:chOff x="6156960" y="3553102"/>
            <a:chExt cx="5436625" cy="2188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7D4160-8822-A637-3ACB-9ABA6714373E}"/>
                    </a:ext>
                  </a:extLst>
                </p:cNvPr>
                <p:cNvSpPr txBox="1"/>
                <p:nvPr/>
              </p:nvSpPr>
              <p:spPr>
                <a:xfrm>
                  <a:off x="6609807" y="5352928"/>
                  <a:ext cx="4983778" cy="388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0, Terminal state yields no further rewards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7D4160-8822-A637-3ACB-9ABA67143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9807" y="5352928"/>
                  <a:ext cx="4983778" cy="388889"/>
                </a:xfrm>
                <a:prstGeom prst="rect">
                  <a:avLst/>
                </a:prstGeom>
                <a:blipFill>
                  <a:blip r:embed="rId3"/>
                  <a:stretch>
                    <a:fillRect t="-6250" b="-2031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41931F3-1918-3330-C8B5-C4CA831C7FAE}"/>
                </a:ext>
              </a:extLst>
            </p:cNvPr>
            <p:cNvGrpSpPr/>
            <p:nvPr/>
          </p:nvGrpSpPr>
          <p:grpSpPr>
            <a:xfrm>
              <a:off x="6156960" y="3553102"/>
              <a:ext cx="1367246" cy="1611081"/>
              <a:chOff x="6156960" y="3553102"/>
              <a:chExt cx="1367246" cy="161108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D28FA4F-40E5-9D02-6EDF-A1D58199ACDA}"/>
                  </a:ext>
                </a:extLst>
              </p:cNvPr>
              <p:cNvSpPr/>
              <p:nvPr/>
            </p:nvSpPr>
            <p:spPr>
              <a:xfrm>
                <a:off x="6156960" y="3971109"/>
                <a:ext cx="1367246" cy="119307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 = 100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79540-FD6B-837B-DAA0-E8436D892959}"/>
                  </a:ext>
                </a:extLst>
              </p:cNvPr>
              <p:cNvSpPr txBox="1"/>
              <p:nvPr/>
            </p:nvSpPr>
            <p:spPr>
              <a:xfrm>
                <a:off x="6609807" y="3553102"/>
                <a:ext cx="522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S1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04E2B7-59F3-B376-82BC-4E129B0FF703}"/>
              </a:ext>
            </a:extLst>
          </p:cNvPr>
          <p:cNvGrpSpPr/>
          <p:nvPr/>
        </p:nvGrpSpPr>
        <p:grpSpPr>
          <a:xfrm>
            <a:off x="4393475" y="3553102"/>
            <a:ext cx="1837508" cy="2188714"/>
            <a:chOff x="4393475" y="3553102"/>
            <a:chExt cx="1837508" cy="218871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642681-7A47-355D-65BD-F8C081520507}"/>
                </a:ext>
              </a:extLst>
            </p:cNvPr>
            <p:cNvGrpSpPr/>
            <p:nvPr/>
          </p:nvGrpSpPr>
          <p:grpSpPr>
            <a:xfrm>
              <a:off x="4393475" y="3553102"/>
              <a:ext cx="1837508" cy="1611081"/>
              <a:chOff x="4393475" y="3553102"/>
              <a:chExt cx="1837508" cy="161108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43CEB93-4E19-973D-4DE1-88054CF227EA}"/>
                  </a:ext>
                </a:extLst>
              </p:cNvPr>
              <p:cNvGrpSpPr/>
              <p:nvPr/>
            </p:nvGrpSpPr>
            <p:grpSpPr>
              <a:xfrm>
                <a:off x="4393475" y="3553102"/>
                <a:ext cx="1367246" cy="1611081"/>
                <a:chOff x="4393475" y="3553102"/>
                <a:chExt cx="1367246" cy="1611081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B44100EE-426A-4B5E-60B4-E5865C3DE37A}"/>
                    </a:ext>
                  </a:extLst>
                </p:cNvPr>
                <p:cNvSpPr/>
                <p:nvPr/>
              </p:nvSpPr>
              <p:spPr>
                <a:xfrm>
                  <a:off x="4393475" y="3971109"/>
                  <a:ext cx="1367246" cy="11930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 = 0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C10066-E982-ED9D-9126-B05D81CA073A}"/>
                    </a:ext>
                  </a:extLst>
                </p:cNvPr>
                <p:cNvSpPr txBox="1"/>
                <p:nvPr/>
              </p:nvSpPr>
              <p:spPr>
                <a:xfrm>
                  <a:off x="4868093" y="3553102"/>
                  <a:ext cx="5225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S2</a:t>
                  </a:r>
                </a:p>
              </p:txBody>
            </p:sp>
          </p:grp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C661925A-057E-9936-B2CB-060FF5892DB4}"/>
                  </a:ext>
                </a:extLst>
              </p:cNvPr>
              <p:cNvSpPr/>
              <p:nvPr/>
            </p:nvSpPr>
            <p:spPr>
              <a:xfrm>
                <a:off x="5686698" y="4389120"/>
                <a:ext cx="544285" cy="357051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A0BDDC-7BE5-1804-5256-267C16224D53}"/>
                    </a:ext>
                  </a:extLst>
                </p:cNvPr>
                <p:cNvSpPr txBox="1"/>
                <p:nvPr/>
              </p:nvSpPr>
              <p:spPr>
                <a:xfrm>
                  <a:off x="4739640" y="5352927"/>
                  <a:ext cx="1356360" cy="388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100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A0BDDC-7BE5-1804-5256-267C16224D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640" y="5352927"/>
                  <a:ext cx="1356360" cy="388889"/>
                </a:xfrm>
                <a:prstGeom prst="rect">
                  <a:avLst/>
                </a:prstGeom>
                <a:blipFill>
                  <a:blip r:embed="rId4"/>
                  <a:stretch>
                    <a:fillRect t="-6250" b="-2031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3F6C6A-954F-9993-C82C-27D5AD41C2D8}"/>
                  </a:ext>
                </a:extLst>
              </p:cNvPr>
              <p:cNvSpPr txBox="1"/>
              <p:nvPr/>
            </p:nvSpPr>
            <p:spPr>
              <a:xfrm>
                <a:off x="7920445" y="4327165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3F6C6A-954F-9993-C82C-27D5AD41C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45" y="4327165"/>
                <a:ext cx="1297577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6EFE58-AA38-7F85-F715-31D5FCC1C52A}"/>
              </a:ext>
            </a:extLst>
          </p:cNvPr>
          <p:cNvGrpSpPr/>
          <p:nvPr/>
        </p:nvGrpSpPr>
        <p:grpSpPr>
          <a:xfrm>
            <a:off x="2759018" y="3562889"/>
            <a:ext cx="1776351" cy="2192460"/>
            <a:chOff x="2759018" y="3562889"/>
            <a:chExt cx="1776351" cy="21924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6770236-CEE9-68F6-313F-B808DA28306A}"/>
                </a:ext>
              </a:extLst>
            </p:cNvPr>
            <p:cNvGrpSpPr/>
            <p:nvPr/>
          </p:nvGrpSpPr>
          <p:grpSpPr>
            <a:xfrm>
              <a:off x="2759018" y="3562889"/>
              <a:ext cx="1466815" cy="2192460"/>
              <a:chOff x="2759018" y="3562889"/>
              <a:chExt cx="1466815" cy="21924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24D450B-27F2-FE92-1517-1713A3D9CFA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473" y="5366460"/>
                    <a:ext cx="1356360" cy="3888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b>
                        </m:sSub>
                        <m:r>
                          <a:rPr lang="en-US" sz="1800" i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dirty="0"/>
                      <a:t> 90</a:t>
                    </a: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24D450B-27F2-FE92-1517-1713A3D9CF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473" y="5366460"/>
                    <a:ext cx="1356360" cy="38888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250" b="-203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972DB81-2857-1882-B560-F774E6DF7F84}"/>
                  </a:ext>
                </a:extLst>
              </p:cNvPr>
              <p:cNvGrpSpPr/>
              <p:nvPr/>
            </p:nvGrpSpPr>
            <p:grpSpPr>
              <a:xfrm>
                <a:off x="2759018" y="3562889"/>
                <a:ext cx="1367246" cy="1611081"/>
                <a:chOff x="4393475" y="3553102"/>
                <a:chExt cx="1367246" cy="1611081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A966ACEF-EE68-DE3A-18E0-A081899F404E}"/>
                    </a:ext>
                  </a:extLst>
                </p:cNvPr>
                <p:cNvSpPr/>
                <p:nvPr/>
              </p:nvSpPr>
              <p:spPr>
                <a:xfrm>
                  <a:off x="4393475" y="3971109"/>
                  <a:ext cx="1367246" cy="11930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 = 0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C0D5429-0EAF-FF84-B842-28246FFB13F7}"/>
                    </a:ext>
                  </a:extLst>
                </p:cNvPr>
                <p:cNvSpPr txBox="1"/>
                <p:nvPr/>
              </p:nvSpPr>
              <p:spPr>
                <a:xfrm>
                  <a:off x="4868093" y="3553102"/>
                  <a:ext cx="5225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S3</a:t>
                  </a:r>
                </a:p>
              </p:txBody>
            </p:sp>
          </p:grpSp>
        </p:grp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6738245-E89F-C473-CC3D-FA2F6C4C7535}"/>
                </a:ext>
              </a:extLst>
            </p:cNvPr>
            <p:cNvSpPr/>
            <p:nvPr/>
          </p:nvSpPr>
          <p:spPr>
            <a:xfrm>
              <a:off x="3991084" y="4412289"/>
              <a:ext cx="544285" cy="35705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CEA8B76-E382-21DD-BBC1-483B4B64C887}"/>
              </a:ext>
            </a:extLst>
          </p:cNvPr>
          <p:cNvGrpSpPr/>
          <p:nvPr/>
        </p:nvGrpSpPr>
        <p:grpSpPr>
          <a:xfrm>
            <a:off x="1141339" y="3572676"/>
            <a:ext cx="1761129" cy="2192460"/>
            <a:chOff x="1141339" y="3572676"/>
            <a:chExt cx="1761129" cy="219246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BE1BBB-413D-5017-FB2B-D0191BE62FEC}"/>
                </a:ext>
              </a:extLst>
            </p:cNvPr>
            <p:cNvGrpSpPr/>
            <p:nvPr/>
          </p:nvGrpSpPr>
          <p:grpSpPr>
            <a:xfrm>
              <a:off x="1141339" y="3572676"/>
              <a:ext cx="1466815" cy="2192460"/>
              <a:chOff x="2759018" y="3562889"/>
              <a:chExt cx="1466815" cy="21924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8F55BA6-FD08-6885-7D35-2D89EBEBD89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473" y="5366460"/>
                    <a:ext cx="1356360" cy="3888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b>
                        </m:sSub>
                        <m:r>
                          <a:rPr lang="en-US" sz="1800" i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dirty="0"/>
                      <a:t> 81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8F55BA6-FD08-6885-7D35-2D89EBEBD8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473" y="5366460"/>
                    <a:ext cx="1356360" cy="38888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7813" b="-203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71127B0-BAD3-0B8B-9796-EB86561E1FC6}"/>
                  </a:ext>
                </a:extLst>
              </p:cNvPr>
              <p:cNvGrpSpPr/>
              <p:nvPr/>
            </p:nvGrpSpPr>
            <p:grpSpPr>
              <a:xfrm>
                <a:off x="2759018" y="3562889"/>
                <a:ext cx="1367246" cy="1611081"/>
                <a:chOff x="4393475" y="3553102"/>
                <a:chExt cx="1367246" cy="1611081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625208B-24BF-824E-ED4F-F79EDE3426A3}"/>
                    </a:ext>
                  </a:extLst>
                </p:cNvPr>
                <p:cNvSpPr/>
                <p:nvPr/>
              </p:nvSpPr>
              <p:spPr>
                <a:xfrm>
                  <a:off x="4393475" y="3971109"/>
                  <a:ext cx="1367246" cy="11930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 = 0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DDBDF7-538A-D6A6-872A-4CEB9F4DCC95}"/>
                    </a:ext>
                  </a:extLst>
                </p:cNvPr>
                <p:cNvSpPr txBox="1"/>
                <p:nvPr/>
              </p:nvSpPr>
              <p:spPr>
                <a:xfrm>
                  <a:off x="4868093" y="3553102"/>
                  <a:ext cx="5225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S4</a:t>
                  </a:r>
                </a:p>
              </p:txBody>
            </p:sp>
          </p:grpSp>
        </p:grp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08A69593-18E0-FB9C-52A1-87BAB898F424}"/>
                </a:ext>
              </a:extLst>
            </p:cNvPr>
            <p:cNvSpPr/>
            <p:nvPr/>
          </p:nvSpPr>
          <p:spPr>
            <a:xfrm>
              <a:off x="2358183" y="4418800"/>
              <a:ext cx="544285" cy="35705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35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55E1-EAD3-0166-811A-B1DE0B25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 – Sum of future discounted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908DB-4EA4-C7C5-F318-29DF063FEA46}"/>
                  </a:ext>
                </a:extLst>
              </p:cNvPr>
              <p:cNvSpPr txBox="1"/>
              <p:nvPr/>
            </p:nvSpPr>
            <p:spPr>
              <a:xfrm>
                <a:off x="838200" y="1858601"/>
                <a:ext cx="10064931" cy="4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𝑈𝑛𝑡𝑖𝑙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𝑇𝑒𝑟𝑚𝑖𝑛𝑎𝑙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𝑆𝑡𝑎𝑡𝑒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908DB-4EA4-C7C5-F318-29DF063F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8601"/>
                <a:ext cx="10064931" cy="487569"/>
              </a:xfrm>
              <a:prstGeom prst="rect">
                <a:avLst/>
              </a:prstGeom>
              <a:blipFill>
                <a:blip r:embed="rId2"/>
                <a:stretch>
                  <a:fillRect l="-182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4D28FA4F-40E5-9D02-6EDF-A1D58199ACDA}"/>
              </a:ext>
            </a:extLst>
          </p:cNvPr>
          <p:cNvSpPr/>
          <p:nvPr/>
        </p:nvSpPr>
        <p:spPr>
          <a:xfrm>
            <a:off x="6156960" y="4667396"/>
            <a:ext cx="1367246" cy="11930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 =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79540-FD6B-837B-DAA0-E8436D892959}"/>
              </a:ext>
            </a:extLst>
          </p:cNvPr>
          <p:cNvSpPr txBox="1"/>
          <p:nvPr/>
        </p:nvSpPr>
        <p:spPr>
          <a:xfrm>
            <a:off x="6609807" y="4249389"/>
            <a:ext cx="522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3CEB93-4E19-973D-4DE1-88054CF227EA}"/>
              </a:ext>
            </a:extLst>
          </p:cNvPr>
          <p:cNvGrpSpPr/>
          <p:nvPr/>
        </p:nvGrpSpPr>
        <p:grpSpPr>
          <a:xfrm>
            <a:off x="4393475" y="4249389"/>
            <a:ext cx="1367246" cy="1611081"/>
            <a:chOff x="4393475" y="3553102"/>
            <a:chExt cx="1367246" cy="161108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44100EE-426A-4B5E-60B4-E5865C3DE37A}"/>
                </a:ext>
              </a:extLst>
            </p:cNvPr>
            <p:cNvSpPr/>
            <p:nvPr/>
          </p:nvSpPr>
          <p:spPr>
            <a:xfrm>
              <a:off x="4393475" y="3971109"/>
              <a:ext cx="1367246" cy="11930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 = 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C10066-E982-ED9D-9126-B05D81CA073A}"/>
                </a:ext>
              </a:extLst>
            </p:cNvPr>
            <p:cNvSpPr txBox="1"/>
            <p:nvPr/>
          </p:nvSpPr>
          <p:spPr>
            <a:xfrm>
              <a:off x="4868093" y="3553102"/>
              <a:ext cx="522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7D4160-8822-A637-3ACB-9ABA6714373E}"/>
                  </a:ext>
                </a:extLst>
              </p:cNvPr>
              <p:cNvSpPr txBox="1"/>
              <p:nvPr/>
            </p:nvSpPr>
            <p:spPr>
              <a:xfrm>
                <a:off x="8144993" y="6072533"/>
                <a:ext cx="4983778" cy="388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sub>
                    </m:sSub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?,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?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7D4160-8822-A637-3ACB-9ABA6714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993" y="6072533"/>
                <a:ext cx="4983778" cy="388889"/>
              </a:xfrm>
              <a:prstGeom prst="rect">
                <a:avLst/>
              </a:prstGeom>
              <a:blipFill>
                <a:blip r:embed="rId3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3F6C6A-954F-9993-C82C-27D5AD41C2D8}"/>
                  </a:ext>
                </a:extLst>
              </p:cNvPr>
              <p:cNvSpPr txBox="1"/>
              <p:nvPr/>
            </p:nvSpPr>
            <p:spPr>
              <a:xfrm>
                <a:off x="7920445" y="5023452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3F6C6A-954F-9993-C82C-27D5AD41C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45" y="5023452"/>
                <a:ext cx="1297577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972DB81-2857-1882-B560-F774E6DF7F84}"/>
              </a:ext>
            </a:extLst>
          </p:cNvPr>
          <p:cNvGrpSpPr/>
          <p:nvPr/>
        </p:nvGrpSpPr>
        <p:grpSpPr>
          <a:xfrm>
            <a:off x="2759018" y="4259176"/>
            <a:ext cx="1367246" cy="1611081"/>
            <a:chOff x="4393475" y="3553102"/>
            <a:chExt cx="1367246" cy="161108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66ACEF-EE68-DE3A-18E0-A081899F404E}"/>
                </a:ext>
              </a:extLst>
            </p:cNvPr>
            <p:cNvSpPr/>
            <p:nvPr/>
          </p:nvSpPr>
          <p:spPr>
            <a:xfrm>
              <a:off x="4393475" y="3971109"/>
              <a:ext cx="1367246" cy="11930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 = 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0D5429-0EAF-FF84-B842-28246FFB13F7}"/>
                </a:ext>
              </a:extLst>
            </p:cNvPr>
            <p:cNvSpPr txBox="1"/>
            <p:nvPr/>
          </p:nvSpPr>
          <p:spPr>
            <a:xfrm>
              <a:off x="4868093" y="3553102"/>
              <a:ext cx="522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1127B0-BAD3-0B8B-9796-EB86561E1FC6}"/>
              </a:ext>
            </a:extLst>
          </p:cNvPr>
          <p:cNvGrpSpPr/>
          <p:nvPr/>
        </p:nvGrpSpPr>
        <p:grpSpPr>
          <a:xfrm>
            <a:off x="1141339" y="4268963"/>
            <a:ext cx="1367246" cy="1611081"/>
            <a:chOff x="4393475" y="3553102"/>
            <a:chExt cx="1367246" cy="161108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25208B-24BF-824E-ED4F-F79EDE3426A3}"/>
                </a:ext>
              </a:extLst>
            </p:cNvPr>
            <p:cNvSpPr/>
            <p:nvPr/>
          </p:nvSpPr>
          <p:spPr>
            <a:xfrm>
              <a:off x="4393475" y="3971109"/>
              <a:ext cx="1367246" cy="11930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 = 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DDBDF7-538A-D6A6-872A-4CEB9F4DCC95}"/>
                </a:ext>
              </a:extLst>
            </p:cNvPr>
            <p:cNvSpPr txBox="1"/>
            <p:nvPr/>
          </p:nvSpPr>
          <p:spPr>
            <a:xfrm>
              <a:off x="4868093" y="3553102"/>
              <a:ext cx="522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24017F-D7B7-3387-02B0-B9CB256497B1}"/>
              </a:ext>
            </a:extLst>
          </p:cNvPr>
          <p:cNvGrpSpPr/>
          <p:nvPr/>
        </p:nvGrpSpPr>
        <p:grpSpPr>
          <a:xfrm>
            <a:off x="4302594" y="2396818"/>
            <a:ext cx="1367246" cy="1611081"/>
            <a:chOff x="4393475" y="3553102"/>
            <a:chExt cx="1367246" cy="161108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9E94F5E-B03A-CB04-76CE-114C8F8BED87}"/>
                </a:ext>
              </a:extLst>
            </p:cNvPr>
            <p:cNvSpPr/>
            <p:nvPr/>
          </p:nvSpPr>
          <p:spPr>
            <a:xfrm>
              <a:off x="4393475" y="3971109"/>
              <a:ext cx="1367246" cy="11930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 = 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23791-9BED-2575-0B01-6E87CF9C945D}"/>
                </a:ext>
              </a:extLst>
            </p:cNvPr>
            <p:cNvSpPr txBox="1"/>
            <p:nvPr/>
          </p:nvSpPr>
          <p:spPr>
            <a:xfrm>
              <a:off x="4868093" y="3553102"/>
              <a:ext cx="522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S6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1A1222-9211-6E46-C3DF-7BB234FDBA96}"/>
              </a:ext>
            </a:extLst>
          </p:cNvPr>
          <p:cNvGrpSpPr/>
          <p:nvPr/>
        </p:nvGrpSpPr>
        <p:grpSpPr>
          <a:xfrm>
            <a:off x="2668137" y="2406605"/>
            <a:ext cx="1367246" cy="1611081"/>
            <a:chOff x="4393475" y="3553102"/>
            <a:chExt cx="1367246" cy="161108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0AFD57-3916-A3CC-95D9-8456CE191D15}"/>
                </a:ext>
              </a:extLst>
            </p:cNvPr>
            <p:cNvSpPr/>
            <p:nvPr/>
          </p:nvSpPr>
          <p:spPr>
            <a:xfrm>
              <a:off x="4393475" y="3971109"/>
              <a:ext cx="1367246" cy="11930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 = -10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69CF09-6004-A277-9E76-61904C7ED312}"/>
                </a:ext>
              </a:extLst>
            </p:cNvPr>
            <p:cNvSpPr txBox="1"/>
            <p:nvPr/>
          </p:nvSpPr>
          <p:spPr>
            <a:xfrm>
              <a:off x="4868093" y="3553102"/>
              <a:ext cx="522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S5</a:t>
              </a:r>
            </a:p>
          </p:txBody>
        </p:sp>
      </p:grpSp>
      <p:sp>
        <p:nvSpPr>
          <p:cNvPr id="33" name="Arrow: Up 32">
            <a:extLst>
              <a:ext uri="{FF2B5EF4-FFF2-40B4-BE49-F238E27FC236}">
                <a16:creationId xmlns:a16="http://schemas.microsoft.com/office/drawing/2014/main" id="{2AFC657D-8281-8AD5-304F-893ACDA04947}"/>
              </a:ext>
            </a:extLst>
          </p:cNvPr>
          <p:cNvSpPr/>
          <p:nvPr/>
        </p:nvSpPr>
        <p:spPr>
          <a:xfrm rot="2616714">
            <a:off x="2303485" y="3583237"/>
            <a:ext cx="409542" cy="16166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75559B9-3331-84EA-43D4-B3B65B5F50B8}"/>
              </a:ext>
            </a:extLst>
          </p:cNvPr>
          <p:cNvSpPr/>
          <p:nvPr/>
        </p:nvSpPr>
        <p:spPr>
          <a:xfrm>
            <a:off x="3896846" y="3261220"/>
            <a:ext cx="544285" cy="3570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F8293B97-672D-19DB-2163-032AA677C8A4}"/>
              </a:ext>
            </a:extLst>
          </p:cNvPr>
          <p:cNvSpPr/>
          <p:nvPr/>
        </p:nvSpPr>
        <p:spPr>
          <a:xfrm rot="7968617">
            <a:off x="5802758" y="3486053"/>
            <a:ext cx="409542" cy="155235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3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E248E0-55F8-4E45-A07F-B49E0EEA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92014">
            <a:off x="3109564" y="70484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25C73-39BF-16C0-5B22-0B0B9977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42" y="754840"/>
            <a:ext cx="4001034" cy="27577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Rewriting G in a recursive manner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F6B64-889F-16F8-551C-5BC35BBC80F5}"/>
                  </a:ext>
                </a:extLst>
              </p:cNvPr>
              <p:cNvSpPr txBox="1"/>
              <p:nvPr/>
            </p:nvSpPr>
            <p:spPr>
              <a:xfrm>
                <a:off x="473113" y="4945658"/>
                <a:ext cx="4001034" cy="7639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24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sz="24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sz="24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24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𝛾</m:t>
                      </m:r>
                      <m:sSub>
                        <m:sSubPr>
                          <m:ctrlP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4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ctrlP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24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sz="24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F6B64-889F-16F8-551C-5BC35BBC8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13" y="4945658"/>
                <a:ext cx="4001034" cy="7639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986E6C-BDD7-15A0-CE9C-E3FA2A7B2629}"/>
                  </a:ext>
                </a:extLst>
              </p:cNvPr>
              <p:cNvSpPr txBox="1"/>
              <p:nvPr/>
            </p:nvSpPr>
            <p:spPr>
              <a:xfrm>
                <a:off x="838200" y="3596309"/>
                <a:ext cx="10064931" cy="4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𝑈𝑛𝑡𝑖𝑙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𝑇𝑒𝑟𝑚𝑖𝑛𝑎𝑙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𝑆𝑡𝑎𝑡𝑒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986E6C-BDD7-15A0-CE9C-E3FA2A7B2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96309"/>
                <a:ext cx="10064931" cy="487569"/>
              </a:xfrm>
              <a:prstGeom prst="rect">
                <a:avLst/>
              </a:prstGeom>
              <a:blipFill>
                <a:blip r:embed="rId3"/>
                <a:stretch>
                  <a:fillRect l="-182" b="-375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207D5E-E699-B3F3-793C-424A22CD7A9E}"/>
                  </a:ext>
                </a:extLst>
              </p:cNvPr>
              <p:cNvSpPr txBox="1"/>
              <p:nvPr/>
            </p:nvSpPr>
            <p:spPr>
              <a:xfrm>
                <a:off x="807910" y="4251221"/>
                <a:ext cx="10645280" cy="493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rgbClr val="836967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/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𝑈𝑛𝑡𝑖𝑙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𝑇𝑒𝑟𝑚𝑖𝑛𝑎𝑙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207D5E-E699-B3F3-793C-424A22CD7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10" y="4251221"/>
                <a:ext cx="10645280" cy="493277"/>
              </a:xfrm>
              <a:prstGeom prst="rect">
                <a:avLst/>
              </a:prstGeom>
              <a:blipFill>
                <a:blip r:embed="rId4"/>
                <a:stretch>
                  <a:fillRect l="-172" t="-6173" b="-246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47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and white dog made out of wire&#10;&#10;AI-generated content may be incorrect.">
            <a:extLst>
              <a:ext uri="{FF2B5EF4-FFF2-40B4-BE49-F238E27FC236}">
                <a16:creationId xmlns:a16="http://schemas.microsoft.com/office/drawing/2014/main" id="{014911A0-7130-FABE-F868-AE54EA845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217" y="3661918"/>
            <a:ext cx="781003" cy="6968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8168-A0F6-BD25-DE76-1F0D3842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Welcome to GridWorld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3E80D4C-4CC3-8190-BFBC-B5C38200A603}"/>
              </a:ext>
            </a:extLst>
          </p:cNvPr>
          <p:cNvGraphicFramePr>
            <a:graphicFrameLocks noGrp="1"/>
          </p:cNvGraphicFramePr>
          <p:nvPr/>
        </p:nvGraphicFramePr>
        <p:xfrm>
          <a:off x="2709644" y="2228894"/>
          <a:ext cx="6552736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1679611149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1028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B125814-768B-8D19-EDDF-06FC8052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23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88A29D-3E6A-E022-361A-CCD1B788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65" y="3589328"/>
            <a:ext cx="663429" cy="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D979648-F0CB-F945-ABB0-1164A653B576}"/>
              </a:ext>
            </a:extLst>
          </p:cNvPr>
          <p:cNvSpPr/>
          <p:nvPr/>
        </p:nvSpPr>
        <p:spPr>
          <a:xfrm>
            <a:off x="587229" y="257542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CB00C2E-7F79-7AC6-96C4-DA8E1573A787}"/>
              </a:ext>
            </a:extLst>
          </p:cNvPr>
          <p:cNvSpPr/>
          <p:nvPr/>
        </p:nvSpPr>
        <p:spPr>
          <a:xfrm rot="16200000">
            <a:off x="572199" y="41930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DB328E-707B-A2A1-D8D7-768FCAC4789D}"/>
              </a:ext>
            </a:extLst>
          </p:cNvPr>
          <p:cNvSpPr/>
          <p:nvPr/>
        </p:nvSpPr>
        <p:spPr>
          <a:xfrm rot="5400000">
            <a:off x="572198" y="505268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AFF5D7-FD94-D5E7-FF26-FDD8C57EC63F}"/>
              </a:ext>
            </a:extLst>
          </p:cNvPr>
          <p:cNvSpPr/>
          <p:nvPr/>
        </p:nvSpPr>
        <p:spPr>
          <a:xfrm rot="10800000">
            <a:off x="587228" y="3376696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3BC0F-2E0B-7AD3-0138-92A441ADC947}"/>
              </a:ext>
            </a:extLst>
          </p:cNvPr>
          <p:cNvSpPr txBox="1"/>
          <p:nvPr/>
        </p:nvSpPr>
        <p:spPr>
          <a:xfrm>
            <a:off x="461393" y="2088232"/>
            <a:ext cx="105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9E7D-6A1F-6DF6-50D6-FFC02801B432}"/>
              </a:ext>
            </a:extLst>
          </p:cNvPr>
          <p:cNvSpPr txBox="1"/>
          <p:nvPr/>
        </p:nvSpPr>
        <p:spPr>
          <a:xfrm>
            <a:off x="8393708" y="2228893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BBF79-A6AC-C96A-794C-A9CD90DEE1A3}"/>
              </a:ext>
            </a:extLst>
          </p:cNvPr>
          <p:cNvSpPr txBox="1"/>
          <p:nvPr/>
        </p:nvSpPr>
        <p:spPr>
          <a:xfrm>
            <a:off x="8434779" y="339918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/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/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F193CEED-F1CA-2BFE-B091-981BE25DE7D2}"/>
              </a:ext>
            </a:extLst>
          </p:cNvPr>
          <p:cNvSpPr/>
          <p:nvPr/>
        </p:nvSpPr>
        <p:spPr>
          <a:xfrm>
            <a:off x="7330754" y="264877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E52A93F-70CD-1DCB-CCF0-693BF21BE711}"/>
              </a:ext>
            </a:extLst>
          </p:cNvPr>
          <p:cNvSpPr/>
          <p:nvPr/>
        </p:nvSpPr>
        <p:spPr>
          <a:xfrm>
            <a:off x="5702992" y="264877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018EA30-A2AE-3A34-82D4-64D206066AF6}"/>
              </a:ext>
            </a:extLst>
          </p:cNvPr>
          <p:cNvSpPr/>
          <p:nvPr/>
        </p:nvSpPr>
        <p:spPr>
          <a:xfrm>
            <a:off x="4068135" y="265562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2DB3583-86F1-298B-E2F9-7C38F0502D5C}"/>
              </a:ext>
            </a:extLst>
          </p:cNvPr>
          <p:cNvSpPr/>
          <p:nvPr/>
        </p:nvSpPr>
        <p:spPr>
          <a:xfrm>
            <a:off x="4068135" y="5016505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EBDA006-2188-0F73-B78E-07C3B7E1E014}"/>
              </a:ext>
            </a:extLst>
          </p:cNvPr>
          <p:cNvSpPr/>
          <p:nvPr/>
        </p:nvSpPr>
        <p:spPr>
          <a:xfrm rot="16200000">
            <a:off x="3256789" y="454816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0FB4B32-9E2C-0594-BF74-A26F5BCCCD10}"/>
              </a:ext>
            </a:extLst>
          </p:cNvPr>
          <p:cNvSpPr/>
          <p:nvPr/>
        </p:nvSpPr>
        <p:spPr>
          <a:xfrm rot="16200000">
            <a:off x="3263055" y="33664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0DCCD13-3ED9-BA93-387D-63EF7AAC2FBB}"/>
              </a:ext>
            </a:extLst>
          </p:cNvPr>
          <p:cNvSpPr/>
          <p:nvPr/>
        </p:nvSpPr>
        <p:spPr>
          <a:xfrm>
            <a:off x="5712779" y="5032653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099494-3F26-73F6-7B1F-2E5C3EFC5D66}"/>
              </a:ext>
            </a:extLst>
          </p:cNvPr>
          <p:cNvSpPr/>
          <p:nvPr/>
        </p:nvSpPr>
        <p:spPr>
          <a:xfrm rot="16200000">
            <a:off x="6471174" y="454117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D50E6E25-C43E-DE41-775D-39D8E6C65E06}"/>
              </a:ext>
            </a:extLst>
          </p:cNvPr>
          <p:cNvSpPr/>
          <p:nvPr/>
        </p:nvSpPr>
        <p:spPr>
          <a:xfrm rot="16200000">
            <a:off x="6477440" y="335940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Arrow: Right 1024">
            <a:extLst>
              <a:ext uri="{FF2B5EF4-FFF2-40B4-BE49-F238E27FC236}">
                <a16:creationId xmlns:a16="http://schemas.microsoft.com/office/drawing/2014/main" id="{08D35AA1-25BB-5F92-2581-E398C00B8B04}"/>
              </a:ext>
            </a:extLst>
          </p:cNvPr>
          <p:cNvSpPr/>
          <p:nvPr/>
        </p:nvSpPr>
        <p:spPr>
          <a:xfrm rot="10800000">
            <a:off x="7317380" y="502316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32388-1052-4389-A397-C2B0AC731E8A}"/>
              </a:ext>
            </a:extLst>
          </p:cNvPr>
          <p:cNvSpPr txBox="1"/>
          <p:nvPr/>
        </p:nvSpPr>
        <p:spPr>
          <a:xfrm>
            <a:off x="3351729" y="6182686"/>
            <a:ext cx="548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the G values according to the given policy?</a:t>
            </a:r>
          </a:p>
        </p:txBody>
      </p:sp>
    </p:spTree>
    <p:extLst>
      <p:ext uri="{BB962C8B-B14F-4D97-AF65-F5344CB8AC3E}">
        <p14:creationId xmlns:p14="http://schemas.microsoft.com/office/powerpoint/2010/main" val="232379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blue and white dog made out of wire&#10;&#10;AI-generated content may be incorrect.">
            <a:extLst>
              <a:ext uri="{FF2B5EF4-FFF2-40B4-BE49-F238E27FC236}">
                <a16:creationId xmlns:a16="http://schemas.microsoft.com/office/drawing/2014/main" id="{E2C06117-166C-131C-6676-E830C53F1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217" y="3661918"/>
            <a:ext cx="781003" cy="6968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8168-A0F6-BD25-DE76-1F0D3842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Welcome to GridWorld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3E80D4C-4CC3-8190-BFBC-B5C38200A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735120"/>
              </p:ext>
            </p:extLst>
          </p:nvPr>
        </p:nvGraphicFramePr>
        <p:xfrm>
          <a:off x="2709644" y="2228894"/>
          <a:ext cx="6552736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1679611149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1028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B125814-768B-8D19-EDDF-06FC8052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23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88A29D-3E6A-E022-361A-CCD1B788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65" y="3589328"/>
            <a:ext cx="663429" cy="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D979648-F0CB-F945-ABB0-1164A653B576}"/>
              </a:ext>
            </a:extLst>
          </p:cNvPr>
          <p:cNvSpPr/>
          <p:nvPr/>
        </p:nvSpPr>
        <p:spPr>
          <a:xfrm>
            <a:off x="587229" y="257542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CB00C2E-7F79-7AC6-96C4-DA8E1573A787}"/>
              </a:ext>
            </a:extLst>
          </p:cNvPr>
          <p:cNvSpPr/>
          <p:nvPr/>
        </p:nvSpPr>
        <p:spPr>
          <a:xfrm rot="16200000">
            <a:off x="572199" y="41930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DB328E-707B-A2A1-D8D7-768FCAC4789D}"/>
              </a:ext>
            </a:extLst>
          </p:cNvPr>
          <p:cNvSpPr/>
          <p:nvPr/>
        </p:nvSpPr>
        <p:spPr>
          <a:xfrm rot="5400000">
            <a:off x="572198" y="505268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AFF5D7-FD94-D5E7-FF26-FDD8C57EC63F}"/>
              </a:ext>
            </a:extLst>
          </p:cNvPr>
          <p:cNvSpPr/>
          <p:nvPr/>
        </p:nvSpPr>
        <p:spPr>
          <a:xfrm rot="10800000">
            <a:off x="587228" y="3376696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3BC0F-2E0B-7AD3-0138-92A441ADC947}"/>
              </a:ext>
            </a:extLst>
          </p:cNvPr>
          <p:cNvSpPr txBox="1"/>
          <p:nvPr/>
        </p:nvSpPr>
        <p:spPr>
          <a:xfrm>
            <a:off x="461393" y="2088232"/>
            <a:ext cx="105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9E7D-6A1F-6DF6-50D6-FFC02801B432}"/>
              </a:ext>
            </a:extLst>
          </p:cNvPr>
          <p:cNvSpPr txBox="1"/>
          <p:nvPr/>
        </p:nvSpPr>
        <p:spPr>
          <a:xfrm>
            <a:off x="8393708" y="2228893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BBF79-A6AC-C96A-794C-A9CD90DEE1A3}"/>
              </a:ext>
            </a:extLst>
          </p:cNvPr>
          <p:cNvSpPr txBox="1"/>
          <p:nvPr/>
        </p:nvSpPr>
        <p:spPr>
          <a:xfrm>
            <a:off x="8434779" y="339918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4A1674-782B-9ED2-71B6-1EE857E4A762}"/>
                  </a:ext>
                </a:extLst>
              </p:cNvPr>
              <p:cNvSpPr txBox="1"/>
              <p:nvPr/>
            </p:nvSpPr>
            <p:spPr>
              <a:xfrm>
                <a:off x="6380701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4A1674-782B-9ED2-71B6-1EE857E4A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701" y="3051987"/>
                <a:ext cx="147436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/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108070-D383-844F-EF69-3089CC27F0D4}"/>
                  </a:ext>
                </a:extLst>
              </p:cNvPr>
              <p:cNvSpPr txBox="1"/>
              <p:nvPr/>
            </p:nvSpPr>
            <p:spPr>
              <a:xfrm>
                <a:off x="4835029" y="3059668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0.9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108070-D383-844F-EF69-3089CC27F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029" y="3059668"/>
                <a:ext cx="1474365" cy="369332"/>
              </a:xfrm>
              <a:prstGeom prst="rect">
                <a:avLst/>
              </a:prstGeom>
              <a:blipFill>
                <a:blip r:embed="rId7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74C39E-01AB-7A34-D4B5-A80B63C29356}"/>
                  </a:ext>
                </a:extLst>
              </p:cNvPr>
              <p:cNvSpPr txBox="1"/>
              <p:nvPr/>
            </p:nvSpPr>
            <p:spPr>
              <a:xfrm>
                <a:off x="6351113" y="4268689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0.9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74C39E-01AB-7A34-D4B5-A80B63C29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13" y="4268689"/>
                <a:ext cx="1474365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3A2C-3EAA-D0DB-8CE6-53CEA94AE155}"/>
                  </a:ext>
                </a:extLst>
              </p:cNvPr>
              <p:cNvSpPr txBox="1"/>
              <p:nvPr/>
            </p:nvSpPr>
            <p:spPr>
              <a:xfrm>
                <a:off x="3106461" y="3059668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0.81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3A2C-3EAA-D0DB-8CE6-53CEA94AE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461" y="3059668"/>
                <a:ext cx="1474365" cy="369332"/>
              </a:xfrm>
              <a:prstGeom prst="rect">
                <a:avLst/>
              </a:prstGeom>
              <a:blipFill>
                <a:blip r:embed="rId9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/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6F1FB6-B80F-FD36-354A-7ACB0296C1FC}"/>
                  </a:ext>
                </a:extLst>
              </p:cNvPr>
              <p:cNvSpPr txBox="1"/>
              <p:nvPr/>
            </p:nvSpPr>
            <p:spPr>
              <a:xfrm>
                <a:off x="3056013" y="4309623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0.729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6F1FB6-B80F-FD36-354A-7ACB0296C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013" y="4309623"/>
                <a:ext cx="1474365" cy="369332"/>
              </a:xfrm>
              <a:prstGeom prst="rect">
                <a:avLst/>
              </a:prstGeom>
              <a:blipFill>
                <a:blip r:embed="rId11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72AA43-B24C-B358-8B67-ABFD1EC5941D}"/>
                  </a:ext>
                </a:extLst>
              </p:cNvPr>
              <p:cNvSpPr txBox="1"/>
              <p:nvPr/>
            </p:nvSpPr>
            <p:spPr>
              <a:xfrm>
                <a:off x="6309394" y="5335461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0.81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72AA43-B24C-B358-8B67-ABFD1EC59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94" y="5335461"/>
                <a:ext cx="1474365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A451ED-2AD7-55CD-F4A8-2D46AC964985}"/>
                  </a:ext>
                </a:extLst>
              </p:cNvPr>
              <p:cNvSpPr txBox="1"/>
              <p:nvPr/>
            </p:nvSpPr>
            <p:spPr>
              <a:xfrm>
                <a:off x="4546894" y="5335461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0.729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A451ED-2AD7-55CD-F4A8-2D46AC964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894" y="5335461"/>
                <a:ext cx="1474365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4D41E9-F88E-0892-3FE8-92A188995BCB}"/>
                  </a:ext>
                </a:extLst>
              </p:cNvPr>
              <p:cNvSpPr txBox="1"/>
              <p:nvPr/>
            </p:nvSpPr>
            <p:spPr>
              <a:xfrm>
                <a:off x="7825478" y="5335461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0.729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4D41E9-F88E-0892-3FE8-92A18899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78" y="5335461"/>
                <a:ext cx="1474365" cy="369332"/>
              </a:xfrm>
              <a:prstGeom prst="rect">
                <a:avLst/>
              </a:prstGeom>
              <a:blipFill>
                <a:blip r:embed="rId1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777259-E597-76A8-7BD0-C7BDB239A311}"/>
                  </a:ext>
                </a:extLst>
              </p:cNvPr>
              <p:cNvSpPr txBox="1"/>
              <p:nvPr/>
            </p:nvSpPr>
            <p:spPr>
              <a:xfrm>
                <a:off x="2990037" y="530594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0.6561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777259-E597-76A8-7BD0-C7BDB239A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37" y="5305947"/>
                <a:ext cx="1474365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F193CEED-F1CA-2BFE-B091-981BE25DE7D2}"/>
              </a:ext>
            </a:extLst>
          </p:cNvPr>
          <p:cNvSpPr/>
          <p:nvPr/>
        </p:nvSpPr>
        <p:spPr>
          <a:xfrm>
            <a:off x="7330754" y="264877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E52A93F-70CD-1DCB-CCF0-693BF21BE711}"/>
              </a:ext>
            </a:extLst>
          </p:cNvPr>
          <p:cNvSpPr/>
          <p:nvPr/>
        </p:nvSpPr>
        <p:spPr>
          <a:xfrm>
            <a:off x="5702992" y="264877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018EA30-A2AE-3A34-82D4-64D206066AF6}"/>
              </a:ext>
            </a:extLst>
          </p:cNvPr>
          <p:cNvSpPr/>
          <p:nvPr/>
        </p:nvSpPr>
        <p:spPr>
          <a:xfrm>
            <a:off x="4068135" y="265562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2DB3583-86F1-298B-E2F9-7C38F0502D5C}"/>
              </a:ext>
            </a:extLst>
          </p:cNvPr>
          <p:cNvSpPr/>
          <p:nvPr/>
        </p:nvSpPr>
        <p:spPr>
          <a:xfrm>
            <a:off x="4068135" y="5016505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EBDA006-2188-0F73-B78E-07C3B7E1E014}"/>
              </a:ext>
            </a:extLst>
          </p:cNvPr>
          <p:cNvSpPr/>
          <p:nvPr/>
        </p:nvSpPr>
        <p:spPr>
          <a:xfrm rot="16200000">
            <a:off x="3256789" y="454816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0FB4B32-9E2C-0594-BF74-A26F5BCCCD10}"/>
              </a:ext>
            </a:extLst>
          </p:cNvPr>
          <p:cNvSpPr/>
          <p:nvPr/>
        </p:nvSpPr>
        <p:spPr>
          <a:xfrm rot="16200000">
            <a:off x="3263055" y="33664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0DCCD13-3ED9-BA93-387D-63EF7AAC2FBB}"/>
              </a:ext>
            </a:extLst>
          </p:cNvPr>
          <p:cNvSpPr/>
          <p:nvPr/>
        </p:nvSpPr>
        <p:spPr>
          <a:xfrm>
            <a:off x="5712779" y="5032653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099494-3F26-73F6-7B1F-2E5C3EFC5D66}"/>
              </a:ext>
            </a:extLst>
          </p:cNvPr>
          <p:cNvSpPr/>
          <p:nvPr/>
        </p:nvSpPr>
        <p:spPr>
          <a:xfrm rot="16200000">
            <a:off x="6471174" y="454117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D50E6E25-C43E-DE41-775D-39D8E6C65E06}"/>
              </a:ext>
            </a:extLst>
          </p:cNvPr>
          <p:cNvSpPr/>
          <p:nvPr/>
        </p:nvSpPr>
        <p:spPr>
          <a:xfrm rot="16200000">
            <a:off x="6477440" y="335940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Arrow: Right 1024">
            <a:extLst>
              <a:ext uri="{FF2B5EF4-FFF2-40B4-BE49-F238E27FC236}">
                <a16:creationId xmlns:a16="http://schemas.microsoft.com/office/drawing/2014/main" id="{08D35AA1-25BB-5F92-2581-E398C00B8B04}"/>
              </a:ext>
            </a:extLst>
          </p:cNvPr>
          <p:cNvSpPr/>
          <p:nvPr/>
        </p:nvSpPr>
        <p:spPr>
          <a:xfrm rot="10800000">
            <a:off x="7317380" y="502316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0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dog made out of wire&#10;&#10;AI-generated content may be incorrect.">
            <a:extLst>
              <a:ext uri="{FF2B5EF4-FFF2-40B4-BE49-F238E27FC236}">
                <a16:creationId xmlns:a16="http://schemas.microsoft.com/office/drawing/2014/main" id="{9D471CA8-74EA-A7B1-E71B-C6F6CEF4F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108" y="3626239"/>
            <a:ext cx="781003" cy="6968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8168-A0F6-BD25-DE76-1F0D3842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 Optimal Policy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3E80D4C-4CC3-8190-BFBC-B5C38200A603}"/>
              </a:ext>
            </a:extLst>
          </p:cNvPr>
          <p:cNvGraphicFramePr>
            <a:graphicFrameLocks noGrp="1"/>
          </p:cNvGraphicFramePr>
          <p:nvPr/>
        </p:nvGraphicFramePr>
        <p:xfrm>
          <a:off x="2709644" y="2228894"/>
          <a:ext cx="6552736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1679611149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1028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B125814-768B-8D19-EDDF-06FC8052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23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88A29D-3E6A-E022-361A-CCD1B788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65" y="3589328"/>
            <a:ext cx="663429" cy="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D979648-F0CB-F945-ABB0-1164A653B576}"/>
              </a:ext>
            </a:extLst>
          </p:cNvPr>
          <p:cNvSpPr/>
          <p:nvPr/>
        </p:nvSpPr>
        <p:spPr>
          <a:xfrm>
            <a:off x="587229" y="257542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CB00C2E-7F79-7AC6-96C4-DA8E1573A787}"/>
              </a:ext>
            </a:extLst>
          </p:cNvPr>
          <p:cNvSpPr/>
          <p:nvPr/>
        </p:nvSpPr>
        <p:spPr>
          <a:xfrm rot="16200000">
            <a:off x="572199" y="41930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DB328E-707B-A2A1-D8D7-768FCAC4789D}"/>
              </a:ext>
            </a:extLst>
          </p:cNvPr>
          <p:cNvSpPr/>
          <p:nvPr/>
        </p:nvSpPr>
        <p:spPr>
          <a:xfrm rot="5400000">
            <a:off x="572198" y="505268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AFF5D7-FD94-D5E7-FF26-FDD8C57EC63F}"/>
              </a:ext>
            </a:extLst>
          </p:cNvPr>
          <p:cNvSpPr/>
          <p:nvPr/>
        </p:nvSpPr>
        <p:spPr>
          <a:xfrm rot="10800000">
            <a:off x="587228" y="3376696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3BC0F-2E0B-7AD3-0138-92A441ADC947}"/>
              </a:ext>
            </a:extLst>
          </p:cNvPr>
          <p:cNvSpPr txBox="1"/>
          <p:nvPr/>
        </p:nvSpPr>
        <p:spPr>
          <a:xfrm>
            <a:off x="461393" y="2088232"/>
            <a:ext cx="105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9E7D-6A1F-6DF6-50D6-FFC02801B432}"/>
              </a:ext>
            </a:extLst>
          </p:cNvPr>
          <p:cNvSpPr txBox="1"/>
          <p:nvPr/>
        </p:nvSpPr>
        <p:spPr>
          <a:xfrm>
            <a:off x="8393708" y="2228893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BBF79-A6AC-C96A-794C-A9CD90DEE1A3}"/>
              </a:ext>
            </a:extLst>
          </p:cNvPr>
          <p:cNvSpPr txBox="1"/>
          <p:nvPr/>
        </p:nvSpPr>
        <p:spPr>
          <a:xfrm>
            <a:off x="8434779" y="339918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/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74C39E-01AB-7A34-D4B5-A80B63C29356}"/>
                  </a:ext>
                </a:extLst>
              </p:cNvPr>
              <p:cNvSpPr txBox="1"/>
              <p:nvPr/>
            </p:nvSpPr>
            <p:spPr>
              <a:xfrm>
                <a:off x="6351113" y="4268689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0.9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74C39E-01AB-7A34-D4B5-A80B63C29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13" y="4268689"/>
                <a:ext cx="1474365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/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blipFill>
                <a:blip r:embed="rId7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72AA43-B24C-B358-8B67-ABFD1EC5941D}"/>
                  </a:ext>
                </a:extLst>
              </p:cNvPr>
              <p:cNvSpPr txBox="1"/>
              <p:nvPr/>
            </p:nvSpPr>
            <p:spPr>
              <a:xfrm>
                <a:off x="6309394" y="5335461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0.81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72AA43-B24C-B358-8B67-ABFD1EC59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94" y="5335461"/>
                <a:ext cx="1474365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A451ED-2AD7-55CD-F4A8-2D46AC964985}"/>
                  </a:ext>
                </a:extLst>
              </p:cNvPr>
              <p:cNvSpPr txBox="1"/>
              <p:nvPr/>
            </p:nvSpPr>
            <p:spPr>
              <a:xfrm>
                <a:off x="4546894" y="5335461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0.729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A451ED-2AD7-55CD-F4A8-2D46AC964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894" y="5335461"/>
                <a:ext cx="1474365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777259-E597-76A8-7BD0-C7BDB239A311}"/>
                  </a:ext>
                </a:extLst>
              </p:cNvPr>
              <p:cNvSpPr txBox="1"/>
              <p:nvPr/>
            </p:nvSpPr>
            <p:spPr>
              <a:xfrm>
                <a:off x="2990037" y="530594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0.6561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777259-E597-76A8-7BD0-C7BDB239A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37" y="5305947"/>
                <a:ext cx="1474365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F193CEED-F1CA-2BFE-B091-981BE25DE7D2}"/>
              </a:ext>
            </a:extLst>
          </p:cNvPr>
          <p:cNvSpPr/>
          <p:nvPr/>
        </p:nvSpPr>
        <p:spPr>
          <a:xfrm>
            <a:off x="7330754" y="264877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2DB3583-86F1-298B-E2F9-7C38F0502D5C}"/>
              </a:ext>
            </a:extLst>
          </p:cNvPr>
          <p:cNvSpPr/>
          <p:nvPr/>
        </p:nvSpPr>
        <p:spPr>
          <a:xfrm>
            <a:off x="4068135" y="5016505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0FB4B32-9E2C-0594-BF74-A26F5BCCCD10}"/>
              </a:ext>
            </a:extLst>
          </p:cNvPr>
          <p:cNvSpPr/>
          <p:nvPr/>
        </p:nvSpPr>
        <p:spPr>
          <a:xfrm rot="5400000">
            <a:off x="3303855" y="438780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0DCCD13-3ED9-BA93-387D-63EF7AAC2FBB}"/>
              </a:ext>
            </a:extLst>
          </p:cNvPr>
          <p:cNvSpPr/>
          <p:nvPr/>
        </p:nvSpPr>
        <p:spPr>
          <a:xfrm>
            <a:off x="5712779" y="5032653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099494-3F26-73F6-7B1F-2E5C3EFC5D66}"/>
              </a:ext>
            </a:extLst>
          </p:cNvPr>
          <p:cNvSpPr/>
          <p:nvPr/>
        </p:nvSpPr>
        <p:spPr>
          <a:xfrm rot="16200000">
            <a:off x="6471174" y="454117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D50E6E25-C43E-DE41-775D-39D8E6C65E06}"/>
              </a:ext>
            </a:extLst>
          </p:cNvPr>
          <p:cNvSpPr/>
          <p:nvPr/>
        </p:nvSpPr>
        <p:spPr>
          <a:xfrm rot="16200000">
            <a:off x="6477440" y="335940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4B37E-22E0-68F8-6870-EE4A3614EE45}"/>
                  </a:ext>
                </a:extLst>
              </p:cNvPr>
              <p:cNvSpPr txBox="1"/>
              <p:nvPr/>
            </p:nvSpPr>
            <p:spPr>
              <a:xfrm>
                <a:off x="6330193" y="2975046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4B37E-22E0-68F8-6870-EE4A3614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193" y="2975046"/>
                <a:ext cx="1474365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3A2C-3EAA-D0DB-8CE6-53CEA94AE155}"/>
                  </a:ext>
                </a:extLst>
              </p:cNvPr>
              <p:cNvSpPr txBox="1"/>
              <p:nvPr/>
            </p:nvSpPr>
            <p:spPr>
              <a:xfrm>
                <a:off x="3218217" y="4199208"/>
                <a:ext cx="766894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?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3A2C-3EAA-D0DB-8CE6-53CEA94AE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217" y="4199208"/>
                <a:ext cx="766894" cy="369332"/>
              </a:xfrm>
              <a:prstGeom prst="rect">
                <a:avLst/>
              </a:prstGeom>
              <a:blipFill>
                <a:blip r:embed="rId1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78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dog made out of wire&#10;&#10;AI-generated content may be incorrect.">
            <a:extLst>
              <a:ext uri="{FF2B5EF4-FFF2-40B4-BE49-F238E27FC236}">
                <a16:creationId xmlns:a16="http://schemas.microsoft.com/office/drawing/2014/main" id="{E30F8C97-D1AF-133C-71DB-E70401234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217" y="3661918"/>
            <a:ext cx="781003" cy="6968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8168-A0F6-BD25-DE76-1F0D3842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Illegal Moves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3E80D4C-4CC3-8190-BFBC-B5C38200A603}"/>
              </a:ext>
            </a:extLst>
          </p:cNvPr>
          <p:cNvGraphicFramePr>
            <a:graphicFrameLocks noGrp="1"/>
          </p:cNvGraphicFramePr>
          <p:nvPr/>
        </p:nvGraphicFramePr>
        <p:xfrm>
          <a:off x="2709644" y="2228894"/>
          <a:ext cx="6552736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1679611149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1028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B125814-768B-8D19-EDDF-06FC8052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23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88A29D-3E6A-E022-361A-CCD1B788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65" y="3589328"/>
            <a:ext cx="663429" cy="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D979648-F0CB-F945-ABB0-1164A653B576}"/>
              </a:ext>
            </a:extLst>
          </p:cNvPr>
          <p:cNvSpPr/>
          <p:nvPr/>
        </p:nvSpPr>
        <p:spPr>
          <a:xfrm>
            <a:off x="587229" y="257542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CB00C2E-7F79-7AC6-96C4-DA8E1573A787}"/>
              </a:ext>
            </a:extLst>
          </p:cNvPr>
          <p:cNvSpPr/>
          <p:nvPr/>
        </p:nvSpPr>
        <p:spPr>
          <a:xfrm rot="16200000">
            <a:off x="572199" y="419300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DB328E-707B-A2A1-D8D7-768FCAC4789D}"/>
              </a:ext>
            </a:extLst>
          </p:cNvPr>
          <p:cNvSpPr/>
          <p:nvPr/>
        </p:nvSpPr>
        <p:spPr>
          <a:xfrm rot="5400000">
            <a:off x="572198" y="505268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AFF5D7-FD94-D5E7-FF26-FDD8C57EC63F}"/>
              </a:ext>
            </a:extLst>
          </p:cNvPr>
          <p:cNvSpPr/>
          <p:nvPr/>
        </p:nvSpPr>
        <p:spPr>
          <a:xfrm rot="10800000">
            <a:off x="587228" y="3376696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3BC0F-2E0B-7AD3-0138-92A441ADC947}"/>
              </a:ext>
            </a:extLst>
          </p:cNvPr>
          <p:cNvSpPr txBox="1"/>
          <p:nvPr/>
        </p:nvSpPr>
        <p:spPr>
          <a:xfrm>
            <a:off x="461393" y="2088232"/>
            <a:ext cx="105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9E7D-6A1F-6DF6-50D6-FFC02801B432}"/>
              </a:ext>
            </a:extLst>
          </p:cNvPr>
          <p:cNvSpPr txBox="1"/>
          <p:nvPr/>
        </p:nvSpPr>
        <p:spPr>
          <a:xfrm>
            <a:off x="8393708" y="2228893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BBF79-A6AC-C96A-794C-A9CD90DEE1A3}"/>
              </a:ext>
            </a:extLst>
          </p:cNvPr>
          <p:cNvSpPr txBox="1"/>
          <p:nvPr/>
        </p:nvSpPr>
        <p:spPr>
          <a:xfrm>
            <a:off x="8434779" y="339918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/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row: Right 28">
            <a:extLst>
              <a:ext uri="{FF2B5EF4-FFF2-40B4-BE49-F238E27FC236}">
                <a16:creationId xmlns:a16="http://schemas.microsoft.com/office/drawing/2014/main" id="{D0FB4B32-9E2C-0594-BF74-A26F5BCCCD10}"/>
              </a:ext>
            </a:extLst>
          </p:cNvPr>
          <p:cNvSpPr/>
          <p:nvPr/>
        </p:nvSpPr>
        <p:spPr>
          <a:xfrm rot="5400000">
            <a:off x="3303855" y="438780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201C94F-3C43-C830-C767-987DCE11AAFF}"/>
              </a:ext>
            </a:extLst>
          </p:cNvPr>
          <p:cNvSpPr/>
          <p:nvPr/>
        </p:nvSpPr>
        <p:spPr>
          <a:xfrm rot="16200000">
            <a:off x="3303855" y="293155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02D04A-B75D-46E6-DD5D-73198176C07B}"/>
              </a:ext>
            </a:extLst>
          </p:cNvPr>
          <p:cNvSpPr/>
          <p:nvPr/>
        </p:nvSpPr>
        <p:spPr>
          <a:xfrm rot="10800000">
            <a:off x="2381774" y="3759029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9418020-0A42-5A70-5A10-55FA811E8090}"/>
              </a:ext>
            </a:extLst>
          </p:cNvPr>
          <p:cNvSpPr/>
          <p:nvPr/>
        </p:nvSpPr>
        <p:spPr>
          <a:xfrm>
            <a:off x="4088936" y="3759029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AEF88CA-118C-40CE-A352-D0CF25B2F0EB}"/>
              </a:ext>
            </a:extLst>
          </p:cNvPr>
          <p:cNvSpPr/>
          <p:nvPr/>
        </p:nvSpPr>
        <p:spPr>
          <a:xfrm>
            <a:off x="4126771" y="261858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B8BC205-75FB-1BF8-847A-06FB452CD8B3}"/>
              </a:ext>
            </a:extLst>
          </p:cNvPr>
          <p:cNvSpPr/>
          <p:nvPr/>
        </p:nvSpPr>
        <p:spPr>
          <a:xfrm rot="10800000">
            <a:off x="2364170" y="2633748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3CCDA4D-3748-D97B-C7EB-450780D54120}"/>
              </a:ext>
            </a:extLst>
          </p:cNvPr>
          <p:cNvSpPr/>
          <p:nvPr/>
        </p:nvSpPr>
        <p:spPr>
          <a:xfrm rot="16200000">
            <a:off x="3300359" y="2032712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48417E-9F63-ACF3-43F0-E9ABFC4AE39B}"/>
              </a:ext>
            </a:extLst>
          </p:cNvPr>
          <p:cNvSpPr txBox="1"/>
          <p:nvPr/>
        </p:nvSpPr>
        <p:spPr>
          <a:xfrm>
            <a:off x="2661979" y="6130795"/>
            <a:ext cx="798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illegal moves you return to the current state, but you lost 1 turn</a:t>
            </a:r>
          </a:p>
        </p:txBody>
      </p:sp>
    </p:spTree>
    <p:extLst>
      <p:ext uri="{BB962C8B-B14F-4D97-AF65-F5344CB8AC3E}">
        <p14:creationId xmlns:p14="http://schemas.microsoft.com/office/powerpoint/2010/main" val="10170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2C7B9-D3BC-69B7-B638-F6369465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https://websim.com/@snowyfield91121232/gridworld-reinforcement-learning-simulation-2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E53638-6118-61AE-8CA7-714FC0EC4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815" y="1675227"/>
            <a:ext cx="741637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7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14242</TotalTime>
  <Words>331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G &amp; V  Value functions</vt:lpstr>
      <vt:lpstr>G – Sum of future discounted returns</vt:lpstr>
      <vt:lpstr>G – Sum of future discounted returns</vt:lpstr>
      <vt:lpstr>Rewriting G in a recursive manner </vt:lpstr>
      <vt:lpstr>Welcome to GridWorld</vt:lpstr>
      <vt:lpstr>Welcome to GridWorld</vt:lpstr>
      <vt:lpstr>Non Optimal Policy</vt:lpstr>
      <vt:lpstr>Illegal Moves</vt:lpstr>
      <vt:lpstr>https://websim.com/@snowyfield91121232/gridworld-reinforcement-learning-simulation-2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 &amp; V functions</dc:title>
  <dc:creator>benny bornfeld</dc:creator>
  <cp:lastModifiedBy>benny bornfeld</cp:lastModifiedBy>
  <cp:revision>57</cp:revision>
  <dcterms:created xsi:type="dcterms:W3CDTF">2023-08-05T16:45:38Z</dcterms:created>
  <dcterms:modified xsi:type="dcterms:W3CDTF">2026-04-14T11:45:05Z</dcterms:modified>
</cp:coreProperties>
</file>