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4" r:id="rId1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D06549-B14C-432A-BD77-18FD4CCE905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2517ED-D2B5-409A-8042-3DA7339B0B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Function maps Input to Output</a:t>
          </a:r>
        </a:p>
      </dgm:t>
    </dgm:pt>
    <dgm:pt modelId="{16B1B957-8FD9-403D-82B9-0C14788E3E5F}" type="parTrans" cxnId="{D6929DCA-F359-4B66-88DB-98336C6D9599}">
      <dgm:prSet/>
      <dgm:spPr/>
      <dgm:t>
        <a:bodyPr/>
        <a:lstStyle/>
        <a:p>
          <a:endParaRPr lang="en-US"/>
        </a:p>
      </dgm:t>
    </dgm:pt>
    <dgm:pt modelId="{4C56D62D-4015-4A53-BF05-D653B6AFAC8F}" type="sibTrans" cxnId="{D6929DCA-F359-4B66-88DB-98336C6D9599}">
      <dgm:prSet/>
      <dgm:spPr/>
      <dgm:t>
        <a:bodyPr/>
        <a:lstStyle/>
        <a:p>
          <a:endParaRPr lang="en-US"/>
        </a:p>
      </dgm:t>
    </dgm:pt>
    <dgm:pt modelId="{BE539EC5-58BE-45F5-9591-424D13580D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 = f(x)</a:t>
          </a:r>
        </a:p>
      </dgm:t>
    </dgm:pt>
    <dgm:pt modelId="{699427EB-BB34-4A0F-BACA-4A11A9FCAE32}" type="parTrans" cxnId="{26129FF6-1488-4323-BE76-E9E6E331FC02}">
      <dgm:prSet/>
      <dgm:spPr/>
      <dgm:t>
        <a:bodyPr/>
        <a:lstStyle/>
        <a:p>
          <a:endParaRPr lang="en-US"/>
        </a:p>
      </dgm:t>
    </dgm:pt>
    <dgm:pt modelId="{FDC716C8-93E2-4CAF-9853-00A04F8BE8DB}" type="sibTrans" cxnId="{26129FF6-1488-4323-BE76-E9E6E331FC02}">
      <dgm:prSet/>
      <dgm:spPr/>
      <dgm:t>
        <a:bodyPr/>
        <a:lstStyle/>
        <a:p>
          <a:endParaRPr lang="en-US"/>
        </a:p>
      </dgm:t>
    </dgm:pt>
    <dgm:pt modelId="{01984928-80F8-4485-8E30-42B25A950E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Different function machines have different internal structure.</a:t>
          </a:r>
        </a:p>
      </dgm:t>
    </dgm:pt>
    <dgm:pt modelId="{F4B9B011-9EF2-45B2-9C11-47F5189D2E62}" type="parTrans" cxnId="{763F4EBC-DB77-4648-AC58-59BF9F5A76F6}">
      <dgm:prSet/>
      <dgm:spPr/>
      <dgm:t>
        <a:bodyPr/>
        <a:lstStyle/>
        <a:p>
          <a:endParaRPr lang="en-US"/>
        </a:p>
      </dgm:t>
    </dgm:pt>
    <dgm:pt modelId="{52E462C9-89E4-4C56-8FF1-356F1A70C838}" type="sibTrans" cxnId="{763F4EBC-DB77-4648-AC58-59BF9F5A76F6}">
      <dgm:prSet/>
      <dgm:spPr/>
      <dgm:t>
        <a:bodyPr/>
        <a:lstStyle/>
        <a:p>
          <a:endParaRPr lang="en-US"/>
        </a:p>
      </dgm:t>
    </dgm:pt>
    <dgm:pt modelId="{4AB4BFC1-1E8A-4021-8301-44AB6A42B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very useful machine is </a:t>
          </a:r>
          <a:r>
            <a:rPr lang="en-US" b="1"/>
            <a:t>Deep Neural Network</a:t>
          </a:r>
          <a:r>
            <a:rPr lang="en-US"/>
            <a:t>. It’s parameters are the weights on the arcs.</a:t>
          </a:r>
        </a:p>
      </dgm:t>
    </dgm:pt>
    <dgm:pt modelId="{659FAF44-B057-496C-8B1C-D8142185066F}" type="parTrans" cxnId="{0B015461-9D57-4AAD-B783-302C4E84D99A}">
      <dgm:prSet/>
      <dgm:spPr/>
      <dgm:t>
        <a:bodyPr/>
        <a:lstStyle/>
        <a:p>
          <a:endParaRPr lang="en-US"/>
        </a:p>
      </dgm:t>
    </dgm:pt>
    <dgm:pt modelId="{CB03A5FB-C85B-44B9-A83F-9C51F16016D7}" type="sibTrans" cxnId="{0B015461-9D57-4AAD-B783-302C4E84D99A}">
      <dgm:prSet/>
      <dgm:spPr/>
      <dgm:t>
        <a:bodyPr/>
        <a:lstStyle/>
        <a:p>
          <a:endParaRPr lang="en-US"/>
        </a:p>
      </dgm:t>
    </dgm:pt>
    <dgm:pt modelId="{A69C6427-3BC3-4CFB-B21C-880B0F93C0F0}" type="pres">
      <dgm:prSet presAssocID="{63D06549-B14C-432A-BD77-18FD4CCE905F}" presName="root" presStyleCnt="0">
        <dgm:presLayoutVars>
          <dgm:dir/>
          <dgm:resizeHandles val="exact"/>
        </dgm:presLayoutVars>
      </dgm:prSet>
      <dgm:spPr/>
    </dgm:pt>
    <dgm:pt modelId="{0DA2BB8B-24A0-4EDB-AEC8-3837D41E4CB6}" type="pres">
      <dgm:prSet presAssocID="{E12517ED-D2B5-409A-8042-3DA7339B0B21}" presName="compNode" presStyleCnt="0"/>
      <dgm:spPr/>
    </dgm:pt>
    <dgm:pt modelId="{E81AAE64-55F5-4663-A2C6-6F5B9984C348}" type="pres">
      <dgm:prSet presAssocID="{E12517ED-D2B5-409A-8042-3DA7339B0B21}" presName="bgRect" presStyleLbl="bgShp" presStyleIdx="0" presStyleCnt="4"/>
      <dgm:spPr/>
    </dgm:pt>
    <dgm:pt modelId="{E28A849A-F96C-4793-9D5F-B3454B495782}" type="pres">
      <dgm:prSet presAssocID="{E12517ED-D2B5-409A-8042-3DA7339B0B2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724F032-3591-4FB0-8FDC-DF03FCF3A73C}" type="pres">
      <dgm:prSet presAssocID="{E12517ED-D2B5-409A-8042-3DA7339B0B21}" presName="spaceRect" presStyleCnt="0"/>
      <dgm:spPr/>
    </dgm:pt>
    <dgm:pt modelId="{2C5A5CAC-05E2-4F78-9B22-754E0176FE4C}" type="pres">
      <dgm:prSet presAssocID="{E12517ED-D2B5-409A-8042-3DA7339B0B21}" presName="parTx" presStyleLbl="revTx" presStyleIdx="0" presStyleCnt="4">
        <dgm:presLayoutVars>
          <dgm:chMax val="0"/>
          <dgm:chPref val="0"/>
        </dgm:presLayoutVars>
      </dgm:prSet>
      <dgm:spPr/>
    </dgm:pt>
    <dgm:pt modelId="{FCA8529B-591D-402E-9889-DC7C8C9DE36D}" type="pres">
      <dgm:prSet presAssocID="{4C56D62D-4015-4A53-BF05-D653B6AFAC8F}" presName="sibTrans" presStyleCnt="0"/>
      <dgm:spPr/>
    </dgm:pt>
    <dgm:pt modelId="{DCC3B425-420C-479A-9C6E-EF23AEA10B7A}" type="pres">
      <dgm:prSet presAssocID="{BE539EC5-58BE-45F5-9591-424D13580D19}" presName="compNode" presStyleCnt="0"/>
      <dgm:spPr/>
    </dgm:pt>
    <dgm:pt modelId="{F90FF40F-A948-4A63-A9B4-2B6B7662CB5D}" type="pres">
      <dgm:prSet presAssocID="{BE539EC5-58BE-45F5-9591-424D13580D19}" presName="bgRect" presStyleLbl="bgShp" presStyleIdx="1" presStyleCnt="4"/>
      <dgm:spPr/>
    </dgm:pt>
    <dgm:pt modelId="{23EA0CDD-E305-49E3-9768-67E644F36D54}" type="pres">
      <dgm:prSet presAssocID="{BE539EC5-58BE-45F5-9591-424D13580D1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EE946825-9E78-4126-BBA5-E1542010724F}" type="pres">
      <dgm:prSet presAssocID="{BE539EC5-58BE-45F5-9591-424D13580D19}" presName="spaceRect" presStyleCnt="0"/>
      <dgm:spPr/>
    </dgm:pt>
    <dgm:pt modelId="{0402688E-02B5-4F04-A6D7-F17492BF7A90}" type="pres">
      <dgm:prSet presAssocID="{BE539EC5-58BE-45F5-9591-424D13580D19}" presName="parTx" presStyleLbl="revTx" presStyleIdx="1" presStyleCnt="4">
        <dgm:presLayoutVars>
          <dgm:chMax val="0"/>
          <dgm:chPref val="0"/>
        </dgm:presLayoutVars>
      </dgm:prSet>
      <dgm:spPr/>
    </dgm:pt>
    <dgm:pt modelId="{0C2B32EA-8C16-49CF-B07C-BC38F4C69776}" type="pres">
      <dgm:prSet presAssocID="{FDC716C8-93E2-4CAF-9853-00A04F8BE8DB}" presName="sibTrans" presStyleCnt="0"/>
      <dgm:spPr/>
    </dgm:pt>
    <dgm:pt modelId="{E551C43F-1F96-479F-8174-13582B5F4910}" type="pres">
      <dgm:prSet presAssocID="{01984928-80F8-4485-8E30-42B25A950EBC}" presName="compNode" presStyleCnt="0"/>
      <dgm:spPr/>
    </dgm:pt>
    <dgm:pt modelId="{112931AE-3072-4110-84C5-229444E98829}" type="pres">
      <dgm:prSet presAssocID="{01984928-80F8-4485-8E30-42B25A950EBC}" presName="bgRect" presStyleLbl="bgShp" presStyleIdx="2" presStyleCnt="4"/>
      <dgm:spPr/>
    </dgm:pt>
    <dgm:pt modelId="{76E28352-D6B6-4B23-BA07-204E3BCB5ABE}" type="pres">
      <dgm:prSet presAssocID="{01984928-80F8-4485-8E30-42B25A950EB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B2334A3-F832-4DEC-BA41-C1F045AAECD7}" type="pres">
      <dgm:prSet presAssocID="{01984928-80F8-4485-8E30-42B25A950EBC}" presName="spaceRect" presStyleCnt="0"/>
      <dgm:spPr/>
    </dgm:pt>
    <dgm:pt modelId="{998F3369-DC82-4D6C-A8B7-C3E35E21A80D}" type="pres">
      <dgm:prSet presAssocID="{01984928-80F8-4485-8E30-42B25A950EBC}" presName="parTx" presStyleLbl="revTx" presStyleIdx="2" presStyleCnt="4">
        <dgm:presLayoutVars>
          <dgm:chMax val="0"/>
          <dgm:chPref val="0"/>
        </dgm:presLayoutVars>
      </dgm:prSet>
      <dgm:spPr/>
    </dgm:pt>
    <dgm:pt modelId="{02162D8A-4269-4540-BED4-4E07EC06C8C4}" type="pres">
      <dgm:prSet presAssocID="{52E462C9-89E4-4C56-8FF1-356F1A70C838}" presName="sibTrans" presStyleCnt="0"/>
      <dgm:spPr/>
    </dgm:pt>
    <dgm:pt modelId="{9BCC2321-A302-46F1-8891-252DC3BB2D13}" type="pres">
      <dgm:prSet presAssocID="{4AB4BFC1-1E8A-4021-8301-44AB6A42B119}" presName="compNode" presStyleCnt="0"/>
      <dgm:spPr/>
    </dgm:pt>
    <dgm:pt modelId="{4DA313BC-BCE3-481D-BDDC-3ECA542941EF}" type="pres">
      <dgm:prSet presAssocID="{4AB4BFC1-1E8A-4021-8301-44AB6A42B119}" presName="bgRect" presStyleLbl="bgShp" presStyleIdx="3" presStyleCnt="4"/>
      <dgm:spPr/>
    </dgm:pt>
    <dgm:pt modelId="{E633ED00-9F57-45E2-A958-D8D0B8A9AFD1}" type="pres">
      <dgm:prSet presAssocID="{4AB4BFC1-1E8A-4021-8301-44AB6A42B11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BAE2107-006E-4DB1-AFC4-FF92F150700D}" type="pres">
      <dgm:prSet presAssocID="{4AB4BFC1-1E8A-4021-8301-44AB6A42B119}" presName="spaceRect" presStyleCnt="0"/>
      <dgm:spPr/>
    </dgm:pt>
    <dgm:pt modelId="{03E06C6A-A8B5-4B0F-9D33-19775A6D9F57}" type="pres">
      <dgm:prSet presAssocID="{4AB4BFC1-1E8A-4021-8301-44AB6A42B11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945CD24-B253-4747-8702-479D24F76333}" type="presOf" srcId="{BE539EC5-58BE-45F5-9591-424D13580D19}" destId="{0402688E-02B5-4F04-A6D7-F17492BF7A90}" srcOrd="0" destOrd="0" presId="urn:microsoft.com/office/officeart/2018/2/layout/IconVerticalSolidList"/>
    <dgm:cxn modelId="{0B015461-9D57-4AAD-B783-302C4E84D99A}" srcId="{63D06549-B14C-432A-BD77-18FD4CCE905F}" destId="{4AB4BFC1-1E8A-4021-8301-44AB6A42B119}" srcOrd="3" destOrd="0" parTransId="{659FAF44-B057-496C-8B1C-D8142185066F}" sibTransId="{CB03A5FB-C85B-44B9-A83F-9C51F16016D7}"/>
    <dgm:cxn modelId="{0E3D1448-8B21-4289-BA49-FA37BD99E77B}" type="presOf" srcId="{01984928-80F8-4485-8E30-42B25A950EBC}" destId="{998F3369-DC82-4D6C-A8B7-C3E35E21A80D}" srcOrd="0" destOrd="0" presId="urn:microsoft.com/office/officeart/2018/2/layout/IconVerticalSolidList"/>
    <dgm:cxn modelId="{16B8AD68-4909-4DF2-B426-B51465CCD5CF}" type="presOf" srcId="{63D06549-B14C-432A-BD77-18FD4CCE905F}" destId="{A69C6427-3BC3-4CFB-B21C-880B0F93C0F0}" srcOrd="0" destOrd="0" presId="urn:microsoft.com/office/officeart/2018/2/layout/IconVerticalSolidList"/>
    <dgm:cxn modelId="{2DA2BC49-9C92-413D-B160-0E65618478C9}" type="presOf" srcId="{E12517ED-D2B5-409A-8042-3DA7339B0B21}" destId="{2C5A5CAC-05E2-4F78-9B22-754E0176FE4C}" srcOrd="0" destOrd="0" presId="urn:microsoft.com/office/officeart/2018/2/layout/IconVerticalSolidList"/>
    <dgm:cxn modelId="{763F4EBC-DB77-4648-AC58-59BF9F5A76F6}" srcId="{63D06549-B14C-432A-BD77-18FD4CCE905F}" destId="{01984928-80F8-4485-8E30-42B25A950EBC}" srcOrd="2" destOrd="0" parTransId="{F4B9B011-9EF2-45B2-9C11-47F5189D2E62}" sibTransId="{52E462C9-89E4-4C56-8FF1-356F1A70C838}"/>
    <dgm:cxn modelId="{2C38BFC1-4B38-467D-86D9-3D7A5F75F923}" type="presOf" srcId="{4AB4BFC1-1E8A-4021-8301-44AB6A42B119}" destId="{03E06C6A-A8B5-4B0F-9D33-19775A6D9F57}" srcOrd="0" destOrd="0" presId="urn:microsoft.com/office/officeart/2018/2/layout/IconVerticalSolidList"/>
    <dgm:cxn modelId="{D6929DCA-F359-4B66-88DB-98336C6D9599}" srcId="{63D06549-B14C-432A-BD77-18FD4CCE905F}" destId="{E12517ED-D2B5-409A-8042-3DA7339B0B21}" srcOrd="0" destOrd="0" parTransId="{16B1B957-8FD9-403D-82B9-0C14788E3E5F}" sibTransId="{4C56D62D-4015-4A53-BF05-D653B6AFAC8F}"/>
    <dgm:cxn modelId="{26129FF6-1488-4323-BE76-E9E6E331FC02}" srcId="{63D06549-B14C-432A-BD77-18FD4CCE905F}" destId="{BE539EC5-58BE-45F5-9591-424D13580D19}" srcOrd="1" destOrd="0" parTransId="{699427EB-BB34-4A0F-BACA-4A11A9FCAE32}" sibTransId="{FDC716C8-93E2-4CAF-9853-00A04F8BE8DB}"/>
    <dgm:cxn modelId="{9D930BAB-C1C5-4A9B-856B-C3B9F14D7141}" type="presParOf" srcId="{A69C6427-3BC3-4CFB-B21C-880B0F93C0F0}" destId="{0DA2BB8B-24A0-4EDB-AEC8-3837D41E4CB6}" srcOrd="0" destOrd="0" presId="urn:microsoft.com/office/officeart/2018/2/layout/IconVerticalSolidList"/>
    <dgm:cxn modelId="{641C5E8A-2584-4398-B414-FD1C35EA581A}" type="presParOf" srcId="{0DA2BB8B-24A0-4EDB-AEC8-3837D41E4CB6}" destId="{E81AAE64-55F5-4663-A2C6-6F5B9984C348}" srcOrd="0" destOrd="0" presId="urn:microsoft.com/office/officeart/2018/2/layout/IconVerticalSolidList"/>
    <dgm:cxn modelId="{EF45AF58-E286-4206-A831-7CC631681B16}" type="presParOf" srcId="{0DA2BB8B-24A0-4EDB-AEC8-3837D41E4CB6}" destId="{E28A849A-F96C-4793-9D5F-B3454B495782}" srcOrd="1" destOrd="0" presId="urn:microsoft.com/office/officeart/2018/2/layout/IconVerticalSolidList"/>
    <dgm:cxn modelId="{F2F5139B-7B99-444C-9BA6-7782EA9B1F35}" type="presParOf" srcId="{0DA2BB8B-24A0-4EDB-AEC8-3837D41E4CB6}" destId="{7724F032-3591-4FB0-8FDC-DF03FCF3A73C}" srcOrd="2" destOrd="0" presId="urn:microsoft.com/office/officeart/2018/2/layout/IconVerticalSolidList"/>
    <dgm:cxn modelId="{11818462-5C09-4E53-9B51-810BBEEAB246}" type="presParOf" srcId="{0DA2BB8B-24A0-4EDB-AEC8-3837D41E4CB6}" destId="{2C5A5CAC-05E2-4F78-9B22-754E0176FE4C}" srcOrd="3" destOrd="0" presId="urn:microsoft.com/office/officeart/2018/2/layout/IconVerticalSolidList"/>
    <dgm:cxn modelId="{99803D23-2EFE-4F85-934B-845AB2300AAD}" type="presParOf" srcId="{A69C6427-3BC3-4CFB-B21C-880B0F93C0F0}" destId="{FCA8529B-591D-402E-9889-DC7C8C9DE36D}" srcOrd="1" destOrd="0" presId="urn:microsoft.com/office/officeart/2018/2/layout/IconVerticalSolidList"/>
    <dgm:cxn modelId="{3736AB5C-F77B-476F-97F9-D8ED82E0EC17}" type="presParOf" srcId="{A69C6427-3BC3-4CFB-B21C-880B0F93C0F0}" destId="{DCC3B425-420C-479A-9C6E-EF23AEA10B7A}" srcOrd="2" destOrd="0" presId="urn:microsoft.com/office/officeart/2018/2/layout/IconVerticalSolidList"/>
    <dgm:cxn modelId="{524C35D8-6CC4-4736-A5F1-2A6A49EA805F}" type="presParOf" srcId="{DCC3B425-420C-479A-9C6E-EF23AEA10B7A}" destId="{F90FF40F-A948-4A63-A9B4-2B6B7662CB5D}" srcOrd="0" destOrd="0" presId="urn:microsoft.com/office/officeart/2018/2/layout/IconVerticalSolidList"/>
    <dgm:cxn modelId="{9A078899-7026-4349-85EF-48FCBBAAEB0A}" type="presParOf" srcId="{DCC3B425-420C-479A-9C6E-EF23AEA10B7A}" destId="{23EA0CDD-E305-49E3-9768-67E644F36D54}" srcOrd="1" destOrd="0" presId="urn:microsoft.com/office/officeart/2018/2/layout/IconVerticalSolidList"/>
    <dgm:cxn modelId="{21D05084-732E-4CF0-B619-DF8B25731B86}" type="presParOf" srcId="{DCC3B425-420C-479A-9C6E-EF23AEA10B7A}" destId="{EE946825-9E78-4126-BBA5-E1542010724F}" srcOrd="2" destOrd="0" presId="urn:microsoft.com/office/officeart/2018/2/layout/IconVerticalSolidList"/>
    <dgm:cxn modelId="{938346A7-C108-4243-89FD-42E1A4609520}" type="presParOf" srcId="{DCC3B425-420C-479A-9C6E-EF23AEA10B7A}" destId="{0402688E-02B5-4F04-A6D7-F17492BF7A90}" srcOrd="3" destOrd="0" presId="urn:microsoft.com/office/officeart/2018/2/layout/IconVerticalSolidList"/>
    <dgm:cxn modelId="{0F4F1177-DBD2-4479-BC6F-7CF61D0B4452}" type="presParOf" srcId="{A69C6427-3BC3-4CFB-B21C-880B0F93C0F0}" destId="{0C2B32EA-8C16-49CF-B07C-BC38F4C69776}" srcOrd="3" destOrd="0" presId="urn:microsoft.com/office/officeart/2018/2/layout/IconVerticalSolidList"/>
    <dgm:cxn modelId="{66DF0E8F-C3DE-4361-8879-DB491E44EBC4}" type="presParOf" srcId="{A69C6427-3BC3-4CFB-B21C-880B0F93C0F0}" destId="{E551C43F-1F96-479F-8174-13582B5F4910}" srcOrd="4" destOrd="0" presId="urn:microsoft.com/office/officeart/2018/2/layout/IconVerticalSolidList"/>
    <dgm:cxn modelId="{5E840E6F-0469-44BC-982C-FF6CB4FBD9B2}" type="presParOf" srcId="{E551C43F-1F96-479F-8174-13582B5F4910}" destId="{112931AE-3072-4110-84C5-229444E98829}" srcOrd="0" destOrd="0" presId="urn:microsoft.com/office/officeart/2018/2/layout/IconVerticalSolidList"/>
    <dgm:cxn modelId="{ACBC8671-9935-4AE4-AFD0-3E82923543B1}" type="presParOf" srcId="{E551C43F-1F96-479F-8174-13582B5F4910}" destId="{76E28352-D6B6-4B23-BA07-204E3BCB5ABE}" srcOrd="1" destOrd="0" presId="urn:microsoft.com/office/officeart/2018/2/layout/IconVerticalSolidList"/>
    <dgm:cxn modelId="{ECC0AACC-297C-47E8-9CE9-AEF39E233115}" type="presParOf" srcId="{E551C43F-1F96-479F-8174-13582B5F4910}" destId="{FB2334A3-F832-4DEC-BA41-C1F045AAECD7}" srcOrd="2" destOrd="0" presId="urn:microsoft.com/office/officeart/2018/2/layout/IconVerticalSolidList"/>
    <dgm:cxn modelId="{E72439FD-EBF8-426D-9CDF-65CEB60E5C27}" type="presParOf" srcId="{E551C43F-1F96-479F-8174-13582B5F4910}" destId="{998F3369-DC82-4D6C-A8B7-C3E35E21A80D}" srcOrd="3" destOrd="0" presId="urn:microsoft.com/office/officeart/2018/2/layout/IconVerticalSolidList"/>
    <dgm:cxn modelId="{03FF13BF-9226-40B4-AEDA-4385BD9A0D50}" type="presParOf" srcId="{A69C6427-3BC3-4CFB-B21C-880B0F93C0F0}" destId="{02162D8A-4269-4540-BED4-4E07EC06C8C4}" srcOrd="5" destOrd="0" presId="urn:microsoft.com/office/officeart/2018/2/layout/IconVerticalSolidList"/>
    <dgm:cxn modelId="{53568A13-CFA9-43D8-A6D8-23BEA0E8A53E}" type="presParOf" srcId="{A69C6427-3BC3-4CFB-B21C-880B0F93C0F0}" destId="{9BCC2321-A302-46F1-8891-252DC3BB2D13}" srcOrd="6" destOrd="0" presId="urn:microsoft.com/office/officeart/2018/2/layout/IconVerticalSolidList"/>
    <dgm:cxn modelId="{D3624224-2705-433A-BDC5-1BD3DD18A462}" type="presParOf" srcId="{9BCC2321-A302-46F1-8891-252DC3BB2D13}" destId="{4DA313BC-BCE3-481D-BDDC-3ECA542941EF}" srcOrd="0" destOrd="0" presId="urn:microsoft.com/office/officeart/2018/2/layout/IconVerticalSolidList"/>
    <dgm:cxn modelId="{9D13BA7B-CBC3-40E5-AC0F-858460850EA2}" type="presParOf" srcId="{9BCC2321-A302-46F1-8891-252DC3BB2D13}" destId="{E633ED00-9F57-45E2-A958-D8D0B8A9AFD1}" srcOrd="1" destOrd="0" presId="urn:microsoft.com/office/officeart/2018/2/layout/IconVerticalSolidList"/>
    <dgm:cxn modelId="{1D664BCB-4779-416A-AC91-8511B9D23AC5}" type="presParOf" srcId="{9BCC2321-A302-46F1-8891-252DC3BB2D13}" destId="{EBAE2107-006E-4DB1-AFC4-FF92F150700D}" srcOrd="2" destOrd="0" presId="urn:microsoft.com/office/officeart/2018/2/layout/IconVerticalSolidList"/>
    <dgm:cxn modelId="{F7E401E1-1B2A-409E-847B-E6429093EF4D}" type="presParOf" srcId="{9BCC2321-A302-46F1-8891-252DC3BB2D13}" destId="{03E06C6A-A8B5-4B0F-9D33-19775A6D9F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AAE64-55F5-4663-A2C6-6F5B9984C348}">
      <dsp:nvSpPr>
        <dsp:cNvPr id="0" name=""/>
        <dsp:cNvSpPr/>
      </dsp:nvSpPr>
      <dsp:spPr>
        <a:xfrm>
          <a:off x="0" y="1805"/>
          <a:ext cx="6770451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8A849A-F96C-4793-9D5F-B3454B495782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A5CAC-05E2-4F78-9B22-754E0176FE4C}">
      <dsp:nvSpPr>
        <dsp:cNvPr id="0" name=""/>
        <dsp:cNvSpPr/>
      </dsp:nvSpPr>
      <dsp:spPr>
        <a:xfrm>
          <a:off x="1057183" y="1805"/>
          <a:ext cx="5713267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Function maps Input to Output</a:t>
          </a:r>
        </a:p>
      </dsp:txBody>
      <dsp:txXfrm>
        <a:off x="1057183" y="1805"/>
        <a:ext cx="5713267" cy="915310"/>
      </dsp:txXfrm>
    </dsp:sp>
    <dsp:sp modelId="{F90FF40F-A948-4A63-A9B4-2B6B7662CB5D}">
      <dsp:nvSpPr>
        <dsp:cNvPr id="0" name=""/>
        <dsp:cNvSpPr/>
      </dsp:nvSpPr>
      <dsp:spPr>
        <a:xfrm>
          <a:off x="0" y="1145944"/>
          <a:ext cx="6770451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A0CDD-E305-49E3-9768-67E644F36D54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2688E-02B5-4F04-A6D7-F17492BF7A90}">
      <dsp:nvSpPr>
        <dsp:cNvPr id="0" name=""/>
        <dsp:cNvSpPr/>
      </dsp:nvSpPr>
      <dsp:spPr>
        <a:xfrm>
          <a:off x="1057183" y="1145944"/>
          <a:ext cx="5713267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Output = f(x)</a:t>
          </a:r>
        </a:p>
      </dsp:txBody>
      <dsp:txXfrm>
        <a:off x="1057183" y="1145944"/>
        <a:ext cx="5713267" cy="915310"/>
      </dsp:txXfrm>
    </dsp:sp>
    <dsp:sp modelId="{112931AE-3072-4110-84C5-229444E98829}">
      <dsp:nvSpPr>
        <dsp:cNvPr id="0" name=""/>
        <dsp:cNvSpPr/>
      </dsp:nvSpPr>
      <dsp:spPr>
        <a:xfrm>
          <a:off x="0" y="2290082"/>
          <a:ext cx="6770451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E28352-D6B6-4B23-BA07-204E3BCB5ABE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F3369-DC82-4D6C-A8B7-C3E35E21A80D}">
      <dsp:nvSpPr>
        <dsp:cNvPr id="0" name=""/>
        <dsp:cNvSpPr/>
      </dsp:nvSpPr>
      <dsp:spPr>
        <a:xfrm>
          <a:off x="1057183" y="2290082"/>
          <a:ext cx="5713267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Different function machines have different internal structure.</a:t>
          </a:r>
        </a:p>
      </dsp:txBody>
      <dsp:txXfrm>
        <a:off x="1057183" y="2290082"/>
        <a:ext cx="5713267" cy="915310"/>
      </dsp:txXfrm>
    </dsp:sp>
    <dsp:sp modelId="{4DA313BC-BCE3-481D-BDDC-3ECA542941EF}">
      <dsp:nvSpPr>
        <dsp:cNvPr id="0" name=""/>
        <dsp:cNvSpPr/>
      </dsp:nvSpPr>
      <dsp:spPr>
        <a:xfrm>
          <a:off x="0" y="3434221"/>
          <a:ext cx="6770451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33ED00-9F57-45E2-A958-D8D0B8A9AFD1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E06C6A-A8B5-4B0F-9D33-19775A6D9F57}">
      <dsp:nvSpPr>
        <dsp:cNvPr id="0" name=""/>
        <dsp:cNvSpPr/>
      </dsp:nvSpPr>
      <dsp:spPr>
        <a:xfrm>
          <a:off x="1057183" y="3434221"/>
          <a:ext cx="5713267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very useful machine is </a:t>
          </a:r>
          <a:r>
            <a:rPr lang="en-US" sz="2100" b="1" kern="1200"/>
            <a:t>Deep Neural Network</a:t>
          </a:r>
          <a:r>
            <a:rPr lang="en-US" sz="2100" kern="1200"/>
            <a:t>. It’s parameters are the weights on the arcs.</a:t>
          </a:r>
        </a:p>
      </dsp:txBody>
      <dsp:txXfrm>
        <a:off x="1057183" y="3434221"/>
        <a:ext cx="5713267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07A6-5F3B-7685-0843-B7E1748F2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86931-1F4C-19B1-71B9-B6E5B9836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CFA0A-B730-15AF-4C16-C1A6F2D9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7889A-BCED-89C5-9EEF-AA0F4252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E5209-55E3-933E-EE6A-FA630A37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365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A980-2820-874A-70A9-1E7A52CA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8988-0283-48B5-6EFD-B642166A0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5616D-4726-2A80-FAB5-39E0DA615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6D04E-DCC5-7320-185A-B0C6AD9F6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3024-8612-9930-5597-8784F6B0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110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5F44-248E-2D48-F348-CC90F97E2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C2FCB-98A8-D34B-60C4-DE5C68967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F4C9-9C03-BE5C-094E-0D023A31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F352B-15E6-088F-352A-7425F0A8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AAC5E-F413-1D0E-8585-C63DEA3B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676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35054-D045-7748-A1F1-4C039155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7B012-0EB9-422F-26C8-07D71CE08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09D2A-73F0-D9F4-EA2F-17FE7D8E5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2C1BA-F91F-2BA0-A373-023E62258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E8CB9-3C01-D0D3-61CA-5895B57AB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189AE-2450-BF8E-7DB0-82D95097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5901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DB2C-DA7C-9062-F0B3-F8AD72433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2A81B-6060-8B4A-3D38-D6F2765B2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34E7A-2263-65C6-A526-7045A4BF6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E532E-3B92-0FDB-96B2-95C52C726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375739-AC90-68A5-3AE5-B368ADBBD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11D121-86A6-0C1F-9FFE-DC6EFB9E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21A48-CEC8-1042-708C-42B7CE24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CB37D-B177-2328-9E8E-93B2114E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240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FADB-1D24-EB08-B472-0C8F02A9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32E97-DF10-BD60-61AE-9D19ADC4E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9A562-A7E4-19F5-F314-84B130F3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A0146-6F17-738A-0F02-0D8677F4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887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BE77E-78FD-C6A4-7933-CB83D7C87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FCC83-C8EE-DE16-01F1-97B0FD8E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D71C7-5853-5E5B-84B9-4962F7AF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783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16A0-27E7-C7C8-15FA-DFF8E959A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00A5F-E70F-6B7E-9AF0-8B03215E3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5DEF8-2260-AD2E-96DD-CE7974592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26FEC-29FB-D830-EA5A-AD34897E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5EA69-9DBC-7180-6790-21A4B83E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230C6-5D66-BC67-F34B-0B7113FD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3501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238F-1CCB-6F07-15EA-7C85C0CF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9D7A0C-9A17-0AB2-FA11-64519BF77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ACBB0-9F1F-C448-DDEF-4DBC0A0A9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ED618-5AD6-CFE5-A7BA-EC58DB6F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89E2A-7F3F-A147-9B74-ADC45E74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D385B-564C-3F74-7D59-CBBDEE87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547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A65A-749E-8BCE-AA04-A161667F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AC641-0679-7362-375E-F55A13FC5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14961-9227-06BC-0A65-638CD18B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B1066-F4A2-DB44-6880-8BDC263A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EDAE5-0E32-C561-C9DD-E30855E3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961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39B88-AE87-E2CF-84EC-7208C9677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E1888-AED4-BB7F-2033-F4BB7A05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19014-8710-2BA9-F3F2-46570664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760F-C2C8-5ED8-0587-7877DC6E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831C8-C320-FE39-B819-17761D2E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172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3A5CB4-C484-3C65-2E22-115ACDA6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7434F-6907-E12D-729B-FC8C885F5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DF492-ACE3-FDF5-14D6-95E99DA89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75FE0-3AA8-4639-A913-A30B4F8F887F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A0A6B-6B65-E0A2-F3D5-EB5D457D1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5BCBF-9E44-86B3-6EE0-DB826A7DD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C5423-5B90-493C-AAE5-1F32D1E7037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3257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8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azyprogrammer.me/what-is-the-replay-buffer-in-dqn-deep-q-learnin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177644-446C-E729-43FD-3CCB548CA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Deep Q Networks (DQN)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B8133-05E0-FDDE-B34F-57244EE0E4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3DBDAC-5EC4-1C1F-8945-586A585BE683}"/>
              </a:ext>
            </a:extLst>
          </p:cNvPr>
          <p:cNvGrpSpPr/>
          <p:nvPr/>
        </p:nvGrpSpPr>
        <p:grpSpPr>
          <a:xfrm>
            <a:off x="6005304" y="1965247"/>
            <a:ext cx="5407002" cy="2927505"/>
            <a:chOff x="3297271" y="2362808"/>
            <a:chExt cx="6667500" cy="360997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583B9AE-E737-CCE8-B536-9C6BD2E075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7271" y="2362808"/>
              <a:ext cx="6667500" cy="3609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A blue and white dog made out of wire&#10;&#10;AI-generated content may be incorrect.">
              <a:extLst>
                <a:ext uri="{FF2B5EF4-FFF2-40B4-BE49-F238E27FC236}">
                  <a16:creationId xmlns:a16="http://schemas.microsoft.com/office/drawing/2014/main" id="{3EFF0224-4FD0-B181-9AB5-D05209FB4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6042" y="3339914"/>
              <a:ext cx="1855660" cy="16557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789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E5611-7532-10AC-5967-560F43097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Q-Learning</a:t>
            </a:r>
            <a:endParaRPr lang="en-IL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AD29C-FAE4-9D78-0F02-6855D4D1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In finite state, finite action, we use Q-Learning to learn the Q table</a:t>
            </a:r>
          </a:p>
          <a:p>
            <a:r>
              <a:rPr lang="en-US" dirty="0"/>
              <a:t>For each State we find the corresponding best action Q(</a:t>
            </a:r>
            <a:r>
              <a:rPr lang="en-US" dirty="0" err="1"/>
              <a:t>s,a</a:t>
            </a:r>
            <a:r>
              <a:rPr lang="en-US" dirty="0"/>
              <a:t>)</a:t>
            </a:r>
          </a:p>
          <a:p>
            <a:r>
              <a:rPr lang="en-US" dirty="0"/>
              <a:t>In real life we can not hold it in a table:</a:t>
            </a:r>
          </a:p>
          <a:p>
            <a:pPr lvl="1"/>
            <a:r>
              <a:rPr lang="en-US" dirty="0"/>
              <a:t>State space too big/infinite</a:t>
            </a:r>
          </a:p>
          <a:p>
            <a:pPr lvl="1"/>
            <a:r>
              <a:rPr lang="en-US" dirty="0"/>
              <a:t>Action space too big/infinite</a:t>
            </a:r>
          </a:p>
          <a:p>
            <a:pPr lvl="1"/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7511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12685-47DC-9EE9-2CD7-59F46A2A2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 Approximation</a:t>
            </a:r>
          </a:p>
        </p:txBody>
      </p:sp>
      <p:pic>
        <p:nvPicPr>
          <p:cNvPr id="4098" name="Picture 2" descr="Approximate Function With Neural Network · Jack Henschel's Blog">
            <a:extLst>
              <a:ext uri="{FF2B5EF4-FFF2-40B4-BE49-F238E27FC236}">
                <a16:creationId xmlns:a16="http://schemas.microsoft.com/office/drawing/2014/main" id="{663237FB-C140-C6DD-64E8-E32514A77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92221" y="591670"/>
            <a:ext cx="5402962" cy="274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2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284AE-5040-A7CD-BEA5-0E7AB3260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Machine</a:t>
            </a:r>
            <a:endParaRPr lang="en-IL" dirty="0"/>
          </a:p>
        </p:txBody>
      </p:sp>
      <p:graphicFrame>
        <p:nvGraphicFramePr>
          <p:cNvPr id="5144" name="Content Placeholder 2">
            <a:extLst>
              <a:ext uri="{FF2B5EF4-FFF2-40B4-BE49-F238E27FC236}">
                <a16:creationId xmlns:a16="http://schemas.microsoft.com/office/drawing/2014/main" id="{FDCB860F-B3C5-EE4B-6356-E0C965294A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677045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4" name="Picture 4" descr="Function machine parameters - Math Insight">
            <a:extLst>
              <a:ext uri="{FF2B5EF4-FFF2-40B4-BE49-F238E27FC236}">
                <a16:creationId xmlns:a16="http://schemas.microsoft.com/office/drawing/2014/main" id="{F3EDE6A3-4D6C-47D4-79E2-599C347F8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731" y="3317648"/>
            <a:ext cx="3417651" cy="299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AE464E-29CB-448F-E89C-F8A2F718C9ED}"/>
              </a:ext>
            </a:extLst>
          </p:cNvPr>
          <p:cNvSpPr txBox="1"/>
          <p:nvPr/>
        </p:nvSpPr>
        <p:spPr>
          <a:xfrm>
            <a:off x="9037516" y="3096445"/>
            <a:ext cx="96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9B389-8D57-EE81-72BE-2F202A06AB6A}"/>
              </a:ext>
            </a:extLst>
          </p:cNvPr>
          <p:cNvSpPr txBox="1"/>
          <p:nvPr/>
        </p:nvSpPr>
        <p:spPr>
          <a:xfrm>
            <a:off x="10939272" y="5829228"/>
            <a:ext cx="1183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Q(</a:t>
            </a:r>
            <a:r>
              <a:rPr lang="en-US" dirty="0" err="1"/>
              <a:t>s,a</a:t>
            </a:r>
            <a:r>
              <a:rPr lang="en-US" dirty="0"/>
              <a:t>) values</a:t>
            </a:r>
            <a:endParaRPr lang="en-IL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C71C07C-B47B-08C5-53A7-FDE34C4F8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030" y="382441"/>
            <a:ext cx="4928421" cy="26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6336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27A545-B770-3E3A-83F9-BF0172F3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What does DNN need in order to learn</a:t>
            </a:r>
            <a:endParaRPr lang="en-IL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DEBF6E-C688-90F9-3CDA-3B99CA4E3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b="1" dirty="0"/>
              <a:t>Data</a:t>
            </a:r>
            <a:r>
              <a:rPr lang="en-US" sz="2200" dirty="0"/>
              <a:t> to learn from (input + output) (e.g. image, cat/dog label)</a:t>
            </a:r>
          </a:p>
          <a:p>
            <a:endParaRPr lang="he-IL" sz="2200" dirty="0"/>
          </a:p>
          <a:p>
            <a:endParaRPr lang="he-IL" sz="2200" dirty="0"/>
          </a:p>
          <a:p>
            <a:endParaRPr lang="he-IL" sz="2200" dirty="0"/>
          </a:p>
          <a:p>
            <a:r>
              <a:rPr lang="en-US" sz="2200" b="1" dirty="0"/>
              <a:t>Loss function </a:t>
            </a:r>
            <a:r>
              <a:rPr lang="en-US" sz="2200" dirty="0"/>
              <a:t>to back-propagate the error and correct the weights</a:t>
            </a:r>
          </a:p>
          <a:p>
            <a:endParaRPr lang="en-US" sz="2200" dirty="0"/>
          </a:p>
          <a:p>
            <a:endParaRPr lang="en-IL" sz="2200" dirty="0"/>
          </a:p>
        </p:txBody>
      </p:sp>
    </p:spTree>
    <p:extLst>
      <p:ext uri="{BB962C8B-B14F-4D97-AF65-F5344CB8AC3E}">
        <p14:creationId xmlns:p14="http://schemas.microsoft.com/office/powerpoint/2010/main" val="186616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0F6AB-270E-D133-E8CB-347858FC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200"/>
              <a:t>Where are we getting the </a:t>
            </a:r>
            <a:r>
              <a:rPr lang="en-US" sz="4200" b="1"/>
              <a:t>data </a:t>
            </a:r>
            <a:r>
              <a:rPr lang="en-US" sz="4200"/>
              <a:t>from</a:t>
            </a:r>
            <a:endParaRPr lang="en-IL" sz="4200"/>
          </a:p>
        </p:txBody>
      </p:sp>
      <p:sp>
        <p:nvSpPr>
          <p:cNvPr id="615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2D374-10EB-233D-A64A-E7CC57F11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The agent plays episodes, for each state it stores the (S,A,R,S’) in a replay buffer</a:t>
            </a:r>
          </a:p>
          <a:p>
            <a:r>
              <a:rPr lang="en-US" sz="2200" dirty="0"/>
              <a:t>The replay buffer has a finite size</a:t>
            </a:r>
          </a:p>
          <a:p>
            <a:r>
              <a:rPr lang="en-US" sz="2200" dirty="0"/>
              <a:t>During training we randomly sample from the replay buffer </a:t>
            </a:r>
          </a:p>
          <a:p>
            <a:endParaRPr lang="en-IL" sz="2200" dirty="0"/>
          </a:p>
        </p:txBody>
      </p:sp>
      <p:pic>
        <p:nvPicPr>
          <p:cNvPr id="6146" name="Picture 2" descr="Techniques to Improve the Performance of a DQN Agent | by Hennie de Harder  | TDS Archive | Medium">
            <a:extLst>
              <a:ext uri="{FF2B5EF4-FFF2-40B4-BE49-F238E27FC236}">
                <a16:creationId xmlns:a16="http://schemas.microsoft.com/office/drawing/2014/main" id="{B1568DAA-0DBD-9356-A34E-BC18B6CFB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484243"/>
            <a:ext cx="5458968" cy="388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944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0ECE9-7F76-C8F5-6906-EE87D2E2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DQN Loss function</a:t>
            </a:r>
          </a:p>
        </p:txBody>
      </p:sp>
      <p:sp>
        <p:nvSpPr>
          <p:cNvPr id="717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Deep Q Network(DQN) in PyTorch. Q-learning | by Dhanoop Karunakaran | Intro  to Artificial Intelligence | Medium">
            <a:extLst>
              <a:ext uri="{FF2B5EF4-FFF2-40B4-BE49-F238E27FC236}">
                <a16:creationId xmlns:a16="http://schemas.microsoft.com/office/drawing/2014/main" id="{91801DDF-934C-DADF-1A1A-36DF488F40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6677" y="2633472"/>
            <a:ext cx="11295597" cy="35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40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1" name="Freeform: Shape 820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7" name="Freeform: Shape 820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209" name="Isosceles Triangle 820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1BC6894-E53C-B849-20D8-7019AAD84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9553" y="643467"/>
            <a:ext cx="9132894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11" name="Isosceles Triangle 821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0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079F-7384-6468-8177-383785D7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DQN Algorithm</a:t>
            </a:r>
            <a:endParaRPr lang="en-IL" dirty="0"/>
          </a:p>
        </p:txBody>
      </p:sp>
      <p:pic>
        <p:nvPicPr>
          <p:cNvPr id="9218" name="Picture 2" descr="Sampling Training">
            <a:extLst>
              <a:ext uri="{FF2B5EF4-FFF2-40B4-BE49-F238E27FC236}">
                <a16:creationId xmlns:a16="http://schemas.microsoft.com/office/drawing/2014/main" id="{E5F9B667-8FB8-4C05-9C9B-6E6654040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868" y="1747331"/>
            <a:ext cx="9085634" cy="511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53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814AB-3996-9B01-4F06-83A1054CA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Replay Buffer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E78A-EE23-779F-3F35-3352D1F19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hlinkClick r:id="rId2"/>
              </a:rPr>
              <a:t>https://lazyprogrammer.me/what-is-the-replay-buffer-in-dqn-deep-q-learning/</a:t>
            </a:r>
            <a:endParaRPr lang="en-US" dirty="0"/>
          </a:p>
          <a:p>
            <a:pPr algn="l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"/>
              </a:rPr>
              <a:t>Motivation for the Replay Buffer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Inter"/>
              </a:rPr>
              <a:t>Before DQN, reinforcement learning methods often suffered from instability and poor sample efficiency when using deep neural networks as function approximators. The primary reasons for these challenges were: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Inter"/>
              </a:rPr>
              <a:t>Sequential Correlation in Online Learning</a:t>
            </a:r>
            <a:r>
              <a:rPr lang="en-US" b="0" i="0" dirty="0">
                <a:solidFill>
                  <a:srgbClr val="333333"/>
                </a:solidFill>
                <a:effectLst/>
                <a:latin typeface="Inter"/>
              </a:rPr>
              <a:t>: In traditional online learning, experiences are highly correlated since they are generated consecutively by the agent. Training a neural network on these sequential samples can lead to inefficient learning and divergence.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Inter"/>
              </a:rPr>
              <a:t>Non-IID Data</a:t>
            </a:r>
            <a:r>
              <a:rPr lang="en-US" b="0" i="0" dirty="0">
                <a:solidFill>
                  <a:srgbClr val="333333"/>
                </a:solidFill>
                <a:effectLst/>
                <a:latin typeface="Inter"/>
              </a:rPr>
              <a:t>: Neural networks perform best when trained on independent and identically distributed (IID) data. However, in reinforcement learning, observations depend on previous actions and states, making the data highly non-IID.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Inter"/>
              </a:rPr>
              <a:t>Inefficient Data Usage</a:t>
            </a:r>
            <a:r>
              <a:rPr lang="en-US" b="0" i="0" dirty="0">
                <a:solidFill>
                  <a:srgbClr val="333333"/>
                </a:solidFill>
                <a:effectLst/>
                <a:latin typeface="Inter"/>
              </a:rPr>
              <a:t>: Without reusing past experiences, each experience is used only once, leading to inefficient learning and requiring more interactions with the environment.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Inter"/>
              </a:rPr>
              <a:t>To address these issues, </a:t>
            </a:r>
            <a:r>
              <a:rPr lang="en-US" b="1" i="0" dirty="0">
                <a:solidFill>
                  <a:srgbClr val="333333"/>
                </a:solidFill>
                <a:effectLst/>
                <a:latin typeface="Inter"/>
              </a:rPr>
              <a:t>the replay buffer was introduced</a:t>
            </a:r>
            <a:r>
              <a:rPr lang="en-US" b="0" i="0" dirty="0">
                <a:solidFill>
                  <a:srgbClr val="333333"/>
                </a:solidFill>
                <a:effectLst/>
                <a:latin typeface="Inter"/>
              </a:rPr>
              <a:t> as a mechanism to break the correlation in training data and improve learning efficiency.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93209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ECD6C-A43A-D422-5C8D-70F5FD21D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How does the Replay Buffer works</a:t>
            </a:r>
            <a:endParaRPr lang="en-IL" sz="8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55FDC-438A-C0BA-243F-2A8FB59D7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The replay buffer is a </a:t>
            </a: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finite-sized memory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 that stores past experiences, typically in the form of tuples:</a:t>
            </a:r>
          </a:p>
          <a:p>
            <a:pPr>
              <a:buNone/>
            </a:pP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t = (s, a, r, s’, d)</a:t>
            </a:r>
          </a:p>
          <a:p>
            <a:pPr>
              <a:buNone/>
            </a:pP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s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Current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a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Action taken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r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Reward received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s’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Next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d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Done flag (indicating if the episode has terminated)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300" b="0" i="0">
              <a:solidFill>
                <a:schemeClr val="tx1">
                  <a:alpha val="80000"/>
                </a:schemeClr>
              </a:solidFill>
              <a:effectLst/>
              <a:latin typeface="Inter"/>
            </a:endParaRPr>
          </a:p>
          <a:p>
            <a:pPr>
              <a:buNone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The basic workflow of the replay buffer is as follows:</a:t>
            </a:r>
          </a:p>
          <a:p>
            <a:pPr>
              <a:buFont typeface="+mj-lt"/>
              <a:buAutoNum type="arabicPeriod"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Experience Collection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As the agent interacts with the environment, experiences (s, a, r, s’, d) are stored in the replay buffer.</a:t>
            </a:r>
          </a:p>
          <a:p>
            <a:pPr>
              <a:buFont typeface="+mj-lt"/>
              <a:buAutoNum type="arabicPeriod"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Sampling for Training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Instead of using the most recent experience for updating the Q-network, a </a:t>
            </a: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mini-batch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 of experiences is sampled randomly from the buffer.</a:t>
            </a:r>
          </a:p>
          <a:p>
            <a:pPr>
              <a:buFont typeface="+mj-lt"/>
              <a:buAutoNum type="arabicPeriod"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Gradient Descent Update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The neural network is trained using the sampled batch, computing the Q-value targets and minimizing the loss function.</a:t>
            </a:r>
          </a:p>
          <a:p>
            <a:pPr>
              <a:buFont typeface="+mj-lt"/>
              <a:buAutoNum type="arabicPeriod"/>
            </a:pPr>
            <a:r>
              <a:rPr lang="en-US" sz="13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Buffer Management</a:t>
            </a:r>
            <a:r>
              <a:rPr lang="en-US" sz="13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If the buffer reaches its maximum capacity, the oldest experiences are removed to make room for new ones.</a:t>
            </a:r>
          </a:p>
          <a:p>
            <a:endParaRPr lang="en-IL" sz="13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215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7D058-F4BC-F589-3AF4-73F5EF47F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Benefits of the Replay Buffer</a:t>
            </a:r>
            <a:endParaRPr lang="en-IL" sz="8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3BAC5-575B-CCB4-DF15-5D742CEAD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7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a) Breaks Temporal Correlations</a:t>
            </a:r>
          </a:p>
          <a:p>
            <a:pPr marL="0" indent="0">
              <a:buNone/>
            </a:pPr>
            <a:r>
              <a:rPr lang="en-US" sz="17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By storing past experiences and sampling randomly, the replay buffer ensures that updates are less correlated, helping the neural network generalize better.</a:t>
            </a:r>
          </a:p>
          <a:p>
            <a:pPr>
              <a:buNone/>
            </a:pPr>
            <a:r>
              <a:rPr lang="en-US" sz="17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b) Increases Sample Efficiency</a:t>
            </a:r>
          </a:p>
          <a:p>
            <a:pPr marL="0" indent="0">
              <a:buNone/>
            </a:pPr>
            <a:r>
              <a:rPr lang="en-US" sz="17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Instead of discarding each experience after one update, the replay buffer allows experiences to be reused multiple times, reducing the number of interactions needed with the environment.</a:t>
            </a:r>
          </a:p>
          <a:p>
            <a:pPr>
              <a:buNone/>
            </a:pPr>
            <a:r>
              <a:rPr lang="en-US" sz="17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c) Reduces Variance and Stabilizes Learning</a:t>
            </a:r>
          </a:p>
          <a:p>
            <a:pPr marL="0" indent="0">
              <a:buNone/>
            </a:pPr>
            <a:r>
              <a:rPr lang="en-US" sz="17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Using a mini-batch from past experiences leads to more stable gradient updates, reducing the variance in learning and preventing drastic fluctuations in policy updates.</a:t>
            </a:r>
          </a:p>
          <a:p>
            <a:pPr>
              <a:buNone/>
            </a:pPr>
            <a:r>
              <a:rPr lang="en-US" sz="17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d) Enables Off-Policy Learning</a:t>
            </a:r>
          </a:p>
          <a:p>
            <a:pPr marL="0" indent="0">
              <a:buNone/>
            </a:pPr>
            <a:r>
              <a:rPr lang="en-US" sz="17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Since the agent learns from stored past experiences, the learning process is </a:t>
            </a:r>
            <a:r>
              <a:rPr lang="en-US" sz="17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off-policy</a:t>
            </a:r>
            <a:r>
              <a:rPr lang="en-US" sz="17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, meaning it can learn from experiences generated by different policies. This allows for greater flexibility in training.</a:t>
            </a:r>
          </a:p>
          <a:p>
            <a:endParaRPr lang="en-IL" sz="17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278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70E18-27D7-4A2D-C733-27A44D409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200" b="1" i="0">
                <a:solidFill>
                  <a:srgbClr val="FFFFFF"/>
                </a:solidFill>
                <a:effectLst/>
                <a:latin typeface="Inter"/>
              </a:rPr>
              <a:t>Challenges and Limitations</a:t>
            </a:r>
            <a:br>
              <a:rPr lang="en-US" sz="6200" b="1" i="0">
                <a:solidFill>
                  <a:srgbClr val="FFFFFF"/>
                </a:solidFill>
                <a:effectLst/>
                <a:latin typeface="Inter"/>
              </a:rPr>
            </a:br>
            <a:endParaRPr lang="en-IL" sz="62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AA52A-730F-14CB-F6F7-7A6A5D359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Memory Usage</a:t>
            </a:r>
            <a: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Large replay buffers require significant memory, especially in high-dimensional environments like image-based RL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Staleness of Data</a:t>
            </a:r>
            <a: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Older experiences may become less relevant if the environment dynamics or policy changes significantly.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Sampling Strategy</a:t>
            </a:r>
            <a: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  <a:latin typeface="Inter"/>
              </a:rPr>
              <a:t>: While uniform sampling is simple, it may not be optimal. More sophisticated sampling strategies (like PER) can introduce additional hyperparameters and computational complexity.</a:t>
            </a:r>
          </a:p>
          <a:p>
            <a:endParaRPr lang="en-IL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06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1" name="Freeform: Shape 309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93" name="Rectangle 309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3CD79-3B79-41AC-8CD0-AAEC99039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Take home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07AA-9543-4600-A497-E05E8E92B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1116408"/>
            <a:ext cx="4037839" cy="5546047"/>
          </a:xfrm>
        </p:spPr>
        <p:txBody>
          <a:bodyPr anchor="ctr">
            <a:noAutofit/>
          </a:bodyPr>
          <a:lstStyle/>
          <a:p>
            <a:r>
              <a:rPr lang="en-US" sz="1800" dirty="0">
                <a:latin typeface="NewBaskerville-Roman"/>
              </a:rPr>
              <a:t>Creating a Q-Table is not feasible in many cases, in these cases we will use function approximation</a:t>
            </a:r>
          </a:p>
          <a:p>
            <a:r>
              <a:rPr lang="en-US" sz="1800" dirty="0">
                <a:latin typeface="NewBaskerville-Roman"/>
              </a:rPr>
              <a:t>DNN are powerful function approximation</a:t>
            </a:r>
          </a:p>
          <a:p>
            <a:r>
              <a:rPr lang="en-US" sz="1800" dirty="0">
                <a:latin typeface="NewBaskerville-Roman"/>
              </a:rPr>
              <a:t>The method</a:t>
            </a:r>
          </a:p>
          <a:p>
            <a:pPr lvl="1"/>
            <a:r>
              <a:rPr lang="en-US" sz="1800" dirty="0">
                <a:latin typeface="NewBaskerville-Roman"/>
              </a:rPr>
              <a:t>We use MC methods to sample the state action space and store it in replay buffer (S,A,R,S’)</a:t>
            </a:r>
          </a:p>
          <a:p>
            <a:pPr lvl="1"/>
            <a:r>
              <a:rPr lang="en-US" sz="1800" dirty="0">
                <a:latin typeface="NewBaskerville-Roman"/>
              </a:rPr>
              <a:t>We train the network using 2 networks, policy network and target network.</a:t>
            </a:r>
          </a:p>
          <a:p>
            <a:pPr lvl="1"/>
            <a:r>
              <a:rPr lang="en-US" sz="1800" dirty="0">
                <a:latin typeface="NewBaskerville-Roman"/>
              </a:rPr>
              <a:t>We use the TD difference for the loss function</a:t>
            </a:r>
          </a:p>
          <a:p>
            <a:pPr lvl="1"/>
            <a:r>
              <a:rPr lang="en-US" sz="1800" dirty="0">
                <a:latin typeface="NewBaskerville-Roman"/>
              </a:rPr>
              <a:t>We sample the replay buffer to supply training data.</a:t>
            </a:r>
          </a:p>
          <a:p>
            <a:pPr marL="0" indent="0">
              <a:buNone/>
            </a:pPr>
            <a:endParaRPr lang="en-US" sz="1800" dirty="0">
              <a:latin typeface="NewBaskerville-Roman"/>
            </a:endParaRPr>
          </a:p>
          <a:p>
            <a:pPr marL="0" indent="0">
              <a:buNone/>
            </a:pPr>
            <a:endParaRPr lang="en-US" sz="1800" dirty="0">
              <a:latin typeface="NewBaskerville-Roman"/>
            </a:endParaRPr>
          </a:p>
          <a:p>
            <a:pPr marL="0" indent="0">
              <a:buNone/>
            </a:pPr>
            <a:endParaRPr lang="en-US" sz="1800" dirty="0">
              <a:latin typeface="NewBaskerville-Roman"/>
            </a:endParaRP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 </a:t>
            </a:r>
          </a:p>
        </p:txBody>
      </p:sp>
      <p:pic>
        <p:nvPicPr>
          <p:cNvPr id="3078" name="Picture 6" descr="Take Home Message for Women">
            <a:extLst>
              <a:ext uri="{FF2B5EF4-FFF2-40B4-BE49-F238E27FC236}">
                <a16:creationId xmlns:a16="http://schemas.microsoft.com/office/drawing/2014/main" id="{4CC3BE3B-28B7-4776-923E-64749F822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9502" y="1773736"/>
            <a:ext cx="3615776" cy="332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10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10568</TotalTime>
  <Words>865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Inter</vt:lpstr>
      <vt:lpstr>NewBaskerville-Roman</vt:lpstr>
      <vt:lpstr>Office Theme</vt:lpstr>
      <vt:lpstr>Deep Q Networks (DQN)</vt:lpstr>
      <vt:lpstr>Q-Learning</vt:lpstr>
      <vt:lpstr>Function Approximation</vt:lpstr>
      <vt:lpstr>Function Machine</vt:lpstr>
      <vt:lpstr>What does DNN need in order to learn</vt:lpstr>
      <vt:lpstr>Where are we getting the data from</vt:lpstr>
      <vt:lpstr>DQN Loss function</vt:lpstr>
      <vt:lpstr>PowerPoint Presentation</vt:lpstr>
      <vt:lpstr>DQN Algorithm</vt:lpstr>
      <vt:lpstr>The Replay Buffer</vt:lpstr>
      <vt:lpstr>How does the Replay Buffer works</vt:lpstr>
      <vt:lpstr>Benefits of the Replay Buffer</vt:lpstr>
      <vt:lpstr>Challenges and Limitations 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bornfeld</dc:creator>
  <cp:lastModifiedBy>benny bornfeld</cp:lastModifiedBy>
  <cp:revision>10</cp:revision>
  <dcterms:created xsi:type="dcterms:W3CDTF">2025-05-19T05:53:26Z</dcterms:created>
  <dcterms:modified xsi:type="dcterms:W3CDTF">2026-06-13T11:52:53Z</dcterms:modified>
</cp:coreProperties>
</file>