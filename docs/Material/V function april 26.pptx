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8" r:id="rId4"/>
    <p:sldId id="263" r:id="rId5"/>
    <p:sldId id="264" r:id="rId6"/>
    <p:sldId id="265" r:id="rId7"/>
    <p:sldId id="266" r:id="rId8"/>
    <p:sldId id="267" r:id="rId9"/>
    <p:sldId id="276" r:id="rId10"/>
    <p:sldId id="268" r:id="rId11"/>
    <p:sldId id="309" r:id="rId12"/>
    <p:sldId id="269" r:id="rId13"/>
    <p:sldId id="270" r:id="rId14"/>
    <p:sldId id="271" r:id="rId15"/>
    <p:sldId id="272" r:id="rId16"/>
    <p:sldId id="310" r:id="rId17"/>
    <p:sldId id="273" r:id="rId18"/>
    <p:sldId id="274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7D34-E5F8-B31D-E702-2A31EB708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E4FC4-3319-22A2-5CAC-D20029711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9692C-2282-2220-D92C-F0C768D2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2FDF2-CA9F-9838-A7E3-520500BF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81CE-8B22-E2CB-989D-07D2445C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5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8D96-3A79-98B8-CDE0-77808BBD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AB7E1-9846-2B5E-CB09-80223ACA7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5B05-002D-AE87-B55B-A8630AE1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00BD0-112C-2E55-A70B-C7DFB02F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AE56A-7AB1-C621-FA0E-CE26C194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4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2BDD-EA23-F42C-24CC-35EEA8EE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456C7-A8F5-FB57-72E7-ABEF7532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7B12-C3D4-305F-23EC-D7BC4092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5374-3700-BFB4-7486-D772F0AB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089D0-BFF6-F18F-6B12-BDA63764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0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F9F4-F51E-9198-6A67-AA051E39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DA10-CFCE-1D38-422A-2ACCC206F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058E2-03CB-4477-C233-8BCE32995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BC82-003B-F7E6-FC05-4E7D3692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65C7D-D81B-E678-EF22-BA648DE0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56C20-47CA-7F50-1833-DE0E394F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0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F722-B232-5A8D-E8B1-7BC55CE7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C697-B46A-3C2C-5390-0C3F0475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3B034-4BC0-630D-8221-A7C4FED90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482AE-9AFC-9ADC-5B38-ABC9680F5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42D1A-BF9D-1A5F-0132-7C1BA84D9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B7618-3AC6-9898-B03C-A4A06250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A4D39-7BDA-4607-9900-9AA40B45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23AEF-34A1-A27E-4F06-B7F39996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6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57EC-58E4-3D48-8520-691F28DB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AEC1A-BA69-8443-8BB8-47372B75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1E6E5-1448-D6F1-C8FA-55FF0BDF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9072D-6C17-6EA3-1867-A4D5C445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4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66F1B-E9E6-E0F3-CCB4-ADECCFD5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E8922-1D07-365F-8C4A-E6398BC1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0E41B-B7C2-15D7-A677-4775F44B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557A-4CCA-457C-ACCE-0A810663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95FF-F089-463C-391E-85B96890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004AF-3069-E734-FD9E-11A555925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FF98-BBBA-D059-8531-41E6892E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2541C-2D35-C742-F570-46BF76DD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0E71C-209B-4A25-870F-086E4A77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7E2D-188F-0F1A-303F-8B806E4B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E00E-5A87-9DCB-DAFF-EB7535A3A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76E33-B7EB-6D55-D4DD-13F8FF9F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F0595-BDF1-93AE-0447-F653E6E9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DBD5A-DF5B-6A76-857B-3ED5ACC8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EA691-643C-6B51-A9FD-6A9EFD8C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8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75E8-7BCB-1452-17B7-3F8F405C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B5669-9C51-FCA7-93C8-4B499B750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C87D3-218E-7428-AD4C-B6C9ED43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6C76-077E-F6FF-D3F5-798EEA69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F3DD-B8D9-7661-6E11-4BF6FB2C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5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72BC9-07A1-00B2-E605-74B68CC3A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F22C1-E5E6-7B52-D8F7-CC87F12A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AC020-8FED-8ED8-D1B7-0393CCC3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EF93-5746-208C-546B-F06BD716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02A0-F2E9-0920-C936-228FF23B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9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F3CBD-62C0-D306-D6B2-81E9D9A8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9B96A-8DB7-547B-9FD5-6F3AB34ED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FA3A-4859-F6DD-27FF-55C844EA9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E7F84-32EB-4601-AA62-8BC95D9AAA3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573B-ED19-B513-2872-CE3ADD38C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2D7B-81CB-3FAD-E648-9BFC6D365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8840-7311-4BE5-9883-E41D5E18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3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vimeo.com/4110327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12" Type="http://schemas.openxmlformats.org/officeDocument/2006/relationships/image" Target="../media/image31.png"/><Relationship Id="rId17" Type="http://schemas.openxmlformats.org/officeDocument/2006/relationships/image" Target="../media/image390.png"/><Relationship Id="rId2" Type="http://schemas.openxmlformats.org/officeDocument/2006/relationships/image" Target="../media/image11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00.png"/><Relationship Id="rId5" Type="http://schemas.openxmlformats.org/officeDocument/2006/relationships/image" Target="../media/image370.png"/><Relationship Id="rId15" Type="http://schemas.openxmlformats.org/officeDocument/2006/relationships/image" Target="../media/image350.png"/><Relationship Id="rId10" Type="http://schemas.openxmlformats.org/officeDocument/2006/relationships/image" Target="../media/image14.png"/><Relationship Id="rId4" Type="http://schemas.openxmlformats.org/officeDocument/2006/relationships/image" Target="../media/image13.jpeg"/><Relationship Id="rId9" Type="http://schemas.openxmlformats.org/officeDocument/2006/relationships/image" Target="../media/image40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ebsim.ai/@snowyfield91121232/gridworld-rl-simulation/2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ktok.com/@colakelev/video/7044916370886249729?lang=he-IL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EB484-C4FD-C706-1BCC-BD7CF70C9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V</a:t>
            </a:r>
            <a:r>
              <a:rPr lang="he-IL" sz="5400"/>
              <a:t>  - </a:t>
            </a:r>
            <a:r>
              <a:rPr lang="en-US" sz="5400"/>
              <a:t>Value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452CF-5DDC-4BC6-07E4-810E9576A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Benny Bornfeld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dog with a question mark above its head&#10;&#10;AI-generated content may be incorrect.">
            <a:extLst>
              <a:ext uri="{FF2B5EF4-FFF2-40B4-BE49-F238E27FC236}">
                <a16:creationId xmlns:a16="http://schemas.microsoft.com/office/drawing/2014/main" id="{0BAF5D8D-A9E8-908D-456E-BDB5FEAB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3654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ED57D-485A-28D5-0939-7B9F0E4A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Welcome to the probabilistic world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Cartoon of a person looking at a sign on a wall&#10;&#10;AI-generated content may be incorrect.">
            <a:extLst>
              <a:ext uri="{FF2B5EF4-FFF2-40B4-BE49-F238E27FC236}">
                <a16:creationId xmlns:a16="http://schemas.microsoft.com/office/drawing/2014/main" id="{4F9601EF-616F-2DCB-B20A-3D09FD951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9" b="482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399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2ACDD6-25F9-1F48-CFBA-65A4E995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83" y="1142333"/>
            <a:ext cx="1200270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Value function =  G function + probability</a:t>
            </a:r>
          </a:p>
        </p:txBody>
      </p:sp>
    </p:spTree>
    <p:extLst>
      <p:ext uri="{BB962C8B-B14F-4D97-AF65-F5344CB8AC3E}">
        <p14:creationId xmlns:p14="http://schemas.microsoft.com/office/powerpoint/2010/main" val="294743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D7A7B-06FC-5552-1A2A-39EC1A19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000"/>
              <a:t>Sometime you eat the bear, sometime the bear eats you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9615-64B7-5510-562B-E0211337D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811855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hlinkClick r:id="rId2"/>
              </a:rPr>
              <a:t>https://vimeo.com/41103273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7BE44-113F-8536-879A-B42EA40C9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70" t="15780" r="23693" b="33945"/>
          <a:stretch/>
        </p:blipFill>
        <p:spPr>
          <a:xfrm>
            <a:off x="4654296" y="1574459"/>
            <a:ext cx="6903720" cy="37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6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C29C59CE-9D5A-4E64-9F64-161998AB2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A14FA-6CBB-160D-4C01-064C6E34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809" y="365125"/>
            <a:ext cx="4851990" cy="2068086"/>
          </a:xfrm>
        </p:spPr>
        <p:txBody>
          <a:bodyPr anchor="b">
            <a:normAutofit/>
          </a:bodyPr>
          <a:lstStyle/>
          <a:p>
            <a:r>
              <a:rPr lang="en-US" sz="3800"/>
              <a:t>What is the next state (the position of the car in the near future)</a:t>
            </a:r>
          </a:p>
        </p:txBody>
      </p:sp>
      <p:pic>
        <p:nvPicPr>
          <p:cNvPr id="2052" name="Picture 4" descr="What is Mercedes-Benz Drive Pilot?">
            <a:extLst>
              <a:ext uri="{FF2B5EF4-FFF2-40B4-BE49-F238E27FC236}">
                <a16:creationId xmlns:a16="http://schemas.microsoft.com/office/drawing/2014/main" id="{2C099D2F-D772-E149-73C6-343BAF63D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r="8502" b="6"/>
          <a:stretch/>
        </p:blipFill>
        <p:spPr bwMode="auto">
          <a:xfrm>
            <a:off x="2" y="2"/>
            <a:ext cx="2873113" cy="2520153"/>
          </a:xfrm>
          <a:custGeom>
            <a:avLst/>
            <a:gdLst/>
            <a:ahLst/>
            <a:cxnLst/>
            <a:rect l="l" t="t" r="r" b="b"/>
            <a:pathLst>
              <a:path w="2873113" h="2520153">
                <a:moveTo>
                  <a:pt x="0" y="0"/>
                </a:moveTo>
                <a:lnTo>
                  <a:pt x="2863050" y="0"/>
                </a:lnTo>
                <a:lnTo>
                  <a:pt x="2860357" y="23417"/>
                </a:lnTo>
                <a:cubicBezTo>
                  <a:pt x="2854714" y="58297"/>
                  <a:pt x="2848787" y="93209"/>
                  <a:pt x="2846577" y="128562"/>
                </a:cubicBezTo>
                <a:cubicBezTo>
                  <a:pt x="2835325" y="313204"/>
                  <a:pt x="2844701" y="497594"/>
                  <a:pt x="2857292" y="681606"/>
                </a:cubicBezTo>
                <a:cubicBezTo>
                  <a:pt x="2874974" y="930009"/>
                  <a:pt x="2873501" y="1179283"/>
                  <a:pt x="2852872" y="1427485"/>
                </a:cubicBezTo>
                <a:cubicBezTo>
                  <a:pt x="2831655" y="1647555"/>
                  <a:pt x="2835660" y="1869138"/>
                  <a:pt x="2864794" y="2088415"/>
                </a:cubicBezTo>
                <a:cubicBezTo>
                  <a:pt x="2882609" y="2212685"/>
                  <a:pt x="2866535" y="2338091"/>
                  <a:pt x="2864794" y="2462992"/>
                </a:cubicBezTo>
                <a:lnTo>
                  <a:pt x="2863832" y="2503401"/>
                </a:lnTo>
                <a:lnTo>
                  <a:pt x="2759379" y="2506812"/>
                </a:lnTo>
                <a:cubicBezTo>
                  <a:pt x="2718815" y="2505399"/>
                  <a:pt x="2678327" y="2501250"/>
                  <a:pt x="2638141" y="2494371"/>
                </a:cubicBezTo>
                <a:cubicBezTo>
                  <a:pt x="2542898" y="2477013"/>
                  <a:pt x="2447655" y="2484775"/>
                  <a:pt x="2352412" y="2491125"/>
                </a:cubicBezTo>
                <a:cubicBezTo>
                  <a:pt x="2090938" y="2508483"/>
                  <a:pt x="1829464" y="2529652"/>
                  <a:pt x="1567101" y="2515539"/>
                </a:cubicBezTo>
                <a:cubicBezTo>
                  <a:pt x="1511098" y="2512576"/>
                  <a:pt x="1456492" y="2499593"/>
                  <a:pt x="1400871" y="2494229"/>
                </a:cubicBezTo>
                <a:cubicBezTo>
                  <a:pt x="1239211" y="2478564"/>
                  <a:pt x="1078187" y="2496912"/>
                  <a:pt x="916909" y="2504391"/>
                </a:cubicBezTo>
                <a:cubicBezTo>
                  <a:pt x="738423" y="2515144"/>
                  <a:pt x="559493" y="2512971"/>
                  <a:pt x="381262" y="2497899"/>
                </a:cubicBezTo>
                <a:cubicBezTo>
                  <a:pt x="284495" y="2488444"/>
                  <a:pt x="187601" y="2485233"/>
                  <a:pt x="90675" y="2486397"/>
                </a:cubicBezTo>
                <a:lnTo>
                  <a:pt x="0" y="249099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3 Car Driving Tips for Beginners to Make Driving Easier » Trending Us">
            <a:extLst>
              <a:ext uri="{FF2B5EF4-FFF2-40B4-BE49-F238E27FC236}">
                <a16:creationId xmlns:a16="http://schemas.microsoft.com/office/drawing/2014/main" id="{3068AD7A-D7C0-16A1-3FB9-CF519984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r="22738" b="5"/>
          <a:stretch/>
        </p:blipFill>
        <p:spPr bwMode="auto">
          <a:xfrm>
            <a:off x="3060436" y="10"/>
            <a:ext cx="2843573" cy="2524624"/>
          </a:xfrm>
          <a:custGeom>
            <a:avLst/>
            <a:gdLst/>
            <a:ahLst/>
            <a:cxnLst/>
            <a:rect l="l" t="t" r="r" b="b"/>
            <a:pathLst>
              <a:path w="2843573" h="2524634">
                <a:moveTo>
                  <a:pt x="26682" y="0"/>
                </a:moveTo>
                <a:lnTo>
                  <a:pt x="2822452" y="0"/>
                </a:lnTo>
                <a:lnTo>
                  <a:pt x="2820993" y="10824"/>
                </a:lnTo>
                <a:cubicBezTo>
                  <a:pt x="2808235" y="122326"/>
                  <a:pt x="2818697" y="233190"/>
                  <a:pt x="2829285" y="343799"/>
                </a:cubicBezTo>
                <a:cubicBezTo>
                  <a:pt x="2840997" y="479092"/>
                  <a:pt x="2837348" y="615270"/>
                  <a:pt x="2818441" y="749749"/>
                </a:cubicBezTo>
                <a:cubicBezTo>
                  <a:pt x="2807788" y="840800"/>
                  <a:pt x="2808044" y="932796"/>
                  <a:pt x="2819207" y="1023783"/>
                </a:cubicBezTo>
                <a:cubicBezTo>
                  <a:pt x="2837578" y="1193205"/>
                  <a:pt x="2863349" y="1363775"/>
                  <a:pt x="2819207" y="1534090"/>
                </a:cubicBezTo>
                <a:cubicBezTo>
                  <a:pt x="2800453" y="1606554"/>
                  <a:pt x="2806449" y="1682589"/>
                  <a:pt x="2816911" y="1756456"/>
                </a:cubicBezTo>
                <a:cubicBezTo>
                  <a:pt x="2833853" y="1883025"/>
                  <a:pt x="2834796" y="2011227"/>
                  <a:pt x="2819717" y="2138038"/>
                </a:cubicBezTo>
                <a:cubicBezTo>
                  <a:pt x="2811335" y="2205118"/>
                  <a:pt x="2811679" y="2273002"/>
                  <a:pt x="2820738" y="2339992"/>
                </a:cubicBezTo>
                <a:cubicBezTo>
                  <a:pt x="2827117" y="2381582"/>
                  <a:pt x="2826415" y="2423364"/>
                  <a:pt x="2825315" y="2465177"/>
                </a:cubicBezTo>
                <a:lnTo>
                  <a:pt x="2825058" y="2479654"/>
                </a:lnTo>
                <a:lnTo>
                  <a:pt x="2679762" y="2483128"/>
                </a:lnTo>
                <a:cubicBezTo>
                  <a:pt x="2618897" y="2485860"/>
                  <a:pt x="2558084" y="2490067"/>
                  <a:pt x="2497351" y="2496347"/>
                </a:cubicBezTo>
                <a:cubicBezTo>
                  <a:pt x="2332771" y="2513422"/>
                  <a:pt x="2168953" y="2506649"/>
                  <a:pt x="2004501" y="2503544"/>
                </a:cubicBezTo>
                <a:cubicBezTo>
                  <a:pt x="1819728" y="2500017"/>
                  <a:pt x="1634831" y="2501710"/>
                  <a:pt x="1450058" y="2501710"/>
                </a:cubicBezTo>
                <a:cubicBezTo>
                  <a:pt x="1369673" y="2501992"/>
                  <a:pt x="1289796" y="2497193"/>
                  <a:pt x="1209792" y="2489009"/>
                </a:cubicBezTo>
                <a:cubicBezTo>
                  <a:pt x="1093723" y="2477295"/>
                  <a:pt x="978288" y="2491407"/>
                  <a:pt x="863997" y="2510177"/>
                </a:cubicBezTo>
                <a:cubicBezTo>
                  <a:pt x="784361" y="2521298"/>
                  <a:pt x="704102" y="2526010"/>
                  <a:pt x="623857" y="2524289"/>
                </a:cubicBezTo>
                <a:cubicBezTo>
                  <a:pt x="427783" y="2524430"/>
                  <a:pt x="232091" y="2514693"/>
                  <a:pt x="36524" y="2497052"/>
                </a:cubicBezTo>
                <a:lnTo>
                  <a:pt x="13350" y="2496674"/>
                </a:lnTo>
                <a:lnTo>
                  <a:pt x="17533" y="2292198"/>
                </a:lnTo>
                <a:cubicBezTo>
                  <a:pt x="19808" y="2209062"/>
                  <a:pt x="21290" y="2125926"/>
                  <a:pt x="17874" y="2042789"/>
                </a:cubicBezTo>
                <a:cubicBezTo>
                  <a:pt x="8899" y="1823109"/>
                  <a:pt x="-1415" y="1603430"/>
                  <a:pt x="13052" y="1383876"/>
                </a:cubicBezTo>
                <a:cubicBezTo>
                  <a:pt x="22963" y="1233390"/>
                  <a:pt x="35957" y="1082147"/>
                  <a:pt x="31938" y="930905"/>
                </a:cubicBezTo>
                <a:cubicBezTo>
                  <a:pt x="27652" y="775629"/>
                  <a:pt x="13587" y="620983"/>
                  <a:pt x="3274" y="466086"/>
                </a:cubicBezTo>
                <a:cubicBezTo>
                  <a:pt x="-4187" y="352451"/>
                  <a:pt x="1117" y="238378"/>
                  <a:pt x="19079" y="125790"/>
                </a:cubicBezTo>
                <a:cubicBezTo>
                  <a:pt x="25442" y="85647"/>
                  <a:pt x="27250" y="45378"/>
                  <a:pt x="26899" y="509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sketch line">
            <a:extLst>
              <a:ext uri="{FF2B5EF4-FFF2-40B4-BE49-F238E27FC236}">
                <a16:creationId xmlns:a16="http://schemas.microsoft.com/office/drawing/2014/main" id="{2EA3E16E-E32B-4992-ADBC-EA9C33A6F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9" y="2579272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VERIFY: Are roads really more slippery directly after it rains? | king5.com">
            <a:extLst>
              <a:ext uri="{FF2B5EF4-FFF2-40B4-BE49-F238E27FC236}">
                <a16:creationId xmlns:a16="http://schemas.microsoft.com/office/drawing/2014/main" id="{DABF32E7-B099-0A17-F63C-800146553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45" b="2"/>
          <a:stretch/>
        </p:blipFill>
        <p:spPr bwMode="auto">
          <a:xfrm>
            <a:off x="1" y="2716074"/>
            <a:ext cx="5909625" cy="4141924"/>
          </a:xfrm>
          <a:custGeom>
            <a:avLst/>
            <a:gdLst/>
            <a:ahLst/>
            <a:cxnLst/>
            <a:rect l="l" t="t" r="r" b="b"/>
            <a:pathLst>
              <a:path w="5909625" h="4141924">
                <a:moveTo>
                  <a:pt x="1823444" y="1329"/>
                </a:moveTo>
                <a:cubicBezTo>
                  <a:pt x="1893960" y="3895"/>
                  <a:pt x="1964367" y="10183"/>
                  <a:pt x="2034428" y="20181"/>
                </a:cubicBezTo>
                <a:cubicBezTo>
                  <a:pt x="2139449" y="36834"/>
                  <a:pt x="2245360" y="26532"/>
                  <a:pt x="2350889" y="19476"/>
                </a:cubicBezTo>
                <a:cubicBezTo>
                  <a:pt x="2478642" y="10867"/>
                  <a:pt x="2606268" y="6210"/>
                  <a:pt x="2734275" y="20323"/>
                </a:cubicBezTo>
                <a:cubicBezTo>
                  <a:pt x="2825326" y="30483"/>
                  <a:pt x="2916886" y="21029"/>
                  <a:pt x="3008193" y="15383"/>
                </a:cubicBezTo>
                <a:cubicBezTo>
                  <a:pt x="3103486" y="8045"/>
                  <a:pt x="3199137" y="8045"/>
                  <a:pt x="3294430" y="15383"/>
                </a:cubicBezTo>
                <a:cubicBezTo>
                  <a:pt x="3381546" y="22750"/>
                  <a:pt x="3469080" y="21000"/>
                  <a:pt x="3555904" y="10161"/>
                </a:cubicBezTo>
                <a:cubicBezTo>
                  <a:pt x="3657497" y="-1693"/>
                  <a:pt x="3759089" y="7480"/>
                  <a:pt x="3860682" y="16089"/>
                </a:cubicBezTo>
                <a:cubicBezTo>
                  <a:pt x="4039485" y="31472"/>
                  <a:pt x="4218161" y="24557"/>
                  <a:pt x="4396583" y="13266"/>
                </a:cubicBezTo>
                <a:cubicBezTo>
                  <a:pt x="4519422" y="6041"/>
                  <a:pt x="4642589" y="10007"/>
                  <a:pt x="4764856" y="25121"/>
                </a:cubicBezTo>
                <a:cubicBezTo>
                  <a:pt x="4813493" y="30483"/>
                  <a:pt x="4862258" y="29496"/>
                  <a:pt x="4911023" y="30483"/>
                </a:cubicBezTo>
                <a:cubicBezTo>
                  <a:pt x="4915721" y="30625"/>
                  <a:pt x="4920801" y="29108"/>
                  <a:pt x="4925690" y="28984"/>
                </a:cubicBezTo>
                <a:lnTo>
                  <a:pt x="4927821" y="30065"/>
                </a:lnTo>
                <a:lnTo>
                  <a:pt x="4960258" y="27641"/>
                </a:lnTo>
                <a:lnTo>
                  <a:pt x="4964870" y="27986"/>
                </a:lnTo>
                <a:lnTo>
                  <a:pt x="4964882" y="27978"/>
                </a:lnTo>
                <a:cubicBezTo>
                  <a:pt x="4969755" y="27908"/>
                  <a:pt x="4974899" y="29284"/>
                  <a:pt x="4979471" y="28790"/>
                </a:cubicBezTo>
                <a:cubicBezTo>
                  <a:pt x="5154578" y="12123"/>
                  <a:pt x="5330536" y="9611"/>
                  <a:pt x="5505974" y="21310"/>
                </a:cubicBezTo>
                <a:cubicBezTo>
                  <a:pt x="5586740" y="25614"/>
                  <a:pt x="5667442" y="25544"/>
                  <a:pt x="5748129" y="23092"/>
                </a:cubicBezTo>
                <a:lnTo>
                  <a:pt x="5892006" y="15658"/>
                </a:lnTo>
                <a:lnTo>
                  <a:pt x="5894187" y="91357"/>
                </a:lnTo>
                <a:cubicBezTo>
                  <a:pt x="5891252" y="119679"/>
                  <a:pt x="5887042" y="148001"/>
                  <a:pt x="5881429" y="176068"/>
                </a:cubicBezTo>
                <a:cubicBezTo>
                  <a:pt x="5868671" y="240494"/>
                  <a:pt x="5878112" y="303645"/>
                  <a:pt x="5888063" y="367433"/>
                </a:cubicBezTo>
                <a:cubicBezTo>
                  <a:pt x="5896291" y="414790"/>
                  <a:pt x="5896291" y="463218"/>
                  <a:pt x="5888063" y="510574"/>
                </a:cubicBezTo>
                <a:cubicBezTo>
                  <a:pt x="5868926" y="612636"/>
                  <a:pt x="5879515" y="714697"/>
                  <a:pt x="5889083" y="815610"/>
                </a:cubicBezTo>
                <a:cubicBezTo>
                  <a:pt x="5901841" y="951224"/>
                  <a:pt x="5908220" y="1085690"/>
                  <a:pt x="5876326" y="1220284"/>
                </a:cubicBezTo>
                <a:cubicBezTo>
                  <a:pt x="5856296" y="1304994"/>
                  <a:pt x="5872754" y="1390981"/>
                  <a:pt x="5883342" y="1475437"/>
                </a:cubicBezTo>
                <a:cubicBezTo>
                  <a:pt x="5891354" y="1538243"/>
                  <a:pt x="5892298" y="1601751"/>
                  <a:pt x="5886149" y="1664761"/>
                </a:cubicBezTo>
                <a:cubicBezTo>
                  <a:pt x="5876836" y="1760329"/>
                  <a:pt x="5880140" y="1856713"/>
                  <a:pt x="5895972" y="1951426"/>
                </a:cubicBezTo>
                <a:cubicBezTo>
                  <a:pt x="5905362" y="2004791"/>
                  <a:pt x="5901727" y="2059623"/>
                  <a:pt x="5885384" y="2111279"/>
                </a:cubicBezTo>
                <a:cubicBezTo>
                  <a:pt x="5861527" y="2185401"/>
                  <a:pt x="5875943" y="2261054"/>
                  <a:pt x="5885384" y="2335942"/>
                </a:cubicBezTo>
                <a:cubicBezTo>
                  <a:pt x="5899545" y="2453440"/>
                  <a:pt x="5916513" y="2570683"/>
                  <a:pt x="5906434" y="2689584"/>
                </a:cubicBezTo>
                <a:cubicBezTo>
                  <a:pt x="5904839" y="2722155"/>
                  <a:pt x="5900310" y="2754521"/>
                  <a:pt x="5892910" y="2786288"/>
                </a:cubicBezTo>
                <a:cubicBezTo>
                  <a:pt x="5859473" y="2908978"/>
                  <a:pt x="5857980" y="3038188"/>
                  <a:pt x="5888573" y="3161618"/>
                </a:cubicBezTo>
                <a:cubicBezTo>
                  <a:pt x="5920978" y="3294426"/>
                  <a:pt x="5914089" y="3426468"/>
                  <a:pt x="5880791" y="3558127"/>
                </a:cubicBezTo>
                <a:cubicBezTo>
                  <a:pt x="5844074" y="3697862"/>
                  <a:pt x="5840847" y="3844294"/>
                  <a:pt x="5871350" y="3985509"/>
                </a:cubicBezTo>
                <a:lnTo>
                  <a:pt x="5884107" y="4141924"/>
                </a:lnTo>
                <a:lnTo>
                  <a:pt x="0" y="4141924"/>
                </a:lnTo>
                <a:lnTo>
                  <a:pt x="0" y="18996"/>
                </a:lnTo>
                <a:lnTo>
                  <a:pt x="114789" y="16636"/>
                </a:lnTo>
                <a:cubicBezTo>
                  <a:pt x="229350" y="12949"/>
                  <a:pt x="343737" y="7904"/>
                  <a:pt x="457838" y="9315"/>
                </a:cubicBezTo>
                <a:cubicBezTo>
                  <a:pt x="553081" y="10444"/>
                  <a:pt x="648070" y="31612"/>
                  <a:pt x="743567" y="27661"/>
                </a:cubicBezTo>
                <a:cubicBezTo>
                  <a:pt x="1032979" y="16089"/>
                  <a:pt x="1322518" y="19899"/>
                  <a:pt x="1611803" y="4799"/>
                </a:cubicBezTo>
                <a:cubicBezTo>
                  <a:pt x="1682301" y="-85"/>
                  <a:pt x="1752927" y="-1238"/>
                  <a:pt x="1823444" y="132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CFC20-30C7-FB16-6F36-511C58F31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809" y="2846851"/>
            <a:ext cx="4851990" cy="3330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199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199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640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4CE1-AC92-9902-4558-3AA4BEBD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-&gt; State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84C0-A65C-1A93-7FAF-7FDE67C4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Student Images - Free Download on Freepik">
            <a:extLst>
              <a:ext uri="{FF2B5EF4-FFF2-40B4-BE49-F238E27FC236}">
                <a16:creationId xmlns:a16="http://schemas.microsoft.com/office/drawing/2014/main" id="{34D4CA71-6B31-4EDD-30C6-FB122EAA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69" y="2591287"/>
            <a:ext cx="4298586" cy="33106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70F0FB1-73A6-3A5D-8CFE-88215009E1F9}"/>
              </a:ext>
            </a:extLst>
          </p:cNvPr>
          <p:cNvSpPr/>
          <p:nvPr/>
        </p:nvSpPr>
        <p:spPr>
          <a:xfrm>
            <a:off x="7088697" y="2192075"/>
            <a:ext cx="2323751" cy="188752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288623-5C25-3F42-F270-B6AF2DDC170D}"/>
              </a:ext>
            </a:extLst>
          </p:cNvPr>
          <p:cNvSpPr/>
          <p:nvPr/>
        </p:nvSpPr>
        <p:spPr>
          <a:xfrm>
            <a:off x="7118802" y="4290721"/>
            <a:ext cx="2323751" cy="18875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-1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14F960-63E1-9F02-E56C-145E3A33F55C}"/>
              </a:ext>
            </a:extLst>
          </p:cNvPr>
          <p:cNvSpPr/>
          <p:nvPr/>
        </p:nvSpPr>
        <p:spPr>
          <a:xfrm>
            <a:off x="4231340" y="2826416"/>
            <a:ext cx="3505199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Study</a:t>
            </a:r>
            <a:r>
              <a:rPr lang="en-US" dirty="0"/>
              <a:t> (p=?)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503D8C1-14C8-A078-FD80-221E25F93E01}"/>
              </a:ext>
            </a:extLst>
          </p:cNvPr>
          <p:cNvSpPr/>
          <p:nvPr/>
        </p:nvSpPr>
        <p:spPr>
          <a:xfrm>
            <a:off x="4231341" y="4864761"/>
            <a:ext cx="3505199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Do not study </a:t>
            </a:r>
            <a:r>
              <a:rPr lang="en-US" dirty="0"/>
              <a:t>(p=1)</a:t>
            </a:r>
          </a:p>
        </p:txBody>
      </p:sp>
    </p:spTree>
    <p:extLst>
      <p:ext uri="{BB962C8B-B14F-4D97-AF65-F5344CB8AC3E}">
        <p14:creationId xmlns:p14="http://schemas.microsoft.com/office/powerpoint/2010/main" val="23633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4CE1-AC92-9902-4558-3AA4BEBD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-&gt; State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84C0-A65C-1A93-7FAF-7FDE67C4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action may lead to different states</a:t>
            </a:r>
          </a:p>
        </p:txBody>
      </p:sp>
      <p:pic>
        <p:nvPicPr>
          <p:cNvPr id="5122" name="Picture 2" descr="Student Images - Free Download on Freepik">
            <a:extLst>
              <a:ext uri="{FF2B5EF4-FFF2-40B4-BE49-F238E27FC236}">
                <a16:creationId xmlns:a16="http://schemas.microsoft.com/office/drawing/2014/main" id="{34D4CA71-6B31-4EDD-30C6-FB122EAA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69" y="2650921"/>
            <a:ext cx="4298586" cy="28648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70F0FB1-73A6-3A5D-8CFE-88215009E1F9}"/>
              </a:ext>
            </a:extLst>
          </p:cNvPr>
          <p:cNvSpPr/>
          <p:nvPr/>
        </p:nvSpPr>
        <p:spPr>
          <a:xfrm>
            <a:off x="7088697" y="2021746"/>
            <a:ext cx="2323751" cy="188752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288623-5C25-3F42-F270-B6AF2DDC170D}"/>
              </a:ext>
            </a:extLst>
          </p:cNvPr>
          <p:cNvSpPr/>
          <p:nvPr/>
        </p:nvSpPr>
        <p:spPr>
          <a:xfrm>
            <a:off x="7118802" y="4120392"/>
            <a:ext cx="2323751" cy="18875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-1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14F960-63E1-9F02-E56C-145E3A33F55C}"/>
              </a:ext>
            </a:extLst>
          </p:cNvPr>
          <p:cNvSpPr/>
          <p:nvPr/>
        </p:nvSpPr>
        <p:spPr>
          <a:xfrm rot="19997002">
            <a:off x="4856966" y="2808405"/>
            <a:ext cx="2642532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Study (p=0.95)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503D8C1-14C8-A078-FD80-221E25F93E01}"/>
              </a:ext>
            </a:extLst>
          </p:cNvPr>
          <p:cNvSpPr/>
          <p:nvPr/>
        </p:nvSpPr>
        <p:spPr>
          <a:xfrm rot="963674">
            <a:off x="4879179" y="4252482"/>
            <a:ext cx="2642532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not study (p=1)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22EABA4-7E34-765A-E27A-01DEF1383309}"/>
              </a:ext>
            </a:extLst>
          </p:cNvPr>
          <p:cNvSpPr/>
          <p:nvPr/>
        </p:nvSpPr>
        <p:spPr>
          <a:xfrm rot="978613">
            <a:off x="4993066" y="3833596"/>
            <a:ext cx="2642532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Study (p=0.05)</a:t>
            </a:r>
          </a:p>
        </p:txBody>
      </p:sp>
    </p:spTree>
    <p:extLst>
      <p:ext uri="{BB962C8B-B14F-4D97-AF65-F5344CB8AC3E}">
        <p14:creationId xmlns:p14="http://schemas.microsoft.com/office/powerpoint/2010/main" val="422879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4CE1-AC92-9902-4558-3AA4BEBD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-&gt; State probability</a:t>
            </a:r>
          </a:p>
        </p:txBody>
      </p:sp>
      <p:pic>
        <p:nvPicPr>
          <p:cNvPr id="5122" name="Picture 2" descr="Student Images - Free Download on Freepik">
            <a:extLst>
              <a:ext uri="{FF2B5EF4-FFF2-40B4-BE49-F238E27FC236}">
                <a16:creationId xmlns:a16="http://schemas.microsoft.com/office/drawing/2014/main" id="{34D4CA71-6B31-4EDD-30C6-FB122EAA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69" y="3271614"/>
            <a:ext cx="4298586" cy="28648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70F0FB1-73A6-3A5D-8CFE-88215009E1F9}"/>
              </a:ext>
            </a:extLst>
          </p:cNvPr>
          <p:cNvSpPr/>
          <p:nvPr/>
        </p:nvSpPr>
        <p:spPr>
          <a:xfrm>
            <a:off x="7088697" y="2642439"/>
            <a:ext cx="2323751" cy="188752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288623-5C25-3F42-F270-B6AF2DDC170D}"/>
              </a:ext>
            </a:extLst>
          </p:cNvPr>
          <p:cNvSpPr/>
          <p:nvPr/>
        </p:nvSpPr>
        <p:spPr>
          <a:xfrm>
            <a:off x="7118802" y="4741085"/>
            <a:ext cx="2323751" cy="18875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Fail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-1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14F960-63E1-9F02-E56C-145E3A33F55C}"/>
              </a:ext>
            </a:extLst>
          </p:cNvPr>
          <p:cNvSpPr/>
          <p:nvPr/>
        </p:nvSpPr>
        <p:spPr>
          <a:xfrm rot="19997002">
            <a:off x="4856966" y="3429098"/>
            <a:ext cx="2642532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Study (p=0.95)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22EABA4-7E34-765A-E27A-01DEF1383309}"/>
              </a:ext>
            </a:extLst>
          </p:cNvPr>
          <p:cNvSpPr/>
          <p:nvPr/>
        </p:nvSpPr>
        <p:spPr>
          <a:xfrm rot="978613">
            <a:off x="4993066" y="4454289"/>
            <a:ext cx="2642532" cy="77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Study (p=0.05)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50BA3-051F-4017-1260-250CEF7855D4}"/>
                  </a:ext>
                </a:extLst>
              </p:cNvPr>
              <p:cNvSpPr txBox="1"/>
              <p:nvPr/>
            </p:nvSpPr>
            <p:spPr>
              <a:xfrm>
                <a:off x="789742" y="1477211"/>
                <a:ext cx="9012283" cy="480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𝑝𝑎𝑠𝑠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𝑠𝑡𝑢𝑑𝑦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𝑝𝑎𝑠𝑠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𝑓𝑎𝑖𝑙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𝑠𝑡𝑢𝑑𝑦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rgbClr val="836967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𝑓𝑎𝑖𝑙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dirty="0"/>
                  <a:t> = 0.95 * 1 + 0.05 * -1 = 0.9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50BA3-051F-4017-1260-250CEF785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2" y="1477211"/>
                <a:ext cx="9012283" cy="480324"/>
              </a:xfrm>
              <a:prstGeom prst="rect">
                <a:avLst/>
              </a:prstGeom>
              <a:blipFill>
                <a:blip r:embed="rId3"/>
                <a:stretch>
                  <a:fillRect t="-5063" b="-126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25C13AB-DF31-14B3-7076-209293308747}"/>
              </a:ext>
            </a:extLst>
          </p:cNvPr>
          <p:cNvSpPr txBox="1"/>
          <p:nvPr/>
        </p:nvSpPr>
        <p:spPr>
          <a:xfrm>
            <a:off x="809849" y="1961762"/>
            <a:ext cx="10063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We’re </a:t>
            </a:r>
            <a:r>
              <a:rPr lang="en-US" b="1" dirty="0"/>
              <a:t>maximizing the </a:t>
            </a:r>
            <a:r>
              <a:rPr lang="en-US" b="1" u="sng" dirty="0"/>
              <a:t>expected</a:t>
            </a:r>
            <a:r>
              <a:rPr lang="en-US" b="1" dirty="0"/>
              <a:t> return</a:t>
            </a:r>
            <a:r>
              <a:rPr lang="en-US" dirty="0"/>
              <a:t>. It is the average return that we will get if we play many games.</a:t>
            </a:r>
          </a:p>
        </p:txBody>
      </p:sp>
    </p:spTree>
    <p:extLst>
      <p:ext uri="{BB962C8B-B14F-4D97-AF65-F5344CB8AC3E}">
        <p14:creationId xmlns:p14="http://schemas.microsoft.com/office/powerpoint/2010/main" val="287107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A2D7D-3C6C-D516-7C1D-D08283CE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The Bellman Equation</a:t>
            </a:r>
          </a:p>
        </p:txBody>
      </p:sp>
      <p:sp>
        <p:nvSpPr>
          <p:cNvPr id="1127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Richard E. Bellman - Wikipedia">
            <a:extLst>
              <a:ext uri="{FF2B5EF4-FFF2-40B4-BE49-F238E27FC236}">
                <a16:creationId xmlns:a16="http://schemas.microsoft.com/office/drawing/2014/main" id="{543645E0-4A7C-8925-1B7D-F72008752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4934" y="2642616"/>
            <a:ext cx="2884627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Bellman Optimality Equation in Reinforcement Learning">
            <a:extLst>
              <a:ext uri="{FF2B5EF4-FFF2-40B4-BE49-F238E27FC236}">
                <a16:creationId xmlns:a16="http://schemas.microsoft.com/office/drawing/2014/main" id="{1F9D8E46-FC18-14C6-25B3-CCC3D29A2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3547202"/>
            <a:ext cx="5614416" cy="179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03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8168-A0F6-BD25-DE76-1F0D3842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Slippery/Windy GridWorld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3E80D4C-4CC3-8190-BFBC-B5C38200A603}"/>
              </a:ext>
            </a:extLst>
          </p:cNvPr>
          <p:cNvGraphicFramePr>
            <a:graphicFrameLocks noGrp="1"/>
          </p:cNvGraphicFramePr>
          <p:nvPr/>
        </p:nvGraphicFramePr>
        <p:xfrm>
          <a:off x="2709644" y="2228894"/>
          <a:ext cx="6552736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1679611149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1028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B125814-768B-8D19-EDDF-06FC8052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923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88A29D-3E6A-E022-361A-CCD1B788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65" y="3589328"/>
            <a:ext cx="663429" cy="9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obot free vector icons designed by Good Ware | Robot icon, Sticker  graffiti, Free icons">
            <a:extLst>
              <a:ext uri="{FF2B5EF4-FFF2-40B4-BE49-F238E27FC236}">
                <a16:creationId xmlns:a16="http://schemas.microsoft.com/office/drawing/2014/main" id="{8F4681C9-526F-0620-D4D8-2A885E7B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206" y="3863468"/>
            <a:ext cx="766894" cy="76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D979648-F0CB-F945-ABB0-1164A653B576}"/>
              </a:ext>
            </a:extLst>
          </p:cNvPr>
          <p:cNvSpPr/>
          <p:nvPr/>
        </p:nvSpPr>
        <p:spPr>
          <a:xfrm>
            <a:off x="1300294" y="257542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3BC0F-2E0B-7AD3-0138-92A441ADC947}"/>
              </a:ext>
            </a:extLst>
          </p:cNvPr>
          <p:cNvSpPr txBox="1"/>
          <p:nvPr/>
        </p:nvSpPr>
        <p:spPr>
          <a:xfrm>
            <a:off x="755120" y="1464130"/>
            <a:ext cx="1413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 – State with probabilities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59E7D-6A1F-6DF6-50D6-FFC02801B432}"/>
              </a:ext>
            </a:extLst>
          </p:cNvPr>
          <p:cNvSpPr txBox="1"/>
          <p:nvPr/>
        </p:nvSpPr>
        <p:spPr>
          <a:xfrm>
            <a:off x="8393708" y="2228893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BBF79-A6AC-C96A-794C-A9CD90DEE1A3}"/>
              </a:ext>
            </a:extLst>
          </p:cNvPr>
          <p:cNvSpPr txBox="1"/>
          <p:nvPr/>
        </p:nvSpPr>
        <p:spPr>
          <a:xfrm>
            <a:off x="8434779" y="339918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/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2A68B0-45ED-D0CF-A3AC-7A2DE6F8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72" y="3051987"/>
                <a:ext cx="147436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/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5DB6-A9BC-5421-81A2-29B75D356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536" y="1426826"/>
                <a:ext cx="1297577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4B37E-22E0-68F8-6870-EE4A3614EE45}"/>
                  </a:ext>
                </a:extLst>
              </p:cNvPr>
              <p:cNvSpPr txBox="1"/>
              <p:nvPr/>
            </p:nvSpPr>
            <p:spPr>
              <a:xfrm>
                <a:off x="6330193" y="2975046"/>
                <a:ext cx="1474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C4B37E-22E0-68F8-6870-EE4A3614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193" y="2975046"/>
                <a:ext cx="1474365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21F4E4B-F4BC-47B5-A400-1CEB3FF23526}"/>
              </a:ext>
            </a:extLst>
          </p:cNvPr>
          <p:cNvGrpSpPr/>
          <p:nvPr/>
        </p:nvGrpSpPr>
        <p:grpSpPr>
          <a:xfrm>
            <a:off x="6380684" y="2648779"/>
            <a:ext cx="1545689" cy="1640081"/>
            <a:chOff x="6380684" y="2648779"/>
            <a:chExt cx="1545689" cy="1640081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193CEED-F1CA-2BFE-B091-981BE25DE7D2}"/>
                </a:ext>
              </a:extLst>
            </p:cNvPr>
            <p:cNvSpPr/>
            <p:nvPr/>
          </p:nvSpPr>
          <p:spPr>
            <a:xfrm>
              <a:off x="7330754" y="2648779"/>
              <a:ext cx="595619" cy="56555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Up 11">
              <a:extLst>
                <a:ext uri="{FF2B5EF4-FFF2-40B4-BE49-F238E27FC236}">
                  <a16:creationId xmlns:a16="http://schemas.microsoft.com/office/drawing/2014/main" id="{FD35D143-BCF4-E45A-595B-3CA62BCB6431}"/>
                </a:ext>
              </a:extLst>
            </p:cNvPr>
            <p:cNvSpPr/>
            <p:nvPr/>
          </p:nvSpPr>
          <p:spPr>
            <a:xfrm>
              <a:off x="6380684" y="3344378"/>
              <a:ext cx="832842" cy="519090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sz="1100" dirty="0"/>
                <a:t>0.8</a:t>
              </a:r>
              <a:endParaRPr lang="en-US" sz="1100" dirty="0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09CBBF50-DA47-58D1-B8D0-10ED0160AEF5}"/>
                </a:ext>
              </a:extLst>
            </p:cNvPr>
            <p:cNvSpPr/>
            <p:nvPr/>
          </p:nvSpPr>
          <p:spPr>
            <a:xfrm>
              <a:off x="7267120" y="3723302"/>
              <a:ext cx="595619" cy="56555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sz="1100" dirty="0"/>
                <a:t>0.2</a:t>
              </a:r>
              <a:endParaRPr lang="en-US" sz="11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B4C21D6-774D-B5DF-71DF-5A794BD7A620}"/>
              </a:ext>
            </a:extLst>
          </p:cNvPr>
          <p:cNvSpPr txBox="1"/>
          <p:nvPr/>
        </p:nvSpPr>
        <p:spPr>
          <a:xfrm>
            <a:off x="320877" y="2648779"/>
            <a:ext cx="85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39BF71-7153-9C25-E858-01FEFCAD7CCD}"/>
              </a:ext>
            </a:extLst>
          </p:cNvPr>
          <p:cNvSpPr txBox="1"/>
          <p:nvPr/>
        </p:nvSpPr>
        <p:spPr>
          <a:xfrm>
            <a:off x="297459" y="3976202"/>
            <a:ext cx="85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</a:t>
            </a: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41130B38-C173-DBE3-E455-21E2279AEEF8}"/>
              </a:ext>
            </a:extLst>
          </p:cNvPr>
          <p:cNvSpPr/>
          <p:nvPr/>
        </p:nvSpPr>
        <p:spPr>
          <a:xfrm>
            <a:off x="1097500" y="3714883"/>
            <a:ext cx="832842" cy="51909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0.8</a:t>
            </a:r>
            <a:endParaRPr lang="en-US" sz="11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CA6E789-78BF-0D3A-A513-00B0E66F1AAB}"/>
              </a:ext>
            </a:extLst>
          </p:cNvPr>
          <p:cNvSpPr/>
          <p:nvPr/>
        </p:nvSpPr>
        <p:spPr>
          <a:xfrm>
            <a:off x="1300293" y="4333847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0.2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DCFA504-AE86-071C-20B8-B09AC45B8767}"/>
                  </a:ext>
                </a:extLst>
              </p:cNvPr>
              <p:cNvSpPr txBox="1"/>
              <p:nvPr/>
            </p:nvSpPr>
            <p:spPr>
              <a:xfrm>
                <a:off x="6019760" y="3857142"/>
                <a:ext cx="731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= ?</a:t>
                </a:r>
              </a:p>
            </p:txBody>
          </p:sp>
        </mc:Choice>
        <mc:Fallback xmlns="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DCFA504-AE86-071C-20B8-B09AC45B8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760" y="3857142"/>
                <a:ext cx="731353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DA371A3-3D40-4CA3-9311-60563779A798}"/>
              </a:ext>
            </a:extLst>
          </p:cNvPr>
          <p:cNvGrpSpPr/>
          <p:nvPr/>
        </p:nvGrpSpPr>
        <p:grpSpPr>
          <a:xfrm>
            <a:off x="165770" y="5310231"/>
            <a:ext cx="5203184" cy="1598028"/>
            <a:chOff x="165770" y="5310231"/>
            <a:chExt cx="5203184" cy="1598028"/>
          </a:xfrm>
        </p:grpSpPr>
        <p:pic>
          <p:nvPicPr>
            <p:cNvPr id="1027" name="Picture 1026">
              <a:extLst>
                <a:ext uri="{FF2B5EF4-FFF2-40B4-BE49-F238E27FC236}">
                  <a16:creationId xmlns:a16="http://schemas.microsoft.com/office/drawing/2014/main" id="{51AA052B-B5FB-1AFF-8D4C-449015A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5770" y="6117684"/>
              <a:ext cx="4629150" cy="790575"/>
            </a:xfrm>
            <a:prstGeom prst="rect">
              <a:avLst/>
            </a:prstGeom>
          </p:spPr>
        </p:pic>
        <p:sp>
          <p:nvSpPr>
            <p:cNvPr id="1029" name="Speech Bubble: Rectangle 1028">
              <a:extLst>
                <a:ext uri="{FF2B5EF4-FFF2-40B4-BE49-F238E27FC236}">
                  <a16:creationId xmlns:a16="http://schemas.microsoft.com/office/drawing/2014/main" id="{6FCFD829-95A0-9DD2-30F9-E511D28AE290}"/>
                </a:ext>
              </a:extLst>
            </p:cNvPr>
            <p:cNvSpPr/>
            <p:nvPr/>
          </p:nvSpPr>
          <p:spPr>
            <a:xfrm>
              <a:off x="2480345" y="5310231"/>
              <a:ext cx="2888609" cy="687897"/>
            </a:xfrm>
            <a:prstGeom prst="wedgeRectCallout">
              <a:avLst>
                <a:gd name="adj1" fmla="val -48793"/>
                <a:gd name="adj2" fmla="val 106250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At this stage we assume that R is not stochastic</a:t>
              </a:r>
            </a:p>
          </p:txBody>
        </p:sp>
      </p:grpSp>
      <p:sp>
        <p:nvSpPr>
          <p:cNvPr id="1038" name="TextBox 1037">
            <a:extLst>
              <a:ext uri="{FF2B5EF4-FFF2-40B4-BE49-F238E27FC236}">
                <a16:creationId xmlns:a16="http://schemas.microsoft.com/office/drawing/2014/main" id="{3308F773-97DC-4094-4C15-F910E6CFA21E}"/>
              </a:ext>
            </a:extLst>
          </p:cNvPr>
          <p:cNvSpPr txBox="1"/>
          <p:nvPr/>
        </p:nvSpPr>
        <p:spPr>
          <a:xfrm>
            <a:off x="7593699" y="2168998"/>
            <a:ext cx="46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375376A-06FB-AFF8-AFB4-C3DC70F9178A}"/>
              </a:ext>
            </a:extLst>
          </p:cNvPr>
          <p:cNvSpPr txBox="1"/>
          <p:nvPr/>
        </p:nvSpPr>
        <p:spPr>
          <a:xfrm>
            <a:off x="6016780" y="2184628"/>
            <a:ext cx="46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43FE9B43-9C12-7E66-5E4A-F8CC02ABEE1A}"/>
              </a:ext>
            </a:extLst>
          </p:cNvPr>
          <p:cNvSpPr txBox="1"/>
          <p:nvPr/>
        </p:nvSpPr>
        <p:spPr>
          <a:xfrm>
            <a:off x="7652447" y="3377744"/>
            <a:ext cx="46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3162E481-CA31-4F88-8351-CAC94DC6F08F}"/>
              </a:ext>
            </a:extLst>
          </p:cNvPr>
          <p:cNvSpPr txBox="1"/>
          <p:nvPr/>
        </p:nvSpPr>
        <p:spPr>
          <a:xfrm>
            <a:off x="6016780" y="3416094"/>
            <a:ext cx="46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5E18F3-B5A1-4500-A864-144D805CD7C3}"/>
              </a:ext>
            </a:extLst>
          </p:cNvPr>
          <p:cNvGrpSpPr/>
          <p:nvPr/>
        </p:nvGrpSpPr>
        <p:grpSpPr>
          <a:xfrm>
            <a:off x="4705222" y="5836677"/>
            <a:ext cx="7157325" cy="740919"/>
            <a:chOff x="4705222" y="5836677"/>
            <a:chExt cx="7157325" cy="7409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3" name="TextBox 1032">
                  <a:extLst>
                    <a:ext uri="{FF2B5EF4-FFF2-40B4-BE49-F238E27FC236}">
                      <a16:creationId xmlns:a16="http://schemas.microsoft.com/office/drawing/2014/main" id="{3D028850-A045-E4CD-2F66-2CAC082F82B6}"/>
                    </a:ext>
                  </a:extLst>
                </p:cNvPr>
                <p:cNvSpPr txBox="1"/>
                <p:nvPr/>
              </p:nvSpPr>
              <p:spPr>
                <a:xfrm>
                  <a:off x="4705222" y="5841866"/>
                  <a:ext cx="2691860" cy="4296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𝑢𝑝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𝑢𝑝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3" name="TextBox 1032">
                  <a:extLst>
                    <a:ext uri="{FF2B5EF4-FFF2-40B4-BE49-F238E27FC236}">
                      <a16:creationId xmlns:a16="http://schemas.microsoft.com/office/drawing/2014/main" id="{3D028850-A045-E4CD-2F66-2CAC082F8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222" y="5841866"/>
                  <a:ext cx="2691860" cy="429605"/>
                </a:xfrm>
                <a:prstGeom prst="rect">
                  <a:avLst/>
                </a:prstGeom>
                <a:blipFill>
                  <a:blip r:embed="rId11"/>
                  <a:stretch>
                    <a:fillRect b="-70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6" name="TextBox 1035">
                  <a:extLst>
                    <a:ext uri="{FF2B5EF4-FFF2-40B4-BE49-F238E27FC236}">
                      <a16:creationId xmlns:a16="http://schemas.microsoft.com/office/drawing/2014/main" id="{5402DF16-3F4D-01EA-C4F5-70E13F7DC88C}"/>
                    </a:ext>
                  </a:extLst>
                </p:cNvPr>
                <p:cNvSpPr txBox="1"/>
                <p:nvPr/>
              </p:nvSpPr>
              <p:spPr>
                <a:xfrm>
                  <a:off x="7171628" y="5836677"/>
                  <a:ext cx="45090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6" name="TextBox 1035">
                  <a:extLst>
                    <a:ext uri="{FF2B5EF4-FFF2-40B4-BE49-F238E27FC236}">
                      <a16:creationId xmlns:a16="http://schemas.microsoft.com/office/drawing/2014/main" id="{5402DF16-3F4D-01EA-C4F5-70E13F7DC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1628" y="5836677"/>
                  <a:ext cx="450908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2" name="TextBox 1041">
                  <a:extLst>
                    <a:ext uri="{FF2B5EF4-FFF2-40B4-BE49-F238E27FC236}">
                      <a16:creationId xmlns:a16="http://schemas.microsoft.com/office/drawing/2014/main" id="{29A32E44-A299-4609-135D-E582521D6978}"/>
                    </a:ext>
                  </a:extLst>
                </p:cNvPr>
                <p:cNvSpPr txBox="1"/>
                <p:nvPr/>
              </p:nvSpPr>
              <p:spPr>
                <a:xfrm>
                  <a:off x="6335830" y="5886908"/>
                  <a:ext cx="877696" cy="3960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2)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42" name="TextBox 1041">
                  <a:extLst>
                    <a:ext uri="{FF2B5EF4-FFF2-40B4-BE49-F238E27FC236}">
                      <a16:creationId xmlns:a16="http://schemas.microsoft.com/office/drawing/2014/main" id="{29A32E44-A299-4609-135D-E582521D6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830" y="5886908"/>
                  <a:ext cx="877696" cy="396006"/>
                </a:xfrm>
                <a:prstGeom prst="rect">
                  <a:avLst/>
                </a:prstGeom>
                <a:blipFill>
                  <a:blip r:embed="rId13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3" name="TextBox 1042">
                  <a:extLst>
                    <a:ext uri="{FF2B5EF4-FFF2-40B4-BE49-F238E27FC236}">
                      <a16:creationId xmlns:a16="http://schemas.microsoft.com/office/drawing/2014/main" id="{AD4F3207-40C4-4271-6418-AA12CED4EF9E}"/>
                    </a:ext>
                  </a:extLst>
                </p:cNvPr>
                <p:cNvSpPr txBox="1"/>
                <p:nvPr/>
              </p:nvSpPr>
              <p:spPr>
                <a:xfrm>
                  <a:off x="7587568" y="5862866"/>
                  <a:ext cx="877696" cy="3960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2)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43" name="TextBox 1042">
                  <a:extLst>
                    <a:ext uri="{FF2B5EF4-FFF2-40B4-BE49-F238E27FC236}">
                      <a16:creationId xmlns:a16="http://schemas.microsoft.com/office/drawing/2014/main" id="{AD4F3207-40C4-4271-6418-AA12CED4E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568" y="5862866"/>
                  <a:ext cx="877696" cy="396006"/>
                </a:xfrm>
                <a:prstGeom prst="rect">
                  <a:avLst/>
                </a:prstGeom>
                <a:blipFill>
                  <a:blip r:embed="rId1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4" name="TextBox 1043">
                  <a:extLst>
                    <a:ext uri="{FF2B5EF4-FFF2-40B4-BE49-F238E27FC236}">
                      <a16:creationId xmlns:a16="http://schemas.microsoft.com/office/drawing/2014/main" id="{7340CC38-77C3-37FA-447C-EEBFAE30134D}"/>
                    </a:ext>
                  </a:extLst>
                </p:cNvPr>
                <p:cNvSpPr txBox="1"/>
                <p:nvPr/>
              </p:nvSpPr>
              <p:spPr>
                <a:xfrm>
                  <a:off x="9550515" y="5890036"/>
                  <a:ext cx="877696" cy="3960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5)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44" name="TextBox 1043">
                  <a:extLst>
                    <a:ext uri="{FF2B5EF4-FFF2-40B4-BE49-F238E27FC236}">
                      <a16:creationId xmlns:a16="http://schemas.microsoft.com/office/drawing/2014/main" id="{7340CC38-77C3-37FA-447C-EEBFAE3013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0515" y="5890036"/>
                  <a:ext cx="877696" cy="396006"/>
                </a:xfrm>
                <a:prstGeom prst="rect">
                  <a:avLst/>
                </a:prstGeom>
                <a:blipFill>
                  <a:blip r:embed="rId15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BB9F4A8-87C9-EC0F-305A-A0A9A9749F08}"/>
                    </a:ext>
                  </a:extLst>
                </p:cNvPr>
                <p:cNvSpPr txBox="1"/>
                <p:nvPr/>
              </p:nvSpPr>
              <p:spPr>
                <a:xfrm>
                  <a:off x="5309812" y="6208264"/>
                  <a:ext cx="65527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0.8      * (0   +   0.9   *    1)      +      0.2    *      (-1    +    0)    = 0.52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BB9F4A8-87C9-EC0F-305A-A0A9A9749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9812" y="6208264"/>
                  <a:ext cx="6552735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5DEFB699-36E9-567A-9451-67EBAD12271A}"/>
                    </a:ext>
                  </a:extLst>
                </p:cNvPr>
                <p:cNvSpPr txBox="1"/>
                <p:nvPr/>
              </p:nvSpPr>
              <p:spPr>
                <a:xfrm>
                  <a:off x="7883056" y="5862866"/>
                  <a:ext cx="2466406" cy="4410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𝑟𝑖𝑔h𝑡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𝑢𝑝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5DEFB699-36E9-567A-9451-67EBAD122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056" y="5862866"/>
                  <a:ext cx="2466406" cy="441083"/>
                </a:xfrm>
                <a:prstGeom prst="rect">
                  <a:avLst/>
                </a:prstGeom>
                <a:blipFill>
                  <a:blip r:embed="rId17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TextBox 1044">
                  <a:extLst>
                    <a:ext uri="{FF2B5EF4-FFF2-40B4-BE49-F238E27FC236}">
                      <a16:creationId xmlns:a16="http://schemas.microsoft.com/office/drawing/2014/main" id="{E001AFE7-1D08-59A3-DA66-FAC7D9357916}"/>
                    </a:ext>
                  </a:extLst>
                </p:cNvPr>
                <p:cNvSpPr txBox="1"/>
                <p:nvPr/>
              </p:nvSpPr>
              <p:spPr>
                <a:xfrm>
                  <a:off x="10206102" y="5858665"/>
                  <a:ext cx="877696" cy="3960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5)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45" name="TextBox 1044">
                  <a:extLst>
                    <a:ext uri="{FF2B5EF4-FFF2-40B4-BE49-F238E27FC236}">
                      <a16:creationId xmlns:a16="http://schemas.microsoft.com/office/drawing/2014/main" id="{E001AFE7-1D08-59A3-DA66-FAC7D9357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6102" y="5858665"/>
                  <a:ext cx="877696" cy="396006"/>
                </a:xfrm>
                <a:prstGeom prst="rect">
                  <a:avLst/>
                </a:prstGeom>
                <a:blipFill>
                  <a:blip r:embed="rId18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498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540B-3745-996C-E675-7C1D6168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hlinkClick r:id="rId2"/>
              </a:rPr>
              <a:t>https://websim.ai/@snowyfield91121232/gridworld-rl-simulation/28</a:t>
            </a:r>
            <a:endParaRPr lang="en-IL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6CB04-552F-6888-0843-0805B9179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70F25-5144-4D77-F000-EBDD0FB69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165" y="1825625"/>
            <a:ext cx="8082914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7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DAB7-86D7-104C-6466-532A595D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 Example #1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16DBE-89FE-19FE-EFF5-19733F325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22" y="2415904"/>
            <a:ext cx="3416694" cy="3003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3FE27A-7D1F-1365-55D5-8BBDA1AA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03158"/>
            <a:ext cx="3295650" cy="2428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207D21-07AD-49DA-A47B-3E7627A3366F}"/>
              </a:ext>
            </a:extLst>
          </p:cNvPr>
          <p:cNvSpPr txBox="1"/>
          <p:nvPr/>
        </p:nvSpPr>
        <p:spPr>
          <a:xfrm>
            <a:off x="1387782" y="1827591"/>
            <a:ext cx="309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value of V(s1)?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A9A78-B5F1-41AC-9E2B-9AFC50155CAA}"/>
                  </a:ext>
                </a:extLst>
              </p:cNvPr>
              <p:cNvSpPr txBox="1"/>
              <p:nvPr/>
            </p:nvSpPr>
            <p:spPr>
              <a:xfrm>
                <a:off x="1207677" y="1458259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A9A78-B5F1-41AC-9E2B-9AFC50155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677" y="1458259"/>
                <a:ext cx="1297577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2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50AA-F4E8-57CD-5D7C-3F27223F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 Example #2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213D0-C1EC-087A-38DC-BF37AFD0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60" y="2101056"/>
            <a:ext cx="3076575" cy="3800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53968-4AE2-31B9-F1F9-3B1FE530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556" y="2205562"/>
            <a:ext cx="4829175" cy="187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3CF76D-850C-4607-27FE-AB0BD455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555" y="4343705"/>
            <a:ext cx="4829175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A59699-F6E6-46F8-974D-CC5EEB884152}"/>
                  </a:ext>
                </a:extLst>
              </p:cNvPr>
              <p:cNvSpPr txBox="1"/>
              <p:nvPr/>
            </p:nvSpPr>
            <p:spPr>
              <a:xfrm>
                <a:off x="1907665" y="1711206"/>
                <a:ext cx="1297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A59699-F6E6-46F8-974D-CC5EEB884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665" y="1711206"/>
                <a:ext cx="1297577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81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שוטרי הסיור: כדורסל לפנים | מתוך ארץ נהדרת עונה 18 | 12+">
            <a:extLst>
              <a:ext uri="{FF2B5EF4-FFF2-40B4-BE49-F238E27FC236}">
                <a16:creationId xmlns:a16="http://schemas.microsoft.com/office/drawing/2014/main" id="{ADFFE901-8D91-6FFB-FB78-90BFB484F0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Rectangle 615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23CEF-662B-0EFC-4556-79468B08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Probabilistic Action</a:t>
            </a:r>
          </a:p>
        </p:txBody>
      </p:sp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75EF24-8635-9FCE-0B66-2142B7987BE4}"/>
              </a:ext>
            </a:extLst>
          </p:cNvPr>
          <p:cNvSpPr txBox="1"/>
          <p:nvPr/>
        </p:nvSpPr>
        <p:spPr>
          <a:xfrm>
            <a:off x="2441197" y="1386917"/>
            <a:ext cx="8454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hlinkClick r:id="rId3"/>
              </a:rPr>
              <a:t>https://www.tiktok.com/@colakelev/video/7044916370886249729?lang=he-IL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60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637B-48F8-CFB2-F980-C4DAEEEE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44842-1274-C912-F3CF-48E82709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92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Policy probability: to Avoid getting hit</a:t>
            </a:r>
          </a:p>
          <a:p>
            <a:pPr lvl="1"/>
            <a:r>
              <a:rPr lang="en-US" dirty="0"/>
              <a:t>50% - Jump</a:t>
            </a:r>
          </a:p>
          <a:p>
            <a:pPr lvl="1"/>
            <a:r>
              <a:rPr lang="en-US" dirty="0"/>
              <a:t>50% - Duck</a:t>
            </a:r>
          </a:p>
          <a:p>
            <a:endParaRPr lang="en-US" dirty="0"/>
          </a:p>
          <a:p>
            <a:r>
              <a:rPr lang="en-US" dirty="0"/>
              <a:t>State probability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Jump</a:t>
            </a:r>
            <a:r>
              <a:rPr lang="en-US" dirty="0"/>
              <a:t> (Hit:0.4, Safe: 0.6)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Duck</a:t>
            </a:r>
            <a:r>
              <a:rPr lang="en-US" dirty="0"/>
              <a:t> (Hit:0.8, Safe: 0.2)</a:t>
            </a:r>
          </a:p>
          <a:p>
            <a:endParaRPr lang="en-US" dirty="0"/>
          </a:p>
        </p:txBody>
      </p:sp>
      <p:pic>
        <p:nvPicPr>
          <p:cNvPr id="10242" name="Picture 2" descr="Child Playing Dodgeball Ball Hit Face Stock Vector (Royalty Free) 320618987  | Shutterstock">
            <a:extLst>
              <a:ext uri="{FF2B5EF4-FFF2-40B4-BE49-F238E27FC236}">
                <a16:creationId xmlns:a16="http://schemas.microsoft.com/office/drawing/2014/main" id="{BF915F2A-0076-A486-192D-CF60B7EFA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5"/>
          <a:stretch/>
        </p:blipFill>
        <p:spPr bwMode="auto">
          <a:xfrm>
            <a:off x="9415634" y="246604"/>
            <a:ext cx="1938165" cy="18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E50004A-A83D-3685-613B-F0CCF16FF020}"/>
              </a:ext>
            </a:extLst>
          </p:cNvPr>
          <p:cNvSpPr/>
          <p:nvPr/>
        </p:nvSpPr>
        <p:spPr>
          <a:xfrm>
            <a:off x="7534459" y="3319507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F29686-A6D9-5011-664F-3B7887BB5A0A}"/>
              </a:ext>
            </a:extLst>
          </p:cNvPr>
          <p:cNvSpPr/>
          <p:nvPr/>
        </p:nvSpPr>
        <p:spPr>
          <a:xfrm>
            <a:off x="9444493" y="2289081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Safe 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BD2700-59E3-96F2-FB04-8F2E55514A0B}"/>
              </a:ext>
            </a:extLst>
          </p:cNvPr>
          <p:cNvSpPr/>
          <p:nvPr/>
        </p:nvSpPr>
        <p:spPr>
          <a:xfrm>
            <a:off x="9430151" y="4596824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Hit -1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882886-A338-B5E0-E0DD-0A6FA8907D55}"/>
              </a:ext>
            </a:extLst>
          </p:cNvPr>
          <p:cNvGrpSpPr/>
          <p:nvPr/>
        </p:nvGrpSpPr>
        <p:grpSpPr>
          <a:xfrm rot="11662187">
            <a:off x="8880825" y="2543740"/>
            <a:ext cx="806934" cy="1531894"/>
            <a:chOff x="6976926" y="3730051"/>
            <a:chExt cx="806934" cy="1531894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2BEAEA05-03CB-A5E6-04BC-4282B67B97CD}"/>
                </a:ext>
              </a:extLst>
            </p:cNvPr>
            <p:cNvSpPr/>
            <p:nvPr/>
          </p:nvSpPr>
          <p:spPr>
            <a:xfrm rot="7899083">
              <a:off x="6595227" y="4111750"/>
              <a:ext cx="1266737" cy="503339"/>
            </a:xfrm>
            <a:prstGeom prst="rightArrow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 0.2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59CAD897-B04D-E13C-5B6D-1A08C713DD2A}"/>
                </a:ext>
              </a:extLst>
            </p:cNvPr>
            <p:cNvSpPr/>
            <p:nvPr/>
          </p:nvSpPr>
          <p:spPr>
            <a:xfrm rot="7899083">
              <a:off x="6898822" y="4376907"/>
              <a:ext cx="1266737" cy="503339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 0.6</a:t>
              </a:r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86E46B-25CB-0EED-A8A9-C70BB334FF8D}"/>
              </a:ext>
            </a:extLst>
          </p:cNvPr>
          <p:cNvSpPr/>
          <p:nvPr/>
        </p:nvSpPr>
        <p:spPr>
          <a:xfrm rot="2636138">
            <a:off x="8430300" y="4537206"/>
            <a:ext cx="1266737" cy="503339"/>
          </a:xfrm>
          <a:prstGeom prst="rightArrow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 0.8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DF9B99-4B60-4C77-D095-B60E83BB9F16}"/>
              </a:ext>
            </a:extLst>
          </p:cNvPr>
          <p:cNvSpPr/>
          <p:nvPr/>
        </p:nvSpPr>
        <p:spPr>
          <a:xfrm rot="2636138">
            <a:off x="8714406" y="4251332"/>
            <a:ext cx="1266737" cy="50333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 0.4</a:t>
            </a:r>
          </a:p>
        </p:txBody>
      </p:sp>
      <p:sp>
        <p:nvSpPr>
          <p:cNvPr id="16" name="Arrow: Curved Right 15">
            <a:extLst>
              <a:ext uri="{FF2B5EF4-FFF2-40B4-BE49-F238E27FC236}">
                <a16:creationId xmlns:a16="http://schemas.microsoft.com/office/drawing/2014/main" id="{BD6A38B9-C0BA-9400-229C-8E4D6C4771F6}"/>
              </a:ext>
            </a:extLst>
          </p:cNvPr>
          <p:cNvSpPr/>
          <p:nvPr/>
        </p:nvSpPr>
        <p:spPr>
          <a:xfrm rot="18270467">
            <a:off x="8161790" y="4332528"/>
            <a:ext cx="922562" cy="2352591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4BF26-9DB1-89FC-9587-ABAAD2E30B0F}"/>
              </a:ext>
            </a:extLst>
          </p:cNvPr>
          <p:cNvSpPr txBox="1"/>
          <p:nvPr/>
        </p:nvSpPr>
        <p:spPr>
          <a:xfrm rot="2924178">
            <a:off x="7860248" y="5258476"/>
            <a:ext cx="160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nothing: 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A62401-317B-450C-8FB0-34D680E85E1B}"/>
              </a:ext>
            </a:extLst>
          </p:cNvPr>
          <p:cNvGrpSpPr/>
          <p:nvPr/>
        </p:nvGrpSpPr>
        <p:grpSpPr>
          <a:xfrm>
            <a:off x="3225511" y="1995457"/>
            <a:ext cx="3024441" cy="752475"/>
            <a:chOff x="3225511" y="2524379"/>
            <a:chExt cx="3024441" cy="7524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9B463D7-C0B9-9A02-5A21-E505EBC71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7727" y="2524379"/>
              <a:ext cx="2562225" cy="752475"/>
            </a:xfrm>
            <a:prstGeom prst="rect">
              <a:avLst/>
            </a:prstGeom>
          </p:spPr>
        </p:pic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C766A115-AACF-7D62-398D-B5EEF10BB730}"/>
                </a:ext>
              </a:extLst>
            </p:cNvPr>
            <p:cNvSpPr/>
            <p:nvPr/>
          </p:nvSpPr>
          <p:spPr>
            <a:xfrm>
              <a:off x="3225511" y="2692407"/>
              <a:ext cx="411061" cy="27264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CA89E-9D36-107F-F6BE-FDA283DA2933}"/>
              </a:ext>
            </a:extLst>
          </p:cNvPr>
          <p:cNvSpPr/>
          <p:nvPr/>
        </p:nvSpPr>
        <p:spPr>
          <a:xfrm>
            <a:off x="6184408" y="2050522"/>
            <a:ext cx="23198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Strategy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51C4CB-DCEF-FB7F-85F6-EB02F3B4DCA9}"/>
              </a:ext>
            </a:extLst>
          </p:cNvPr>
          <p:cNvSpPr/>
          <p:nvPr/>
        </p:nvSpPr>
        <p:spPr>
          <a:xfrm>
            <a:off x="4739535" y="3669593"/>
            <a:ext cx="206159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Probabilistic</a:t>
            </a: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7032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B459B-1423-9446-35F5-C5159F75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08A3-B3E7-7A43-F0E9-223CBAFA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2D5F-1558-78E4-4100-B1E5F3ADF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924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Policy probability: to Avoid getting hit</a:t>
            </a:r>
          </a:p>
          <a:p>
            <a:pPr lvl="1"/>
            <a:r>
              <a:rPr lang="en-US" dirty="0"/>
              <a:t>50% - Jump</a:t>
            </a:r>
          </a:p>
          <a:p>
            <a:pPr lvl="1"/>
            <a:r>
              <a:rPr lang="en-US" dirty="0"/>
              <a:t>50% - Duck</a:t>
            </a:r>
          </a:p>
          <a:p>
            <a:endParaRPr lang="en-US" dirty="0"/>
          </a:p>
          <a:p>
            <a:r>
              <a:rPr lang="en-US" dirty="0"/>
              <a:t>State probability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Jump</a:t>
            </a:r>
            <a:r>
              <a:rPr lang="en-US" dirty="0"/>
              <a:t> (Hit:0.4, Safe: 0.6)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Duck</a:t>
            </a:r>
            <a:r>
              <a:rPr lang="en-US" dirty="0"/>
              <a:t> (Hit:0.8, Safe: 0.2)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V(Start) = </a:t>
            </a:r>
          </a:p>
          <a:p>
            <a:pPr marL="0" indent="0">
              <a:buNone/>
            </a:pPr>
            <a:r>
              <a:rPr lang="en-US" dirty="0"/>
              <a:t>	0.5 * ( 0.6 * (0 + 0) + (0.4 * (-1 + 0)) +</a:t>
            </a:r>
          </a:p>
          <a:p>
            <a:pPr marL="0" indent="0">
              <a:buNone/>
            </a:pPr>
            <a:r>
              <a:rPr lang="en-US" dirty="0"/>
              <a:t>	0.5 * ( 0.2 * (0 + 0) + (0.8 * (-1 + 0))</a:t>
            </a:r>
          </a:p>
          <a:p>
            <a:endParaRPr lang="en-US" dirty="0"/>
          </a:p>
        </p:txBody>
      </p:sp>
      <p:pic>
        <p:nvPicPr>
          <p:cNvPr id="10242" name="Picture 2" descr="Child Playing Dodgeball Ball Hit Face Stock Vector (Royalty Free) 320618987  | Shutterstock">
            <a:extLst>
              <a:ext uri="{FF2B5EF4-FFF2-40B4-BE49-F238E27FC236}">
                <a16:creationId xmlns:a16="http://schemas.microsoft.com/office/drawing/2014/main" id="{3909409A-FD18-454F-DA43-8ECE78A17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15"/>
          <a:stretch/>
        </p:blipFill>
        <p:spPr bwMode="auto">
          <a:xfrm>
            <a:off x="9415634" y="246604"/>
            <a:ext cx="1938165" cy="18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232F4BF-2A0B-EBCE-F295-33338B17FB3B}"/>
              </a:ext>
            </a:extLst>
          </p:cNvPr>
          <p:cNvSpPr/>
          <p:nvPr/>
        </p:nvSpPr>
        <p:spPr>
          <a:xfrm>
            <a:off x="7534459" y="3319507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EC4A23-914E-98BC-9C82-5BDB10824157}"/>
              </a:ext>
            </a:extLst>
          </p:cNvPr>
          <p:cNvSpPr/>
          <p:nvPr/>
        </p:nvSpPr>
        <p:spPr>
          <a:xfrm>
            <a:off x="9444493" y="2289081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Safe 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B1250A-DB15-3751-444E-D1E66BC54FBE}"/>
              </a:ext>
            </a:extLst>
          </p:cNvPr>
          <p:cNvSpPr/>
          <p:nvPr/>
        </p:nvSpPr>
        <p:spPr>
          <a:xfrm>
            <a:off x="9430151" y="4596824"/>
            <a:ext cx="1325460" cy="12247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Hit -1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BC6252-789E-E452-807D-2F94B3EB1A8B}"/>
              </a:ext>
            </a:extLst>
          </p:cNvPr>
          <p:cNvGrpSpPr/>
          <p:nvPr/>
        </p:nvGrpSpPr>
        <p:grpSpPr>
          <a:xfrm rot="11662187">
            <a:off x="8880825" y="2543740"/>
            <a:ext cx="806934" cy="1531894"/>
            <a:chOff x="6976926" y="3730051"/>
            <a:chExt cx="806934" cy="1531894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542E12E8-8F43-6EB4-0C6F-91CC01CFB275}"/>
                </a:ext>
              </a:extLst>
            </p:cNvPr>
            <p:cNvSpPr/>
            <p:nvPr/>
          </p:nvSpPr>
          <p:spPr>
            <a:xfrm rot="7899083">
              <a:off x="6595227" y="4111750"/>
              <a:ext cx="1266737" cy="503339"/>
            </a:xfrm>
            <a:prstGeom prst="rightArrow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 0.2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06464E0-3517-E3C5-3CCC-1CC0F6EFACC9}"/>
                </a:ext>
              </a:extLst>
            </p:cNvPr>
            <p:cNvSpPr/>
            <p:nvPr/>
          </p:nvSpPr>
          <p:spPr>
            <a:xfrm rot="7899083">
              <a:off x="6898822" y="4376907"/>
              <a:ext cx="1266737" cy="503339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 0.6</a:t>
              </a:r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B4DB982-8898-94AF-D776-932A4405F3C0}"/>
              </a:ext>
            </a:extLst>
          </p:cNvPr>
          <p:cNvSpPr/>
          <p:nvPr/>
        </p:nvSpPr>
        <p:spPr>
          <a:xfrm rot="2636138">
            <a:off x="8430300" y="4537206"/>
            <a:ext cx="1266737" cy="503339"/>
          </a:xfrm>
          <a:prstGeom prst="rightArrow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 0.8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FD9CACB-0D44-38CD-3B5B-15314E772E15}"/>
              </a:ext>
            </a:extLst>
          </p:cNvPr>
          <p:cNvSpPr/>
          <p:nvPr/>
        </p:nvSpPr>
        <p:spPr>
          <a:xfrm rot="2636138">
            <a:off x="8714406" y="4251332"/>
            <a:ext cx="1266737" cy="50333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 0.4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404ED9-59F4-AEAE-2FC5-235F6736BFF1}"/>
              </a:ext>
            </a:extLst>
          </p:cNvPr>
          <p:cNvSpPr txBox="1"/>
          <p:nvPr/>
        </p:nvSpPr>
        <p:spPr>
          <a:xfrm>
            <a:off x="1101055" y="4657115"/>
            <a:ext cx="727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Jump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B15E1-F7C4-7678-3000-54159D333877}"/>
              </a:ext>
            </a:extLst>
          </p:cNvPr>
          <p:cNvSpPr txBox="1"/>
          <p:nvPr/>
        </p:nvSpPr>
        <p:spPr>
          <a:xfrm>
            <a:off x="1092647" y="5088794"/>
            <a:ext cx="727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Duck</a:t>
            </a:r>
            <a:endParaRPr lang="en-US" dirty="0"/>
          </a:p>
        </p:txBody>
      </p:sp>
      <p:sp>
        <p:nvSpPr>
          <p:cNvPr id="16" name="Arrow: Curved Right 15">
            <a:extLst>
              <a:ext uri="{FF2B5EF4-FFF2-40B4-BE49-F238E27FC236}">
                <a16:creationId xmlns:a16="http://schemas.microsoft.com/office/drawing/2014/main" id="{64AF1127-AC98-7908-3B51-061D943622E7}"/>
              </a:ext>
            </a:extLst>
          </p:cNvPr>
          <p:cNvSpPr/>
          <p:nvPr/>
        </p:nvSpPr>
        <p:spPr>
          <a:xfrm rot="18270467">
            <a:off x="8161790" y="4332528"/>
            <a:ext cx="922562" cy="2352591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95A3C-B959-D94E-6EA4-0B813138BCD0}"/>
              </a:ext>
            </a:extLst>
          </p:cNvPr>
          <p:cNvSpPr txBox="1"/>
          <p:nvPr/>
        </p:nvSpPr>
        <p:spPr>
          <a:xfrm rot="2924178">
            <a:off x="7860248" y="5258476"/>
            <a:ext cx="160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nothing: 1</a:t>
            </a:r>
          </a:p>
        </p:txBody>
      </p:sp>
      <p:pic>
        <p:nvPicPr>
          <p:cNvPr id="10244" name="Picture 4" descr="Defining the Bellman equation | TensorFlow Reinforcement Learning Quick  Start Guide">
            <a:extLst>
              <a:ext uri="{FF2B5EF4-FFF2-40B4-BE49-F238E27FC236}">
                <a16:creationId xmlns:a16="http://schemas.microsoft.com/office/drawing/2014/main" id="{A023F8E1-310E-2E00-4400-B551ACD8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24" y="5989877"/>
            <a:ext cx="6916612" cy="94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6AE77BA-4964-914E-81AD-F841724E9F9D}"/>
              </a:ext>
            </a:extLst>
          </p:cNvPr>
          <p:cNvGrpSpPr/>
          <p:nvPr/>
        </p:nvGrpSpPr>
        <p:grpSpPr>
          <a:xfrm>
            <a:off x="3257901" y="1753269"/>
            <a:ext cx="3026594" cy="752475"/>
            <a:chOff x="3257901" y="2282191"/>
            <a:chExt cx="3026594" cy="7524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E857933-8DE5-53E6-9350-765BE4928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22270" y="2282191"/>
              <a:ext cx="2562225" cy="752475"/>
            </a:xfrm>
            <a:prstGeom prst="rect">
              <a:avLst/>
            </a:prstGeom>
          </p:spPr>
        </p:pic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7CA115B-4F3F-D200-C1E7-28F8193CE3B1}"/>
                </a:ext>
              </a:extLst>
            </p:cNvPr>
            <p:cNvSpPr/>
            <p:nvPr/>
          </p:nvSpPr>
          <p:spPr>
            <a:xfrm>
              <a:off x="3257901" y="2522106"/>
              <a:ext cx="411061" cy="27264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DA8290C-B6FE-FA19-4437-FA30843F5437}"/>
              </a:ext>
            </a:extLst>
          </p:cNvPr>
          <p:cNvSpPr/>
          <p:nvPr/>
        </p:nvSpPr>
        <p:spPr>
          <a:xfrm>
            <a:off x="6232488" y="1653139"/>
            <a:ext cx="23198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Strategy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042E5-A1CE-03F1-F98E-2AE52D47B0E9}"/>
              </a:ext>
            </a:extLst>
          </p:cNvPr>
          <p:cNvSpPr/>
          <p:nvPr/>
        </p:nvSpPr>
        <p:spPr>
          <a:xfrm>
            <a:off x="4496769" y="3036820"/>
            <a:ext cx="206159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Probabilistic</a:t>
            </a: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B21997-BE0D-9413-4DB1-92969318EDCD}"/>
              </a:ext>
            </a:extLst>
          </p:cNvPr>
          <p:cNvSpPr txBox="1"/>
          <p:nvPr/>
        </p:nvSpPr>
        <p:spPr>
          <a:xfrm>
            <a:off x="1638101" y="5452107"/>
            <a:ext cx="92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</a:t>
            </a:r>
            <a:endParaRPr lang="en-IL" dirty="0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52F0C688-0A6E-83C4-6C5C-029B8A06AD32}"/>
              </a:ext>
            </a:extLst>
          </p:cNvPr>
          <p:cNvSpPr/>
          <p:nvPr/>
        </p:nvSpPr>
        <p:spPr>
          <a:xfrm rot="16200000">
            <a:off x="1987435" y="5212385"/>
            <a:ext cx="124877" cy="58030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DDA979-DC83-006D-D5FD-261C6BBC5428}"/>
              </a:ext>
            </a:extLst>
          </p:cNvPr>
          <p:cNvSpPr txBox="1"/>
          <p:nvPr/>
        </p:nvSpPr>
        <p:spPr>
          <a:xfrm>
            <a:off x="3524433" y="5443142"/>
            <a:ext cx="1644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Transition</a:t>
            </a:r>
            <a:endParaRPr lang="en-IL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A5460067-A4B5-3D9A-4491-B3E44E43B2F9}"/>
              </a:ext>
            </a:extLst>
          </p:cNvPr>
          <p:cNvSpPr/>
          <p:nvPr/>
        </p:nvSpPr>
        <p:spPr>
          <a:xfrm rot="16200000">
            <a:off x="4492975" y="3556522"/>
            <a:ext cx="124876" cy="387023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9438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8218-0FB9-3E5E-DC95-4A187B8D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Circular MDP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5D0E-390B-8585-914F-4CFF24B8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move backwards… endless cycle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BD208E-9B43-E500-7A96-4E5A8D5DBEAA}"/>
              </a:ext>
            </a:extLst>
          </p:cNvPr>
          <p:cNvSpPr/>
          <p:nvPr/>
        </p:nvSpPr>
        <p:spPr>
          <a:xfrm>
            <a:off x="2332139" y="4832059"/>
            <a:ext cx="1451296" cy="14345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-0.1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DE3417-9BD6-C093-B7BA-E30DBF0EAD69}"/>
              </a:ext>
            </a:extLst>
          </p:cNvPr>
          <p:cNvSpPr/>
          <p:nvPr/>
        </p:nvSpPr>
        <p:spPr>
          <a:xfrm>
            <a:off x="5773023" y="4832059"/>
            <a:ext cx="1451296" cy="14345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-0.1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5BF250-FDD2-A3CD-B803-F76C5A0FDE35}"/>
              </a:ext>
            </a:extLst>
          </p:cNvPr>
          <p:cNvSpPr/>
          <p:nvPr/>
        </p:nvSpPr>
        <p:spPr>
          <a:xfrm>
            <a:off x="5773023" y="2611583"/>
            <a:ext cx="1451296" cy="14345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= +1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DC501C-E6E1-7581-B6C2-9832403A8E66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6498671" y="4046101"/>
            <a:ext cx="0" cy="7859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F02D5691-7520-2CD6-96EC-8969F5E902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71879" y="4824495"/>
            <a:ext cx="12700" cy="2414662"/>
          </a:xfrm>
          <a:prstGeom prst="curvedConnector3">
            <a:avLst>
              <a:gd name="adj1" fmla="val -3877937"/>
            </a:avLst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ACF5F20-FF4A-1892-3AD3-32EADD1DCDDC}"/>
              </a:ext>
            </a:extLst>
          </p:cNvPr>
          <p:cNvCxnSpPr>
            <a:cxnSpLocks/>
            <a:stCxn id="4" idx="7"/>
            <a:endCxn id="5" idx="1"/>
          </p:cNvCxnSpPr>
          <p:nvPr/>
        </p:nvCxnSpPr>
        <p:spPr>
          <a:xfrm rot="5400000" flipH="1" flipV="1">
            <a:off x="4778229" y="3834808"/>
            <a:ext cx="12700" cy="2414662"/>
          </a:xfrm>
          <a:prstGeom prst="curvedConnector3">
            <a:avLst>
              <a:gd name="adj1" fmla="val 3454173"/>
            </a:avLst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EAC8E0-6843-BCE4-EEB7-B6D5BA1DFD06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rot="5400000" flipH="1">
            <a:off x="2037497" y="5549318"/>
            <a:ext cx="1014358" cy="12700"/>
          </a:xfrm>
          <a:prstGeom prst="curvedConnector5">
            <a:avLst>
              <a:gd name="adj1" fmla="val -22536"/>
              <a:gd name="adj2" fmla="val 11554008"/>
              <a:gd name="adj3" fmla="val 122536"/>
            </a:avLst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0059384-CFEA-F14B-8041-00E05C32D059}"/>
              </a:ext>
            </a:extLst>
          </p:cNvPr>
          <p:cNvSpPr txBox="1"/>
          <p:nvPr/>
        </p:nvSpPr>
        <p:spPr>
          <a:xfrm>
            <a:off x="6498671" y="4322868"/>
            <a:ext cx="66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C41238-8E8F-C50F-3D86-9C38A69FCC8C}"/>
              </a:ext>
            </a:extLst>
          </p:cNvPr>
          <p:cNvSpPr txBox="1"/>
          <p:nvPr/>
        </p:nvSpPr>
        <p:spPr>
          <a:xfrm>
            <a:off x="4478323" y="4138202"/>
            <a:ext cx="66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0C34E8-F145-5F79-7578-E2314DE5E8A9}"/>
              </a:ext>
            </a:extLst>
          </p:cNvPr>
          <p:cNvSpPr txBox="1"/>
          <p:nvPr/>
        </p:nvSpPr>
        <p:spPr>
          <a:xfrm>
            <a:off x="1253805" y="5364652"/>
            <a:ext cx="66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23A5F-ECF7-C965-4157-908AA1F62AAB}"/>
              </a:ext>
            </a:extLst>
          </p:cNvPr>
          <p:cNvSpPr txBox="1"/>
          <p:nvPr/>
        </p:nvSpPr>
        <p:spPr>
          <a:xfrm>
            <a:off x="4534264" y="6038176"/>
            <a:ext cx="66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0.7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37E9180-3EB9-1175-6C0F-5866337E1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8" y="3211430"/>
            <a:ext cx="4835203" cy="9843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256F7F-D4FE-1262-33F4-A4AF4C065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093" y="5035790"/>
            <a:ext cx="4782785" cy="101723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09208DA-EFE4-0697-037D-C0A95CA07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259" y="3011649"/>
            <a:ext cx="1514609" cy="5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0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B9AD7-E98D-C11D-DD89-87541092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/>
              <a:t>Solving linear equations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DEFA-AB19-0FD2-3255-835153A5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/>
              <a:t>V can be calculated by solving n linear equations with n variables (V1,V2……, Vn)</a:t>
            </a:r>
          </a:p>
          <a:p>
            <a:r>
              <a:rPr lang="en-US" sz="2200"/>
              <a:t>In practice, In many cases it is not feasible to solve it in this manner since the number of states is very large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33B2C-072D-EDE7-EF14-D9E48E7E6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810339"/>
            <a:ext cx="10917936" cy="29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1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3CD79-3B79-41AC-8CD0-AAEC9903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07AA-9543-4600-A497-E05E8E92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6" y="2280603"/>
            <a:ext cx="5933874" cy="554604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The G function is the sum of future rewards</a:t>
            </a:r>
          </a:p>
          <a:p>
            <a:r>
              <a:rPr lang="en-US" sz="1800" dirty="0"/>
              <a:t>The V function is the sum of future rewards in a </a:t>
            </a:r>
            <a:r>
              <a:rPr lang="en-US" sz="1800" b="1" dirty="0"/>
              <a:t>probabilistic environment. 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new state </a:t>
            </a:r>
            <a:r>
              <a:rPr lang="en-US" sz="1800" dirty="0"/>
              <a:t>can be probabilistic, unpredictable environment (e.g. slippery road)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policy</a:t>
            </a:r>
            <a:r>
              <a:rPr lang="en-US" sz="1800" dirty="0"/>
              <a:t> can be probabilistic, agent tactics (e.g. 50% jump/50% duck)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rewards</a:t>
            </a:r>
            <a:r>
              <a:rPr lang="en-US" sz="1800" dirty="0"/>
              <a:t> can be probabilistic (</a:t>
            </a:r>
            <a:r>
              <a:rPr lang="en-US" sz="1800"/>
              <a:t>e.g. uncertainty </a:t>
            </a:r>
            <a:r>
              <a:rPr lang="en-US" sz="1800" dirty="0"/>
              <a:t>in the amount of gold we will find)</a:t>
            </a:r>
          </a:p>
          <a:p>
            <a:r>
              <a:rPr lang="en-US" sz="1800" dirty="0"/>
              <a:t>We can solve the V values using the “Working Backward Method” or “Linear Equations” in the case there are loops.</a:t>
            </a:r>
          </a:p>
          <a:p>
            <a:br>
              <a:rPr lang="en-US" sz="1300" dirty="0"/>
            </a:br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pPr marL="0" indent="0">
              <a:buNone/>
            </a:pPr>
            <a:r>
              <a:rPr lang="en-US" sz="1300" dirty="0"/>
              <a:t> </a:t>
            </a:r>
          </a:p>
        </p:txBody>
      </p:sp>
      <p:pic>
        <p:nvPicPr>
          <p:cNvPr id="3078" name="Picture 6" descr="Take Home Message for Women">
            <a:extLst>
              <a:ext uri="{FF2B5EF4-FFF2-40B4-BE49-F238E27FC236}">
                <a16:creationId xmlns:a16="http://schemas.microsoft.com/office/drawing/2014/main" id="{4CC3BE3B-28B7-4776-923E-64749F822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7922" y="231808"/>
            <a:ext cx="2394931" cy="220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10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17894</TotalTime>
  <Words>680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V  - Value function</vt:lpstr>
      <vt:lpstr>Welcome to the probabilistic world</vt:lpstr>
      <vt:lpstr>Value function =  G function + probability</vt:lpstr>
      <vt:lpstr>Sometime you eat the bear, sometime the bear eats you</vt:lpstr>
      <vt:lpstr>What is the next state (the position of the car in the near future)</vt:lpstr>
      <vt:lpstr>Action -&gt; State probability</vt:lpstr>
      <vt:lpstr>Action -&gt; State probability</vt:lpstr>
      <vt:lpstr>Action -&gt; State probability</vt:lpstr>
      <vt:lpstr>The Bellman Equation</vt:lpstr>
      <vt:lpstr>Slippery/Windy GridWorld</vt:lpstr>
      <vt:lpstr>https://websim.ai/@snowyfield91121232/gridworld-rl-simulation/28</vt:lpstr>
      <vt:lpstr>Bellman Example #1</vt:lpstr>
      <vt:lpstr>Bellman Example #2</vt:lpstr>
      <vt:lpstr>Probabilistic Action</vt:lpstr>
      <vt:lpstr>Probabilistic Action</vt:lpstr>
      <vt:lpstr>Probabilistic Action</vt:lpstr>
      <vt:lpstr>Circular MDP</vt:lpstr>
      <vt:lpstr>Solving linear equations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 &amp; V functions</dc:title>
  <dc:creator>benny bornfeld</dc:creator>
  <cp:lastModifiedBy>benny bornfeld</cp:lastModifiedBy>
  <cp:revision>67</cp:revision>
  <dcterms:created xsi:type="dcterms:W3CDTF">2023-08-05T16:45:38Z</dcterms:created>
  <dcterms:modified xsi:type="dcterms:W3CDTF">2026-04-18T14:47:36Z</dcterms:modified>
</cp:coreProperties>
</file>