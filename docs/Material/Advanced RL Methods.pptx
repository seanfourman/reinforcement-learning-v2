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0" r:id="rId2"/>
    <p:sldId id="281" r:id="rId3"/>
    <p:sldId id="282" r:id="rId4"/>
    <p:sldId id="283" r:id="rId5"/>
    <p:sldId id="284" r:id="rId6"/>
    <p:sldId id="285" r:id="rId7"/>
    <p:sldId id="256" r:id="rId8"/>
    <p:sldId id="260" r:id="rId9"/>
    <p:sldId id="261" r:id="rId10"/>
    <p:sldId id="263" r:id="rId11"/>
    <p:sldId id="269" r:id="rId12"/>
    <p:sldId id="264" r:id="rId13"/>
    <p:sldId id="265" r:id="rId14"/>
    <p:sldId id="272" r:id="rId15"/>
    <p:sldId id="286" r:id="rId16"/>
    <p:sldId id="274" r:id="rId17"/>
    <p:sldId id="273" r:id="rId18"/>
    <p:sldId id="275" r:id="rId19"/>
    <p:sldId id="276" r:id="rId20"/>
    <p:sldId id="277" r:id="rId21"/>
    <p:sldId id="279" r:id="rId22"/>
    <p:sldId id="288" r:id="rId23"/>
    <p:sldId id="289" r:id="rId24"/>
    <p:sldId id="278" r:id="rId25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892" autoAdjust="0"/>
    <p:restoredTop sz="94660"/>
  </p:normalViewPr>
  <p:slideViewPr>
    <p:cSldViewPr snapToGrid="0">
      <p:cViewPr varScale="1">
        <p:scale>
          <a:sx n="83" d="100"/>
          <a:sy n="83" d="100"/>
        </p:scale>
        <p:origin x="126" y="8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3C6AEEA-9921-4107-8EBA-254F6F30D183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1776DAB5-6AE7-4823-8804-2E9765CF301F}">
      <dgm:prSet/>
      <dgm:spPr/>
      <dgm:t>
        <a:bodyPr/>
        <a:lstStyle/>
        <a:p>
          <a:r>
            <a:rPr lang="en-US"/>
            <a:t>Causality</a:t>
          </a:r>
        </a:p>
      </dgm:t>
    </dgm:pt>
    <dgm:pt modelId="{E3F2ECD1-BFDF-49CA-9FEA-C820A886C8CE}" type="parTrans" cxnId="{2CD263C3-E3D9-4679-9136-384ACFB18347}">
      <dgm:prSet/>
      <dgm:spPr/>
      <dgm:t>
        <a:bodyPr/>
        <a:lstStyle/>
        <a:p>
          <a:endParaRPr lang="en-US"/>
        </a:p>
      </dgm:t>
    </dgm:pt>
    <dgm:pt modelId="{B08F2768-51B9-4842-8BBC-FE6A4F93A01F}" type="sibTrans" cxnId="{2CD263C3-E3D9-4679-9136-384ACFB18347}">
      <dgm:prSet/>
      <dgm:spPr/>
      <dgm:t>
        <a:bodyPr/>
        <a:lstStyle/>
        <a:p>
          <a:endParaRPr lang="en-US"/>
        </a:p>
      </dgm:t>
    </dgm:pt>
    <dgm:pt modelId="{E228D0A6-EF2D-4C54-8371-D7444111187F}">
      <dgm:prSet/>
      <dgm:spPr/>
      <dgm:t>
        <a:bodyPr/>
        <a:lstStyle/>
        <a:p>
          <a:r>
            <a:rPr lang="en-US"/>
            <a:t>Baseline</a:t>
          </a:r>
        </a:p>
      </dgm:t>
    </dgm:pt>
    <dgm:pt modelId="{14726AE7-965C-4646-8B82-9C65D32C9F17}" type="parTrans" cxnId="{A4D5C997-602D-4613-AAA1-AC20CE69654C}">
      <dgm:prSet/>
      <dgm:spPr/>
      <dgm:t>
        <a:bodyPr/>
        <a:lstStyle/>
        <a:p>
          <a:endParaRPr lang="en-US"/>
        </a:p>
      </dgm:t>
    </dgm:pt>
    <dgm:pt modelId="{27C884BC-9306-4D8C-B1E4-18FBE0B7D47B}" type="sibTrans" cxnId="{A4D5C997-602D-4613-AAA1-AC20CE69654C}">
      <dgm:prSet/>
      <dgm:spPr/>
      <dgm:t>
        <a:bodyPr/>
        <a:lstStyle/>
        <a:p>
          <a:endParaRPr lang="en-US"/>
        </a:p>
      </dgm:t>
    </dgm:pt>
    <dgm:pt modelId="{CE7C9A54-1836-4CA1-914E-22B4E7F8561F}">
      <dgm:prSet/>
      <dgm:spPr/>
      <dgm:t>
        <a:bodyPr/>
        <a:lstStyle/>
        <a:p>
          <a:r>
            <a:rPr lang="en-US"/>
            <a:t>Advantage functions</a:t>
          </a:r>
        </a:p>
      </dgm:t>
    </dgm:pt>
    <dgm:pt modelId="{7DD84F47-D54D-44EE-A99A-54B5C0A53A77}" type="parTrans" cxnId="{3FA2DB53-D80A-445F-81BB-7DDA2AACAFD3}">
      <dgm:prSet/>
      <dgm:spPr/>
      <dgm:t>
        <a:bodyPr/>
        <a:lstStyle/>
        <a:p>
          <a:endParaRPr lang="en-US"/>
        </a:p>
      </dgm:t>
    </dgm:pt>
    <dgm:pt modelId="{2B8C5D18-F6BA-4E6D-BFCD-C20E5D992D0D}" type="sibTrans" cxnId="{3FA2DB53-D80A-445F-81BB-7DDA2AACAFD3}">
      <dgm:prSet/>
      <dgm:spPr/>
      <dgm:t>
        <a:bodyPr/>
        <a:lstStyle/>
        <a:p>
          <a:endParaRPr lang="en-US"/>
        </a:p>
      </dgm:t>
    </dgm:pt>
    <dgm:pt modelId="{0B8099F2-A887-4065-94E2-CE100042F0BE}" type="pres">
      <dgm:prSet presAssocID="{53C6AEEA-9921-4107-8EBA-254F6F30D18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6605FC6-A925-4040-B42C-1154D320C7E4}" type="pres">
      <dgm:prSet presAssocID="{1776DAB5-6AE7-4823-8804-2E9765CF301F}" presName="hierRoot1" presStyleCnt="0"/>
      <dgm:spPr/>
    </dgm:pt>
    <dgm:pt modelId="{E605C5BA-9964-415C-822C-A2C3859987F9}" type="pres">
      <dgm:prSet presAssocID="{1776DAB5-6AE7-4823-8804-2E9765CF301F}" presName="composite" presStyleCnt="0"/>
      <dgm:spPr/>
    </dgm:pt>
    <dgm:pt modelId="{A42C3030-6013-4C25-8713-177BA60DE176}" type="pres">
      <dgm:prSet presAssocID="{1776DAB5-6AE7-4823-8804-2E9765CF301F}" presName="background" presStyleLbl="node0" presStyleIdx="0" presStyleCnt="3"/>
      <dgm:spPr/>
    </dgm:pt>
    <dgm:pt modelId="{BA267CB2-4A1E-49D2-BAA6-2EC3E610DA59}" type="pres">
      <dgm:prSet presAssocID="{1776DAB5-6AE7-4823-8804-2E9765CF301F}" presName="text" presStyleLbl="fgAcc0" presStyleIdx="0" presStyleCnt="3">
        <dgm:presLayoutVars>
          <dgm:chPref val="3"/>
        </dgm:presLayoutVars>
      </dgm:prSet>
      <dgm:spPr/>
    </dgm:pt>
    <dgm:pt modelId="{DD8D458F-9022-4774-84B1-44CA43AF6215}" type="pres">
      <dgm:prSet presAssocID="{1776DAB5-6AE7-4823-8804-2E9765CF301F}" presName="hierChild2" presStyleCnt="0"/>
      <dgm:spPr/>
    </dgm:pt>
    <dgm:pt modelId="{E87263E9-041E-49E4-BDE2-03151BA3B700}" type="pres">
      <dgm:prSet presAssocID="{E228D0A6-EF2D-4C54-8371-D7444111187F}" presName="hierRoot1" presStyleCnt="0"/>
      <dgm:spPr/>
    </dgm:pt>
    <dgm:pt modelId="{BE1CA2CE-1D9E-4A91-B520-6264AC5D740E}" type="pres">
      <dgm:prSet presAssocID="{E228D0A6-EF2D-4C54-8371-D7444111187F}" presName="composite" presStyleCnt="0"/>
      <dgm:spPr/>
    </dgm:pt>
    <dgm:pt modelId="{9C783190-E0A0-4B20-98FC-50D118E6F8E2}" type="pres">
      <dgm:prSet presAssocID="{E228D0A6-EF2D-4C54-8371-D7444111187F}" presName="background" presStyleLbl="node0" presStyleIdx="1" presStyleCnt="3"/>
      <dgm:spPr/>
    </dgm:pt>
    <dgm:pt modelId="{CAD6A0F8-889F-4B35-979B-92EBB277B65F}" type="pres">
      <dgm:prSet presAssocID="{E228D0A6-EF2D-4C54-8371-D7444111187F}" presName="text" presStyleLbl="fgAcc0" presStyleIdx="1" presStyleCnt="3">
        <dgm:presLayoutVars>
          <dgm:chPref val="3"/>
        </dgm:presLayoutVars>
      </dgm:prSet>
      <dgm:spPr/>
    </dgm:pt>
    <dgm:pt modelId="{DE467390-AE3E-4BFE-99BA-A0C8A7F870FD}" type="pres">
      <dgm:prSet presAssocID="{E228D0A6-EF2D-4C54-8371-D7444111187F}" presName="hierChild2" presStyleCnt="0"/>
      <dgm:spPr/>
    </dgm:pt>
    <dgm:pt modelId="{DD14E11C-91D2-4BE7-9B26-FA9DA0F60E21}" type="pres">
      <dgm:prSet presAssocID="{CE7C9A54-1836-4CA1-914E-22B4E7F8561F}" presName="hierRoot1" presStyleCnt="0"/>
      <dgm:spPr/>
    </dgm:pt>
    <dgm:pt modelId="{1F845C31-0630-4F07-8BED-24FC83AE7BC1}" type="pres">
      <dgm:prSet presAssocID="{CE7C9A54-1836-4CA1-914E-22B4E7F8561F}" presName="composite" presStyleCnt="0"/>
      <dgm:spPr/>
    </dgm:pt>
    <dgm:pt modelId="{65070E92-5C80-4DD4-86E9-775CE4F01546}" type="pres">
      <dgm:prSet presAssocID="{CE7C9A54-1836-4CA1-914E-22B4E7F8561F}" presName="background" presStyleLbl="node0" presStyleIdx="2" presStyleCnt="3"/>
      <dgm:spPr/>
    </dgm:pt>
    <dgm:pt modelId="{0B05AEA5-5DD7-4896-8738-91A4833E7BA1}" type="pres">
      <dgm:prSet presAssocID="{CE7C9A54-1836-4CA1-914E-22B4E7F8561F}" presName="text" presStyleLbl="fgAcc0" presStyleIdx="2" presStyleCnt="3">
        <dgm:presLayoutVars>
          <dgm:chPref val="3"/>
        </dgm:presLayoutVars>
      </dgm:prSet>
      <dgm:spPr/>
    </dgm:pt>
    <dgm:pt modelId="{73D35799-15C8-4566-B43D-49FD40D22A36}" type="pres">
      <dgm:prSet presAssocID="{CE7C9A54-1836-4CA1-914E-22B4E7F8561F}" presName="hierChild2" presStyleCnt="0"/>
      <dgm:spPr/>
    </dgm:pt>
  </dgm:ptLst>
  <dgm:cxnLst>
    <dgm:cxn modelId="{684B0169-DE1A-4C40-BB53-825CC90DB700}" type="presOf" srcId="{E228D0A6-EF2D-4C54-8371-D7444111187F}" destId="{CAD6A0F8-889F-4B35-979B-92EBB277B65F}" srcOrd="0" destOrd="0" presId="urn:microsoft.com/office/officeart/2005/8/layout/hierarchy1"/>
    <dgm:cxn modelId="{ABF93E69-1EED-43ED-BE1A-90B7F6B6ADAE}" type="presOf" srcId="{CE7C9A54-1836-4CA1-914E-22B4E7F8561F}" destId="{0B05AEA5-5DD7-4896-8738-91A4833E7BA1}" srcOrd="0" destOrd="0" presId="urn:microsoft.com/office/officeart/2005/8/layout/hierarchy1"/>
    <dgm:cxn modelId="{3FA2DB53-D80A-445F-81BB-7DDA2AACAFD3}" srcId="{53C6AEEA-9921-4107-8EBA-254F6F30D183}" destId="{CE7C9A54-1836-4CA1-914E-22B4E7F8561F}" srcOrd="2" destOrd="0" parTransId="{7DD84F47-D54D-44EE-A99A-54B5C0A53A77}" sibTransId="{2B8C5D18-F6BA-4E6D-BFCD-C20E5D992D0D}"/>
    <dgm:cxn modelId="{F5DC2B7A-B94A-4044-9903-7FC9CA762E03}" type="presOf" srcId="{1776DAB5-6AE7-4823-8804-2E9765CF301F}" destId="{BA267CB2-4A1E-49D2-BAA6-2EC3E610DA59}" srcOrd="0" destOrd="0" presId="urn:microsoft.com/office/officeart/2005/8/layout/hierarchy1"/>
    <dgm:cxn modelId="{A4D5C997-602D-4613-AAA1-AC20CE69654C}" srcId="{53C6AEEA-9921-4107-8EBA-254F6F30D183}" destId="{E228D0A6-EF2D-4C54-8371-D7444111187F}" srcOrd="1" destOrd="0" parTransId="{14726AE7-965C-4646-8B82-9C65D32C9F17}" sibTransId="{27C884BC-9306-4D8C-B1E4-18FBE0B7D47B}"/>
    <dgm:cxn modelId="{2CD263C3-E3D9-4679-9136-384ACFB18347}" srcId="{53C6AEEA-9921-4107-8EBA-254F6F30D183}" destId="{1776DAB5-6AE7-4823-8804-2E9765CF301F}" srcOrd="0" destOrd="0" parTransId="{E3F2ECD1-BFDF-49CA-9FEA-C820A886C8CE}" sibTransId="{B08F2768-51B9-4842-8BBC-FE6A4F93A01F}"/>
    <dgm:cxn modelId="{7F11AEF4-514B-4B13-8525-B288E41E4615}" type="presOf" srcId="{53C6AEEA-9921-4107-8EBA-254F6F30D183}" destId="{0B8099F2-A887-4065-94E2-CE100042F0BE}" srcOrd="0" destOrd="0" presId="urn:microsoft.com/office/officeart/2005/8/layout/hierarchy1"/>
    <dgm:cxn modelId="{19100547-18EF-4D73-A63A-8C77CF79E7CD}" type="presParOf" srcId="{0B8099F2-A887-4065-94E2-CE100042F0BE}" destId="{46605FC6-A925-4040-B42C-1154D320C7E4}" srcOrd="0" destOrd="0" presId="urn:microsoft.com/office/officeart/2005/8/layout/hierarchy1"/>
    <dgm:cxn modelId="{76945330-6267-4163-9D36-6F40FC968DA1}" type="presParOf" srcId="{46605FC6-A925-4040-B42C-1154D320C7E4}" destId="{E605C5BA-9964-415C-822C-A2C3859987F9}" srcOrd="0" destOrd="0" presId="urn:microsoft.com/office/officeart/2005/8/layout/hierarchy1"/>
    <dgm:cxn modelId="{F669B2C2-A048-4DC9-8B9D-7313CC6CC333}" type="presParOf" srcId="{E605C5BA-9964-415C-822C-A2C3859987F9}" destId="{A42C3030-6013-4C25-8713-177BA60DE176}" srcOrd="0" destOrd="0" presId="urn:microsoft.com/office/officeart/2005/8/layout/hierarchy1"/>
    <dgm:cxn modelId="{956B4236-EC98-412B-AA04-157BE8D0300E}" type="presParOf" srcId="{E605C5BA-9964-415C-822C-A2C3859987F9}" destId="{BA267CB2-4A1E-49D2-BAA6-2EC3E610DA59}" srcOrd="1" destOrd="0" presId="urn:microsoft.com/office/officeart/2005/8/layout/hierarchy1"/>
    <dgm:cxn modelId="{4A456641-26F2-458A-B31B-F9FE38D6A734}" type="presParOf" srcId="{46605FC6-A925-4040-B42C-1154D320C7E4}" destId="{DD8D458F-9022-4774-84B1-44CA43AF6215}" srcOrd="1" destOrd="0" presId="urn:microsoft.com/office/officeart/2005/8/layout/hierarchy1"/>
    <dgm:cxn modelId="{A87A420A-460C-42A7-BAEE-AFCD9EDD6E14}" type="presParOf" srcId="{0B8099F2-A887-4065-94E2-CE100042F0BE}" destId="{E87263E9-041E-49E4-BDE2-03151BA3B700}" srcOrd="1" destOrd="0" presId="urn:microsoft.com/office/officeart/2005/8/layout/hierarchy1"/>
    <dgm:cxn modelId="{6CF1DBC9-DFE4-4F8A-9691-12228A1FA810}" type="presParOf" srcId="{E87263E9-041E-49E4-BDE2-03151BA3B700}" destId="{BE1CA2CE-1D9E-4A91-B520-6264AC5D740E}" srcOrd="0" destOrd="0" presId="urn:microsoft.com/office/officeart/2005/8/layout/hierarchy1"/>
    <dgm:cxn modelId="{E632CD77-697C-44E9-ACF3-C74F56D85771}" type="presParOf" srcId="{BE1CA2CE-1D9E-4A91-B520-6264AC5D740E}" destId="{9C783190-E0A0-4B20-98FC-50D118E6F8E2}" srcOrd="0" destOrd="0" presId="urn:microsoft.com/office/officeart/2005/8/layout/hierarchy1"/>
    <dgm:cxn modelId="{65FA729F-D7B3-48D1-ACF6-E131E988AD21}" type="presParOf" srcId="{BE1CA2CE-1D9E-4A91-B520-6264AC5D740E}" destId="{CAD6A0F8-889F-4B35-979B-92EBB277B65F}" srcOrd="1" destOrd="0" presId="urn:microsoft.com/office/officeart/2005/8/layout/hierarchy1"/>
    <dgm:cxn modelId="{1999BA8E-C2CF-4B71-99E6-A8B7430CDE45}" type="presParOf" srcId="{E87263E9-041E-49E4-BDE2-03151BA3B700}" destId="{DE467390-AE3E-4BFE-99BA-A0C8A7F870FD}" srcOrd="1" destOrd="0" presId="urn:microsoft.com/office/officeart/2005/8/layout/hierarchy1"/>
    <dgm:cxn modelId="{088C1072-C695-4670-84EF-40E83D5E5BF6}" type="presParOf" srcId="{0B8099F2-A887-4065-94E2-CE100042F0BE}" destId="{DD14E11C-91D2-4BE7-9B26-FA9DA0F60E21}" srcOrd="2" destOrd="0" presId="urn:microsoft.com/office/officeart/2005/8/layout/hierarchy1"/>
    <dgm:cxn modelId="{88096F03-4ED6-4C7D-8126-AE0AC650EF53}" type="presParOf" srcId="{DD14E11C-91D2-4BE7-9B26-FA9DA0F60E21}" destId="{1F845C31-0630-4F07-8BED-24FC83AE7BC1}" srcOrd="0" destOrd="0" presId="urn:microsoft.com/office/officeart/2005/8/layout/hierarchy1"/>
    <dgm:cxn modelId="{F612F70D-2FD0-4431-880A-DD5C205A444D}" type="presParOf" srcId="{1F845C31-0630-4F07-8BED-24FC83AE7BC1}" destId="{65070E92-5C80-4DD4-86E9-775CE4F01546}" srcOrd="0" destOrd="0" presId="urn:microsoft.com/office/officeart/2005/8/layout/hierarchy1"/>
    <dgm:cxn modelId="{B96A1238-EE82-4E52-879D-AA0AA46ABCAE}" type="presParOf" srcId="{1F845C31-0630-4F07-8BED-24FC83AE7BC1}" destId="{0B05AEA5-5DD7-4896-8738-91A4833E7BA1}" srcOrd="1" destOrd="0" presId="urn:microsoft.com/office/officeart/2005/8/layout/hierarchy1"/>
    <dgm:cxn modelId="{83F5CA3C-05D5-445A-9244-6D143DA9BD48}" type="presParOf" srcId="{DD14E11C-91D2-4BE7-9B26-FA9DA0F60E21}" destId="{73D35799-15C8-4566-B43D-49FD40D22A3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2C3030-6013-4C25-8713-177BA60DE176}">
      <dsp:nvSpPr>
        <dsp:cNvPr id="0" name=""/>
        <dsp:cNvSpPr/>
      </dsp:nvSpPr>
      <dsp:spPr>
        <a:xfrm>
          <a:off x="0" y="706671"/>
          <a:ext cx="3073451" cy="195164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267CB2-4A1E-49D2-BAA6-2EC3E610DA59}">
      <dsp:nvSpPr>
        <dsp:cNvPr id="0" name=""/>
        <dsp:cNvSpPr/>
      </dsp:nvSpPr>
      <dsp:spPr>
        <a:xfrm>
          <a:off x="341494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Causality</a:t>
          </a:r>
        </a:p>
      </dsp:txBody>
      <dsp:txXfrm>
        <a:off x="398656" y="1088253"/>
        <a:ext cx="2959127" cy="1837317"/>
      </dsp:txXfrm>
    </dsp:sp>
    <dsp:sp modelId="{9C783190-E0A0-4B20-98FC-50D118E6F8E2}">
      <dsp:nvSpPr>
        <dsp:cNvPr id="0" name=""/>
        <dsp:cNvSpPr/>
      </dsp:nvSpPr>
      <dsp:spPr>
        <a:xfrm>
          <a:off x="3756441" y="706671"/>
          <a:ext cx="3073451" cy="195164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D6A0F8-889F-4B35-979B-92EBB277B65F}">
      <dsp:nvSpPr>
        <dsp:cNvPr id="0" name=""/>
        <dsp:cNvSpPr/>
      </dsp:nvSpPr>
      <dsp:spPr>
        <a:xfrm>
          <a:off x="4097935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Baseline</a:t>
          </a:r>
        </a:p>
      </dsp:txBody>
      <dsp:txXfrm>
        <a:off x="4155097" y="1088253"/>
        <a:ext cx="2959127" cy="1837317"/>
      </dsp:txXfrm>
    </dsp:sp>
    <dsp:sp modelId="{65070E92-5C80-4DD4-86E9-775CE4F01546}">
      <dsp:nvSpPr>
        <dsp:cNvPr id="0" name=""/>
        <dsp:cNvSpPr/>
      </dsp:nvSpPr>
      <dsp:spPr>
        <a:xfrm>
          <a:off x="7512882" y="706671"/>
          <a:ext cx="3073451" cy="195164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05AEA5-5DD7-4896-8738-91A4833E7BA1}">
      <dsp:nvSpPr>
        <dsp:cNvPr id="0" name=""/>
        <dsp:cNvSpPr/>
      </dsp:nvSpPr>
      <dsp:spPr>
        <a:xfrm>
          <a:off x="7854377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Advantage functions</a:t>
          </a:r>
        </a:p>
      </dsp:txBody>
      <dsp:txXfrm>
        <a:off x="7911539" y="1088253"/>
        <a:ext cx="2959127" cy="18373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5EF9D-5857-40C3-14EB-83885706A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ED35F9-222A-4EA7-F2F9-C5A1189742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F14505-0471-F11E-B7F2-592A7561D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F56D9-1563-4140-A3B2-2DA16B2C7E61}" type="datetimeFigureOut">
              <a:rPr lang="en-IL" smtClean="0"/>
              <a:t>16/06/2026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515EF2-F798-6DFD-0534-DDEE4FE4E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8088FF-1DD2-B193-9746-AB33E0D35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63F1F-9F90-45CC-ADE1-B4814C376CE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95686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12111-CFE2-21C1-3300-56A00584B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3235F-3503-B0A6-ED38-70B2D6A52E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C9E029-3F72-6670-D1B7-B658B38D9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F56D9-1563-4140-A3B2-2DA16B2C7E61}" type="datetimeFigureOut">
              <a:rPr lang="en-IL" smtClean="0"/>
              <a:t>16/06/2026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EF183D-C526-A8A3-E5F9-825512176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D36FF0-2254-2FC3-840A-EB0938AFC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63F1F-9F90-45CC-ADE1-B4814C376CE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65954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601A4-9F38-D657-97DC-418B7E51F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144AD1-3180-E8FF-BD3F-29FCD0DD85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15800C-DFF1-3515-5F46-90689EFC8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F56D9-1563-4140-A3B2-2DA16B2C7E61}" type="datetimeFigureOut">
              <a:rPr lang="en-IL" smtClean="0"/>
              <a:t>16/06/2026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FFE7F3-9079-A27C-C51D-EA993D6D4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A446B2-9AEB-B580-44E7-82E081A8E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63F1F-9F90-45CC-ADE1-B4814C376CE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21660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CF8BE-C9B4-039E-37ED-D2B01177B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60E5E-A854-0EF8-2C4C-F233806769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A96E58-908B-1C3C-3787-FBF32528E9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53C795-782C-6A45-20D5-85962C03A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F56D9-1563-4140-A3B2-2DA16B2C7E61}" type="datetimeFigureOut">
              <a:rPr lang="en-IL" smtClean="0"/>
              <a:t>16/06/2026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468C92-C584-3391-D13D-686C2CCEB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467E67-37BC-B11C-E3F4-ED30E2D27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63F1F-9F90-45CC-ADE1-B4814C376CE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94439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BFBD5-888E-037D-310F-B4A3574A9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06FF74-9720-6711-F472-F52B70DB4A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49F764-2C10-E180-3BE7-53E0BF6C13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07813F-937A-02E7-4BAD-D5D7BC2143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705610-21A9-1A86-C430-DA17605B41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C55AC4-2A74-961F-33FB-6E3C824F4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F56D9-1563-4140-A3B2-2DA16B2C7E61}" type="datetimeFigureOut">
              <a:rPr lang="en-IL" smtClean="0"/>
              <a:t>16/06/2026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57517A-E799-6274-5B66-3EC49FEB9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A28966-84CC-D0CE-6E22-FFC9DC5D7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63F1F-9F90-45CC-ADE1-B4814C376CE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17971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FBE4E-4728-1381-67AC-082598021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EE7ED3-6C92-A0E8-1E01-E15BF1ED8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F56D9-1563-4140-A3B2-2DA16B2C7E61}" type="datetimeFigureOut">
              <a:rPr lang="en-IL" smtClean="0"/>
              <a:t>16/06/2026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1F3DD1-84E8-D74C-13C1-51EB65FA9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0BDF7E-1DAD-7F2A-0001-F232838CD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63F1F-9F90-45CC-ADE1-B4814C376CE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37028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A85EA0-8CC5-0F42-44E6-715D7A683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F56D9-1563-4140-A3B2-2DA16B2C7E61}" type="datetimeFigureOut">
              <a:rPr lang="en-IL" smtClean="0"/>
              <a:t>16/06/2026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7F3F83-E478-F13D-4E65-C8CE60EB8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B4A36F-A06D-F3D1-CC0A-EA1B2FC89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63F1F-9F90-45CC-ADE1-B4814C376CE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87320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EC2AE-4555-917B-70DD-1317AE3D0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0F636B-B560-5BD1-E862-40A6C76D7A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949F68-89A0-0C65-68CE-1CC42989E5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609987-168B-73FA-17E8-33DB333DB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F56D9-1563-4140-A3B2-2DA16B2C7E61}" type="datetimeFigureOut">
              <a:rPr lang="en-IL" smtClean="0"/>
              <a:t>16/06/2026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E5765B-55B5-8C5A-6850-A1ADAC4CE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CB6941-3110-A938-19DF-B7780CB9B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63F1F-9F90-45CC-ADE1-B4814C376CE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73304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709AA-0CFF-F540-2BC3-0F48E202F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2BDB12-4222-268D-06C2-1F4F6CEBD0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A54739-4734-9668-0545-5D59B55DB5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D637C6-33F7-F687-0BF8-8ADEBCD5E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F56D9-1563-4140-A3B2-2DA16B2C7E61}" type="datetimeFigureOut">
              <a:rPr lang="en-IL" smtClean="0"/>
              <a:t>16/06/2026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FABBB5-4D18-D3CD-5DC2-B1D2F09D1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CDC9EF-2A25-2579-8567-4E76517A8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63F1F-9F90-45CC-ADE1-B4814C376CE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31629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FFFC2-C46E-7117-5312-CC1B87660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EE8FB1-EA1C-5CA3-AD35-075D7CCE34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7F7A99-3168-0C58-A152-DDB24C87F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F56D9-1563-4140-A3B2-2DA16B2C7E61}" type="datetimeFigureOut">
              <a:rPr lang="en-IL" smtClean="0"/>
              <a:t>16/06/2026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915FB8-E9E0-64AA-BB8D-B7A5F597C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8D79E-7283-6EF0-430C-B92E84134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63F1F-9F90-45CC-ADE1-B4814C376CE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466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F37676-ACE7-6065-434E-14DC714CC3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DE3E3C-D35E-C1EB-ACCB-187D59C6AD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A08767-AE77-F972-28A9-808CCB27A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F56D9-1563-4140-A3B2-2DA16B2C7E61}" type="datetimeFigureOut">
              <a:rPr lang="en-IL" smtClean="0"/>
              <a:t>16/06/2026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86A15-B33F-8ABD-F811-22CEA11EA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B2FCF5-A558-BE5E-682F-D22294202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63F1F-9F90-45CC-ADE1-B4814C376CE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55046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AC108E-211D-39F2-8112-B1DAD9BFB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51B434-F626-0665-928C-CAF492AABB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C0D45B-F9AB-73D1-ACF1-CFB6588642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EF56D9-1563-4140-A3B2-2DA16B2C7E61}" type="datetimeFigureOut">
              <a:rPr lang="en-IL" smtClean="0"/>
              <a:t>16/06/2026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922064-8C7F-A49B-5B7E-E1D6735E93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A638E8-4F7F-531F-30D1-594217C66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463F1F-9F90-45CC-ADE1-B4814C376CE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55915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36CAB1F-557E-4FA4-81CC-DC491EF834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065953-3D69-4CD4-80C3-DF10DEB4C7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30"/>
            <a:ext cx="8104091" cy="6857571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AB36DB5-F10D-4EDB-87E2-ECB9301FF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874250" y="627728"/>
            <a:ext cx="4355593" cy="810409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91000">
                <a:schemeClr val="tx2">
                  <a:lumMod val="50000"/>
                  <a:alpha val="13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6F195D-95DC-419E-BBC1-E2B601A60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-1"/>
            <a:ext cx="7646891" cy="6858001"/>
          </a:xfrm>
          <a:prstGeom prst="rect">
            <a:avLst/>
          </a:prstGeom>
          <a:gradFill>
            <a:gsLst>
              <a:gs pos="41000">
                <a:schemeClr val="accent1">
                  <a:lumMod val="75000"/>
                  <a:alpha val="52000"/>
                </a:schemeClr>
              </a:gs>
              <a:gs pos="95000">
                <a:srgbClr val="000000">
                  <a:alpha val="68000"/>
                </a:srgb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5550980-2AB6-4DE5-86DD-064ADF160E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2501118"/>
            <a:ext cx="8091784" cy="4331436"/>
          </a:xfrm>
          <a:prstGeom prst="rect">
            <a:avLst/>
          </a:prstGeom>
          <a:gradFill>
            <a:gsLst>
              <a:gs pos="0">
                <a:srgbClr val="000000">
                  <a:alpha val="16000"/>
                </a:srgbClr>
              </a:gs>
              <a:gs pos="91000">
                <a:schemeClr val="accent1">
                  <a:alpha val="3000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DF4B167-8E82-4458-AE55-88B683EBF6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1595" y="-3"/>
            <a:ext cx="8091784" cy="685799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6000"/>
                </a:schemeClr>
              </a:gs>
              <a:gs pos="99000">
                <a:srgbClr val="000000">
                  <a:alpha val="57000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5993D72-5628-4E5E-BB9F-96066414EE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2101742" y="699966"/>
            <a:ext cx="5121259" cy="5458067"/>
          </a:xfrm>
          <a:prstGeom prst="ellipse">
            <a:avLst/>
          </a:prstGeom>
          <a:gradFill>
            <a:gsLst>
              <a:gs pos="3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7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B0626E-C6B6-A9F6-4E65-39ACB58069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9125" y="2920878"/>
            <a:ext cx="5853227" cy="2992576"/>
          </a:xfrm>
        </p:spPr>
        <p:txBody>
          <a:bodyPr anchor="t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Leading RL Algorithms</a:t>
            </a:r>
            <a:endParaRPr lang="en-IL" sz="480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2DEC2D-5F0A-48C6-3E08-1D977998F8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21364" y="1017038"/>
            <a:ext cx="5091282" cy="1248274"/>
          </a:xfrm>
        </p:spPr>
        <p:txBody>
          <a:bodyPr anchor="b">
            <a:normAutofit/>
          </a:bodyPr>
          <a:lstStyle/>
          <a:p>
            <a:pPr algn="l"/>
            <a:r>
              <a:rPr lang="en-US">
                <a:solidFill>
                  <a:srgbClr val="FFFFFF"/>
                </a:solidFill>
              </a:rPr>
              <a:t>Benny Bornfeld</a:t>
            </a:r>
            <a:endParaRPr lang="en-IL">
              <a:solidFill>
                <a:srgbClr val="FFFFFF"/>
              </a:solidFill>
            </a:endParaRPr>
          </a:p>
        </p:txBody>
      </p:sp>
      <p:pic>
        <p:nvPicPr>
          <p:cNvPr id="4" name="Picture 3" descr="Dr. Richard Sutton">
            <a:extLst>
              <a:ext uri="{FF2B5EF4-FFF2-40B4-BE49-F238E27FC236}">
                <a16:creationId xmlns:a16="http://schemas.microsoft.com/office/drawing/2014/main" id="{F9CE70BF-3B7B-3525-C0B4-6758348AC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987" r="16271"/>
          <a:stretch>
            <a:fillRect/>
          </a:stretch>
        </p:blipFill>
        <p:spPr>
          <a:xfrm>
            <a:off x="8104092" y="10"/>
            <a:ext cx="4099858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054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9CDF8-DDCF-B498-DAE5-E1A7E2753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RL Mission characteristics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9CACA2-AA48-CEC1-150E-724E1A63C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Number of states/actions (Q-Table/Function approximation)</a:t>
            </a:r>
          </a:p>
          <a:p>
            <a:r>
              <a:rPr lang="en-US" dirty="0"/>
              <a:t>Discrete/Continues </a:t>
            </a:r>
            <a:r>
              <a:rPr lang="en-US" b="1" dirty="0"/>
              <a:t>states</a:t>
            </a:r>
            <a:r>
              <a:rPr lang="en-US" dirty="0"/>
              <a:t> (e.g. game board/ motion)</a:t>
            </a:r>
          </a:p>
          <a:p>
            <a:r>
              <a:rPr lang="en-US" dirty="0"/>
              <a:t>Discrete/Continues </a:t>
            </a:r>
            <a:r>
              <a:rPr lang="en-US" b="1" dirty="0"/>
              <a:t>actions</a:t>
            </a:r>
            <a:r>
              <a:rPr lang="en-US" dirty="0"/>
              <a:t>. Some missions can be described in both (e.g. Lunar Lander engines)</a:t>
            </a:r>
          </a:p>
          <a:p>
            <a:r>
              <a:rPr lang="en-US" dirty="0"/>
              <a:t>Deterministic/Stochastic </a:t>
            </a:r>
            <a:r>
              <a:rPr lang="en-US" b="1" dirty="0"/>
              <a:t>actions</a:t>
            </a:r>
            <a:r>
              <a:rPr lang="en-US" dirty="0"/>
              <a:t> (</a:t>
            </a:r>
            <a:r>
              <a:rPr lang="en-IL" dirty="0"/>
              <a:t>Robot welding</a:t>
            </a:r>
            <a:r>
              <a:rPr lang="en-US" dirty="0"/>
              <a:t>/Poker)</a:t>
            </a:r>
          </a:p>
          <a:p>
            <a:r>
              <a:rPr lang="en-US" dirty="0"/>
              <a:t>Reward Sparsity (Chess/Racing game)</a:t>
            </a:r>
            <a:br>
              <a:rPr lang="en-US" dirty="0"/>
            </a:br>
            <a:endParaRPr lang="en-US" dirty="0"/>
          </a:p>
          <a:p>
            <a:endParaRPr lang="en-US" dirty="0"/>
          </a:p>
          <a:p>
            <a:r>
              <a:rPr lang="en-US" dirty="0"/>
              <a:t>Model Free/Model Based</a:t>
            </a:r>
          </a:p>
          <a:p>
            <a:r>
              <a:rPr lang="en-US" dirty="0"/>
              <a:t>Model based – The environment expressed by F(S’, R|S,A)</a:t>
            </a:r>
          </a:p>
          <a:p>
            <a:pPr lvl="1"/>
            <a:r>
              <a:rPr lang="en-US" dirty="0"/>
              <a:t>A priory</a:t>
            </a:r>
          </a:p>
          <a:p>
            <a:pPr lvl="1"/>
            <a:r>
              <a:rPr lang="en-US" dirty="0"/>
              <a:t>Learned during training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8892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2C525-8DAD-DD0B-37CC-7EEFF4B90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Desired Solution Characteristics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88F46-DA24-A085-454E-8BA2A23BA9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Optimal Solution</a:t>
            </a:r>
          </a:p>
          <a:p>
            <a:r>
              <a:rPr lang="en-US" dirty="0"/>
              <a:t>Generalization</a:t>
            </a:r>
          </a:p>
          <a:p>
            <a:endParaRPr lang="en-US" dirty="0"/>
          </a:p>
          <a:p>
            <a:r>
              <a:rPr lang="en-US" dirty="0"/>
              <a:t>Stability</a:t>
            </a:r>
          </a:p>
          <a:p>
            <a:r>
              <a:rPr lang="en-US" dirty="0"/>
              <a:t>Low sensitivity to hyper-parameters</a:t>
            </a:r>
          </a:p>
          <a:p>
            <a:endParaRPr lang="en-US" dirty="0"/>
          </a:p>
          <a:p>
            <a:r>
              <a:rPr lang="en-US" dirty="0"/>
              <a:t>Complexity</a:t>
            </a:r>
          </a:p>
          <a:p>
            <a:r>
              <a:rPr lang="en-US" dirty="0"/>
              <a:t>Sample Efficiency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150995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8E85FA-CF16-A34E-D087-1E3D80BD1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Families of RL Algorithms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A81224E-7F03-D927-DE87-7E277710B2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59163" y="467208"/>
            <a:ext cx="6712277" cy="592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911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5E4CD4-F3E5-2CD6-FB92-C65CB7763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Value Based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941939C-4F41-3885-D88E-CCCE895744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5560"/>
          <a:stretch>
            <a:fillRect/>
          </a:stretch>
        </p:blipFill>
        <p:spPr>
          <a:xfrm>
            <a:off x="4502428" y="1080632"/>
            <a:ext cx="7225748" cy="39659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C41BF4-23E1-1C85-989B-2D2998DD72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0896" y="4823427"/>
            <a:ext cx="6933236" cy="1960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636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EF8EF2-2436-7529-62B5-2135102AE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1B54A9D-6FC4-A79E-ECE9-1AA34A7FA0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E47974-D708-A252-E536-7CAC14F7A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4E5C7C4-F40A-B002-5F12-B78F2087F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ABEDBF0-30F4-8672-985E-36C9D658B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FF8540F-9CAE-DF3E-0012-96082C013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4391D7-4F8B-777C-C09C-EB959CC26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Policy Based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87EC9CA-4AE3-A16D-1A97-69421CEF4C44}"/>
              </a:ext>
            </a:extLst>
          </p:cNvPr>
          <p:cNvGrpSpPr/>
          <p:nvPr/>
        </p:nvGrpSpPr>
        <p:grpSpPr>
          <a:xfrm>
            <a:off x="4870988" y="1961510"/>
            <a:ext cx="6288323" cy="2934550"/>
            <a:chOff x="4870988" y="1961510"/>
            <a:chExt cx="6288323" cy="293455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E281EF9-83CD-990E-118D-034CB84F13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70988" y="1961510"/>
              <a:ext cx="6288323" cy="2934550"/>
            </a:xfrm>
            <a:prstGeom prst="rect">
              <a:avLst/>
            </a:prstGeom>
          </p:spPr>
        </p:pic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A33FF6B-8E37-867A-DD94-E2ACCB7154EE}"/>
                </a:ext>
              </a:extLst>
            </p:cNvPr>
            <p:cNvSpPr/>
            <p:nvPr/>
          </p:nvSpPr>
          <p:spPr>
            <a:xfrm>
              <a:off x="8206451" y="4201610"/>
              <a:ext cx="844952" cy="69445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</p:grpSp>
    </p:spTree>
    <p:extLst>
      <p:ext uri="{BB962C8B-B14F-4D97-AF65-F5344CB8AC3E}">
        <p14:creationId xmlns:p14="http://schemas.microsoft.com/office/powerpoint/2010/main" val="36076682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A5A855-2FD8-2F9A-5249-7F87821390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Policy Gradient Methods</a:t>
            </a:r>
            <a:endParaRPr lang="en-IL" sz="4800">
              <a:solidFill>
                <a:srgbClr val="FFFFFF"/>
              </a:solidFill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1349F9A-96C2-2A7A-A8F4-528353C27B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55827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544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E0358E1-10FD-1F48-AE99-C2E99C2BE3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689103"/>
            <a:ext cx="10905066" cy="5479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5068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ED98DF0-57B5-D4C3-25B4-2339F23AC3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702733"/>
            <a:ext cx="10905066" cy="545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43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D56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1039917-0ACE-B1CB-1C4B-9B91E609C6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7021" y="643467"/>
            <a:ext cx="10037957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3593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B510B0F-3E4B-90DC-7C54-4D2084F427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511808"/>
            <a:ext cx="11277600" cy="3834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6839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E0901B0-4A49-0402-D3D3-0175E9A5B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8" y="319314"/>
            <a:ext cx="9477377" cy="1030515"/>
          </a:xfrm>
        </p:spPr>
        <p:txBody>
          <a:bodyPr anchor="ctr">
            <a:normAutofit/>
          </a:bodyPr>
          <a:lstStyle/>
          <a:p>
            <a:endParaRPr lang="en-IL" sz="400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D5A1FF4-40CA-1BA2-AAD4-536F90A6C0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598" y="2246498"/>
            <a:ext cx="4565251" cy="22255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B17A18F-4C7D-FF45-4E97-745A153C4F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671" y="2687009"/>
            <a:ext cx="4600354" cy="139160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8277E-79FD-283E-5A49-4B814D8BE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8" y="5070346"/>
            <a:ext cx="9496427" cy="1385266"/>
          </a:xfrm>
        </p:spPr>
        <p:txBody>
          <a:bodyPr>
            <a:normAutofit/>
          </a:bodyPr>
          <a:lstStyle/>
          <a:p>
            <a:endParaRPr lang="en-IL" sz="2000"/>
          </a:p>
        </p:txBody>
      </p:sp>
    </p:spTree>
    <p:extLst>
      <p:ext uri="{BB962C8B-B14F-4D97-AF65-F5344CB8AC3E}">
        <p14:creationId xmlns:p14="http://schemas.microsoft.com/office/powerpoint/2010/main" val="38266037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E14F98-D4DB-3187-CD26-85D884B97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4959603" cy="1642969"/>
          </a:xfrm>
        </p:spPr>
        <p:txBody>
          <a:bodyPr anchor="b">
            <a:normAutofit/>
          </a:bodyPr>
          <a:lstStyle/>
          <a:p>
            <a:endParaRPr lang="en-IL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043458-CA9F-6D79-3ADE-587037CBE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7" y="2418408"/>
            <a:ext cx="4959603" cy="3522569"/>
          </a:xfrm>
        </p:spPr>
        <p:txBody>
          <a:bodyPr anchor="t">
            <a:normAutofit/>
          </a:bodyPr>
          <a:lstStyle/>
          <a:p>
            <a:endParaRPr lang="en-IL" sz="20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04FF1E7-B767-1965-7397-656D47BFEAA3}"/>
              </a:ext>
            </a:extLst>
          </p:cNvPr>
          <p:cNvGrpSpPr/>
          <p:nvPr/>
        </p:nvGrpSpPr>
        <p:grpSpPr>
          <a:xfrm>
            <a:off x="1906555" y="1051005"/>
            <a:ext cx="8378890" cy="4755989"/>
            <a:chOff x="424936" y="2186999"/>
            <a:chExt cx="7840169" cy="412490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F72C87F-43B2-7867-1387-147F2C39B4A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4936" y="2186999"/>
              <a:ext cx="7840169" cy="4124901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06ABF3D-0B3F-CF14-2C24-6A7BD8503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92221" y="3747354"/>
              <a:ext cx="4270444" cy="97256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62051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0D034-0FCA-B97A-464D-086AADDE4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of the Basic Policy Gradient algorithm</a:t>
            </a:r>
            <a:endParaRPr lang="en-I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8DC826-E37D-F9D4-851F-2DAD8F350B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75441"/>
            <a:ext cx="10289372" cy="8762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13B78B-A6F1-F17C-E9C4-F2F9591999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151" y="3310243"/>
            <a:ext cx="4760017" cy="2303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0403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2E536-9A46-A336-1935-88CE8ADD4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5B80C-F857-BD36-C1C1-CDD6A6FB0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5897" y="216745"/>
            <a:ext cx="10515600" cy="1325563"/>
          </a:xfrm>
        </p:spPr>
        <p:txBody>
          <a:bodyPr/>
          <a:lstStyle/>
          <a:p>
            <a:r>
              <a:rPr lang="en-US" dirty="0"/>
              <a:t>Limitations of the Basic Policy Gradient algorithm</a:t>
            </a:r>
            <a:endParaRPr lang="en-IL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53BAB2E-FB12-D61E-CDFE-C5A0B2DA3A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7455" y="1542308"/>
            <a:ext cx="7592485" cy="531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58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9" name="Freeform: Shape 1038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BCC913-FD74-7BC3-2C22-394E0D79B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Credit assignment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67C4A9D-8737-3C67-21CD-C53E4FBA237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02428" y="1739982"/>
            <a:ext cx="7225748" cy="3378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29692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B6F0B2-3C3E-E773-6323-567B484F7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Variance Reduction</a:t>
            </a:r>
            <a:endParaRPr lang="en-IL" sz="4000">
              <a:solidFill>
                <a:srgbClr val="FFFFFF"/>
              </a:solidFill>
            </a:endParaRPr>
          </a:p>
        </p:txBody>
      </p:sp>
      <p:graphicFrame>
        <p:nvGraphicFramePr>
          <p:cNvPr id="22" name="Content Placeholder 2">
            <a:extLst>
              <a:ext uri="{FF2B5EF4-FFF2-40B4-BE49-F238E27FC236}">
                <a16:creationId xmlns:a16="http://schemas.microsoft.com/office/drawing/2014/main" id="{57DF6033-C4F1-6F9F-4A12-EDE1715259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91224321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285225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13B067F-3154-4968-A886-DF93A787E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7583D6C-C05B-47AB-8540-B2700B82A4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501AD91-D973-4968-95E4-4C26CFDF8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C165989-F5FE-4BB6-9817-E7828CB1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B0649CC-B912-4E82-BEA0-DA75ECB19A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BA08C17-C9A5-4FA8-ABC4-44FB3B869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0DEAC6C-553C-437E-BC17-D4495233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77B23F0-A4AE-7DCF-C430-0BD16DC58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5" y="4018137"/>
            <a:ext cx="5071221" cy="2129586"/>
          </a:xfrm>
          <a:noFill/>
        </p:spPr>
        <p:txBody>
          <a:bodyPr anchor="t">
            <a:normAutofit/>
          </a:bodyPr>
          <a:lstStyle/>
          <a:p>
            <a:r>
              <a:rPr lang="en-US" sz="4800">
                <a:solidFill>
                  <a:schemeClr val="bg1"/>
                </a:solidFill>
              </a:rPr>
              <a:t>Causality</a:t>
            </a:r>
            <a:endParaRPr lang="en-IL" sz="480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BCD3A9-D9B1-0083-2C36-CECE36CB2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359" y="678159"/>
            <a:ext cx="10843065" cy="3144488"/>
          </a:xfrm>
          <a:prstGeom prst="rect">
            <a:avLst/>
          </a:prstGeom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1F4E1649-4D1F-4A91-AF97-A254BFDD52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776904"/>
            <a:ext cx="304800" cy="429768"/>
            <a:chOff x="215328" y="-46937"/>
            <a:chExt cx="304800" cy="2773841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E483602-62F9-474D-9C9B-5EE4CD767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DD7D1AC0-A6C7-40E3-9841-F34AC831A4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951C4DD-7427-497D-9DE3-9D731D3F4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EE18298-0BF5-4D7A-921A-2F4186E8D9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Oval 43">
            <a:extLst>
              <a:ext uri="{FF2B5EF4-FFF2-40B4-BE49-F238E27FC236}">
                <a16:creationId xmlns:a16="http://schemas.microsoft.com/office/drawing/2014/main" id="{773AEA78-C03B-40B7-9D11-DC022119D5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600000">
            <a:off x="10150845" y="4270841"/>
            <a:ext cx="1897885" cy="1897885"/>
          </a:xfrm>
          <a:prstGeom prst="ellipse">
            <a:avLst/>
          </a:prstGeom>
          <a:gradFill>
            <a:gsLst>
              <a:gs pos="0">
                <a:schemeClr val="tx2">
                  <a:lumMod val="75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1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D197-8CD3-775F-4289-9F9AED03D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5304" y="4018143"/>
            <a:ext cx="5549111" cy="2129599"/>
          </a:xfrm>
          <a:noFill/>
        </p:spPr>
        <p:txBody>
          <a:bodyPr anchor="t">
            <a:normAutofit/>
          </a:bodyPr>
          <a:lstStyle/>
          <a:p>
            <a:r>
              <a:rPr lang="en-US" sz="1800">
                <a:solidFill>
                  <a:schemeClr val="bg1"/>
                </a:solidFill>
              </a:rPr>
              <a:t>An action has an effect only on future returns. </a:t>
            </a:r>
          </a:p>
          <a:p>
            <a:pPr marL="0" indent="0">
              <a:buNone/>
            </a:pPr>
            <a:r>
              <a:rPr lang="en-US" sz="1800">
                <a:solidFill>
                  <a:schemeClr val="bg1"/>
                </a:solidFill>
              </a:rPr>
              <a:t> </a:t>
            </a:r>
            <a:endParaRPr lang="en-IL" sz="1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21642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EA1DAFF-CECA-492F-BFA1-22C64956B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5D3D3744-142C-4653-90AB-546FE6B84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BC69CAC-820B-41BA-BFCA-79B45576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3D205E7A-88AB-4C4B-B8D1-5A76AA878B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0D4286E9-8501-4EBF-874C-74897B4B6F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5586ADC-910E-45C9-BAB4-CB0EFBEE5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AB594C5-5BB0-49AE-8AAC-AE40A6F8A3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964C74C5-C5A8-816D-D23D-6B59C3CF60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214"/>
          <a:stretch>
            <a:fillRect/>
          </a:stretch>
        </p:blipFill>
        <p:spPr>
          <a:xfrm>
            <a:off x="626590" y="317578"/>
            <a:ext cx="10851111" cy="3508437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AF19A774-30A5-488B-9BAF-629C64402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482489"/>
            <a:ext cx="304800" cy="429768"/>
            <a:chOff x="215328" y="-46937"/>
            <a:chExt cx="304800" cy="2773841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91EBF88-5B98-4258-A542-14C3AF2E5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FBC2D58-9E3C-490D-BD7A-61EF07EA79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6CF1BB4-1C1D-4EDE-BA26-0243FCF83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0C83729-E02F-4512-AFE7-F4792228BD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86009A6-D583-9853-C4CD-40832D0A9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018137"/>
            <a:ext cx="4569060" cy="2129586"/>
          </a:xfrm>
          <a:noFill/>
        </p:spPr>
        <p:txBody>
          <a:bodyPr anchor="t">
            <a:normAutofit/>
          </a:bodyPr>
          <a:lstStyle/>
          <a:p>
            <a:r>
              <a:rPr lang="en-US" sz="4800">
                <a:solidFill>
                  <a:schemeClr val="bg1"/>
                </a:solidFill>
              </a:rPr>
              <a:t>Baseline</a:t>
            </a:r>
            <a:endParaRPr lang="en-IL" sz="480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16550-B1B7-086D-4590-8E566F6CFB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080" y="4018143"/>
            <a:ext cx="5674105" cy="2129599"/>
          </a:xfrm>
          <a:noFill/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1800">
                <a:solidFill>
                  <a:schemeClr val="bg1"/>
                </a:solidFill>
              </a:rPr>
              <a:t>Compare the reward to a baseline reward, usually the average</a:t>
            </a:r>
          </a:p>
          <a:p>
            <a:pPr marL="0" indent="0">
              <a:buNone/>
            </a:pPr>
            <a:endParaRPr lang="en-IL" sz="1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08719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7BD7CC6-2F7F-4587-8E92-D041AB2CEB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E7ED1F4-19EF-4BC2-A6EA-DF1525142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EE7C14F-442F-4416-A4A9-6DA10263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7AC4CCD-70AA-4916-97EA-D9C12FED17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C5694289-EA59-4679-9DB4-0646321A8C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32EDAD0A-6995-496D-9789-A34C66F5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BCBBB211-248C-4F94-900A-80CD8D52F3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8DCC953-87D5-419D-A529-94A9462512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F67D0B7-A0F4-47EB-8DF7-2630C056AB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A3919D60-F174-4FEB-9E9D-5AF6BD659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8EF7474-F1F7-47A7-AF33-E38A86EBF6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B14C3B3-01E7-4DD2-80BC-D6605BDB3A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9E2ED25-9BE8-462A-BE54-D3E506DBA2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3E48329-07A0-4DBB-9D0C-0614AE372F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ED609B4-86D5-44D5-8511-42AE9B129B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912E1BF-76C2-49D5-A5AC-1CE20255C4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4E6722B-B0C0-4A43-91F6-6E2D6E2D7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8EAB6DA-9741-4668-8E47-957CD515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36EC6AA-9E44-4DD2-B718-EE04111414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38DE653-B3C7-49E5-A3B0-6C00B26083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90AE89EB-4F51-4181-9475-7E1048FB3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78285A0-9022-40FD-B520-91444BA16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0E2EED1A-F137-41BB-A555-7CDFF9C334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3E1EC980-DEDC-41BF-995C-1D471C90E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A2F9486-DC13-4EDD-82CE-7FFC6F4846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646A2475-19E5-46B8-B7FE-C2CF42971F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2E8CDAE-076B-A23B-1775-E13467F60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640" y="4038037"/>
            <a:ext cx="5107366" cy="2087424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Advantage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9BB42B-8CED-EF43-3388-62F4BCAD79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43159" y="4038037"/>
            <a:ext cx="5017030" cy="2087426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Learn the advantage of taking a specific action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3AFFBB-657D-BD3B-DDA8-F7F823728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359" y="651051"/>
            <a:ext cx="10843065" cy="3198704"/>
          </a:xfrm>
          <a:prstGeom prst="rect">
            <a:avLst/>
          </a:prstGeom>
        </p:spPr>
      </p:pic>
      <p:grpSp>
        <p:nvGrpSpPr>
          <p:cNvPr id="44" name="Group 43">
            <a:extLst>
              <a:ext uri="{FF2B5EF4-FFF2-40B4-BE49-F238E27FC236}">
                <a16:creationId xmlns:a16="http://schemas.microsoft.com/office/drawing/2014/main" id="{91CD8CAA-4614-4393-ADD7-7FDFD8ABD7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776904"/>
            <a:ext cx="304800" cy="429768"/>
            <a:chOff x="215328" y="-46937"/>
            <a:chExt cx="304800" cy="2773841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89F5BF84-4D12-40EB-B3CA-72B55341A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ACF91815-2B4A-44C8-BAC2-6732AD11A9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523960DB-F7E9-40C5-BDC7-9700C71B18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A95623C8-E3C3-425E-B186-ADFF5B6702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148994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A4E37431-20F0-4DD6-84A9-ED2B64494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AE98B72-66C6-4AB4-AF0D-BA830DE86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07EAFC6-733F-403D-BB4D-05A3A2874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7A36730-4CB0-4F61-AD11-A44C97658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69C79E1-F916-4929-A4F3-DE763D4BF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767334AB-16BD-4EC7-8C6B-4B5171600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FC2E98-988C-74F1-973B-A12C750B5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2" y="891652"/>
            <a:ext cx="4294513" cy="3030724"/>
          </a:xfrm>
        </p:spPr>
        <p:txBody>
          <a:bodyPr vert="horz" lIns="91440" tIns="45720" rIns="91440" bIns="45720" rtlCol="0" anchor="b">
            <a:normAutofit/>
          </a:bodyPr>
          <a:lstStyle/>
          <a:p>
            <a:br>
              <a:rPr lang="en-US" sz="3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3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3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PPO - Proximal policy optimization</a:t>
            </a:r>
            <a:br>
              <a:rPr lang="en-US" sz="3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3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34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A64F0F-38DB-1715-EAB9-F6EFE8D4C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5243" y="2024743"/>
            <a:ext cx="7226667" cy="2258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8797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2E0091-B12C-90DE-95D3-E9FCD6E3C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6940D6-F193-662D-B7B1-CB17441D9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Actor - Critic</a:t>
            </a:r>
          </a:p>
        </p:txBody>
      </p:sp>
      <p:pic>
        <p:nvPicPr>
          <p:cNvPr id="7" name="Content Placeholder 6" descr="Actor Critic">
            <a:extLst>
              <a:ext uri="{FF2B5EF4-FFF2-40B4-BE49-F238E27FC236}">
                <a16:creationId xmlns:a16="http://schemas.microsoft.com/office/drawing/2014/main" id="{BD8CFD36-D5F6-FD93-C3E0-706B3B7AC6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02428" y="1776111"/>
            <a:ext cx="7225748" cy="3305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4942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4D29B11-1F84-4EAC-4412-056DD2A9F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8" y="319314"/>
            <a:ext cx="9477377" cy="1030515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Actor Critic</a:t>
            </a:r>
            <a:endParaRPr lang="en-IL" sz="4000" dirty="0">
              <a:solidFill>
                <a:srgbClr val="FFFFFF"/>
              </a:solidFill>
            </a:endParaRPr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51CA3F90-B0CF-3623-36E5-87A43504D8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941" t="18278" b="7385"/>
          <a:stretch>
            <a:fillRect/>
          </a:stretch>
        </p:blipFill>
        <p:spPr>
          <a:xfrm>
            <a:off x="1371598" y="2212258"/>
            <a:ext cx="4565251" cy="22940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5EE0AE6-0802-9F15-DFB6-4CDFA89836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671" y="2272977"/>
            <a:ext cx="4600354" cy="221967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C843C-B1D1-249F-A6EE-1736244D9C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8" y="5070346"/>
            <a:ext cx="9496427" cy="1385266"/>
          </a:xfrm>
        </p:spPr>
        <p:txBody>
          <a:bodyPr>
            <a:normAutofit/>
          </a:bodyPr>
          <a:lstStyle/>
          <a:p>
            <a:endParaRPr lang="en-IL" sz="2000"/>
          </a:p>
        </p:txBody>
      </p:sp>
    </p:spTree>
    <p:extLst>
      <p:ext uri="{BB962C8B-B14F-4D97-AF65-F5344CB8AC3E}">
        <p14:creationId xmlns:p14="http://schemas.microsoft.com/office/powerpoint/2010/main" val="3285432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6D850B-B34E-2D44-B4B3-85B3D87B1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Actor - Critic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68475B0-81C0-1044-3EB9-41308E3F2B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02428" y="1170954"/>
            <a:ext cx="7225748" cy="4516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292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2660</TotalTime>
  <Words>199</Words>
  <Application>Microsoft Office PowerPoint</Application>
  <PresentationFormat>Widescreen</PresentationFormat>
  <Paragraphs>47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Aptos</vt:lpstr>
      <vt:lpstr>Aptos Display</vt:lpstr>
      <vt:lpstr>Arial</vt:lpstr>
      <vt:lpstr>Office Theme</vt:lpstr>
      <vt:lpstr>Leading RL Algorithms</vt:lpstr>
      <vt:lpstr>The RL Mission characteristics</vt:lpstr>
      <vt:lpstr>Desired Solution Characteristics</vt:lpstr>
      <vt:lpstr>Families of RL Algorithms</vt:lpstr>
      <vt:lpstr>Value Based</vt:lpstr>
      <vt:lpstr>Policy Based</vt:lpstr>
      <vt:lpstr>Policy Gradient Methods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Limitations of the Basic Policy Gradient algorithm</vt:lpstr>
      <vt:lpstr>Limitations of the Basic Policy Gradient algorithm</vt:lpstr>
      <vt:lpstr>Credit assignment</vt:lpstr>
      <vt:lpstr>Variance Reduction</vt:lpstr>
      <vt:lpstr>Causality</vt:lpstr>
      <vt:lpstr>Baseline</vt:lpstr>
      <vt:lpstr>Advantage function</vt:lpstr>
      <vt:lpstr>  PPO - Proximal policy optimization  </vt:lpstr>
      <vt:lpstr>Actor - Critic</vt:lpstr>
      <vt:lpstr>Actor Critic</vt:lpstr>
      <vt:lpstr>Actor - Critic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benny bornfeld</dc:creator>
  <cp:lastModifiedBy>benny bornfeld</cp:lastModifiedBy>
  <cp:revision>19</cp:revision>
  <dcterms:created xsi:type="dcterms:W3CDTF">2025-06-06T12:42:37Z</dcterms:created>
  <dcterms:modified xsi:type="dcterms:W3CDTF">2026-06-16T08:41:34Z</dcterms:modified>
</cp:coreProperties>
</file>